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Lst>
  <p:sldSz cx="18288000" cy="10287000"/>
  <p:notesSz cx="6858000" cy="9144000"/>
  <p:embeddedFontLst>
    <p:embeddedFont>
      <p:font typeface="Poppins Medium" charset="1" panose="00000600000000000000"/>
      <p:regular r:id="rId23"/>
    </p:embeddedFont>
    <p:embeddedFont>
      <p:font typeface="Poppins" charset="1" panose="00000500000000000000"/>
      <p:regular r:id="rId24"/>
    </p:embeddedFont>
    <p:embeddedFont>
      <p:font typeface="Poppins Bold" charset="1" panose="00000800000000000000"/>
      <p:regular r:id="rId2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fonts/font23.fntdata" Type="http://schemas.openxmlformats.org/officeDocument/2006/relationships/font"/><Relationship Id="rId24" Target="fonts/font24.fntdata" Type="http://schemas.openxmlformats.org/officeDocument/2006/relationships/font"/><Relationship Id="rId25" Target="fonts/font25.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5.png" Type="http://schemas.openxmlformats.org/officeDocument/2006/relationships/image"/><Relationship Id="rId5" Target="../media/image6.png" Type="http://schemas.openxmlformats.org/officeDocument/2006/relationships/image"/><Relationship Id="rId6" Target="../media/image7.png" Type="http://schemas.openxmlformats.org/officeDocument/2006/relationships/image"/><Relationship Id="rId7" Target="../media/image8.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9.png" Type="http://schemas.openxmlformats.org/officeDocument/2006/relationships/image"/><Relationship Id="rId3" Target="../media/image10.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png" Type="http://schemas.openxmlformats.org/officeDocument/2006/relationships/image"/><Relationship Id="rId3" Target="../media/image1.png" Type="http://schemas.openxmlformats.org/officeDocument/2006/relationships/image"/><Relationship Id="rId4" Target="../media/image2.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2.png" Type="http://schemas.openxmlformats.org/officeDocument/2006/relationships/image"/><Relationship Id="rId3" Target="../media/image1.png" Type="http://schemas.openxmlformats.org/officeDocument/2006/relationships/image"/><Relationship Id="rId4" Target="../media/image2.sv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3.png" Type="http://schemas.openxmlformats.org/officeDocument/2006/relationships/image"/><Relationship Id="rId3" Target="../media/image1.png" Type="http://schemas.openxmlformats.org/officeDocument/2006/relationships/image"/><Relationship Id="rId4" Target="../media/image2.sv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071C42"/>
        </a:solidFill>
      </p:bgPr>
    </p:bg>
    <p:spTree>
      <p:nvGrpSpPr>
        <p:cNvPr id="1" name=""/>
        <p:cNvGrpSpPr/>
        <p:nvPr/>
      </p:nvGrpSpPr>
      <p:grpSpPr>
        <a:xfrm>
          <a:off x="0" y="0"/>
          <a:ext cx="0" cy="0"/>
          <a:chOff x="0" y="0"/>
          <a:chExt cx="0" cy="0"/>
        </a:xfrm>
      </p:grpSpPr>
      <p:grpSp>
        <p:nvGrpSpPr>
          <p:cNvPr name="Group 2" id="2"/>
          <p:cNvGrpSpPr/>
          <p:nvPr/>
        </p:nvGrpSpPr>
        <p:grpSpPr>
          <a:xfrm rot="0">
            <a:off x="0" y="9943513"/>
            <a:ext cx="9144000" cy="343487"/>
            <a:chOff x="0" y="0"/>
            <a:chExt cx="2408296" cy="90466"/>
          </a:xfrm>
        </p:grpSpPr>
        <p:sp>
          <p:nvSpPr>
            <p:cNvPr name="Freeform 3" id="3"/>
            <p:cNvSpPr/>
            <p:nvPr/>
          </p:nvSpPr>
          <p:spPr>
            <a:xfrm flipH="false" flipV="false" rot="0">
              <a:off x="0" y="0"/>
              <a:ext cx="2408296" cy="90466"/>
            </a:xfrm>
            <a:custGeom>
              <a:avLst/>
              <a:gdLst/>
              <a:ahLst/>
              <a:cxnLst/>
              <a:rect r="r" b="b" t="t" l="l"/>
              <a:pathLst>
                <a:path h="90466" w="2408296">
                  <a:moveTo>
                    <a:pt x="0" y="0"/>
                  </a:moveTo>
                  <a:lnTo>
                    <a:pt x="2408296" y="0"/>
                  </a:lnTo>
                  <a:lnTo>
                    <a:pt x="2408296" y="90466"/>
                  </a:lnTo>
                  <a:lnTo>
                    <a:pt x="0" y="90466"/>
                  </a:lnTo>
                  <a:close/>
                </a:path>
              </a:pathLst>
            </a:custGeom>
            <a:solidFill>
              <a:srgbClr val="4DE1C7"/>
            </a:solidFill>
          </p:spPr>
        </p:sp>
        <p:sp>
          <p:nvSpPr>
            <p:cNvPr name="TextBox 4" id="4"/>
            <p:cNvSpPr txBox="true"/>
            <p:nvPr/>
          </p:nvSpPr>
          <p:spPr>
            <a:xfrm>
              <a:off x="0" y="-57150"/>
              <a:ext cx="2408296" cy="147616"/>
            </a:xfrm>
            <a:prstGeom prst="rect">
              <a:avLst/>
            </a:prstGeom>
          </p:spPr>
          <p:txBody>
            <a:bodyPr anchor="ctr" rtlCol="false" tIns="50800" lIns="50800" bIns="50800" rIns="50800"/>
            <a:lstStyle/>
            <a:p>
              <a:pPr algn="ctr">
                <a:lnSpc>
                  <a:spcPts val="2659"/>
                </a:lnSpc>
              </a:pPr>
            </a:p>
          </p:txBody>
        </p:sp>
      </p:grpSp>
      <p:sp>
        <p:nvSpPr>
          <p:cNvPr name="Freeform 5" id="5"/>
          <p:cNvSpPr/>
          <p:nvPr/>
        </p:nvSpPr>
        <p:spPr>
          <a:xfrm flipH="true" flipV="true" rot="-2185571">
            <a:off x="8604037" y="4837560"/>
            <a:ext cx="13969695" cy="5395795"/>
          </a:xfrm>
          <a:custGeom>
            <a:avLst/>
            <a:gdLst/>
            <a:ahLst/>
            <a:cxnLst/>
            <a:rect r="r" b="b" t="t" l="l"/>
            <a:pathLst>
              <a:path h="5395795" w="13969695">
                <a:moveTo>
                  <a:pt x="13969695" y="5395794"/>
                </a:moveTo>
                <a:lnTo>
                  <a:pt x="0" y="5395794"/>
                </a:lnTo>
                <a:lnTo>
                  <a:pt x="0" y="0"/>
                </a:lnTo>
                <a:lnTo>
                  <a:pt x="13969695" y="0"/>
                </a:lnTo>
                <a:lnTo>
                  <a:pt x="13969695" y="5395794"/>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6" id="6"/>
          <p:cNvSpPr/>
          <p:nvPr/>
        </p:nvSpPr>
        <p:spPr>
          <a:xfrm flipH="false" flipV="false" rot="-2090095">
            <a:off x="-2144881" y="45720"/>
            <a:ext cx="7315200" cy="1965960"/>
          </a:xfrm>
          <a:custGeom>
            <a:avLst/>
            <a:gdLst/>
            <a:ahLst/>
            <a:cxnLst/>
            <a:rect r="r" b="b" t="t" l="l"/>
            <a:pathLst>
              <a:path h="1965960" w="7315200">
                <a:moveTo>
                  <a:pt x="0" y="0"/>
                </a:moveTo>
                <a:lnTo>
                  <a:pt x="7315200" y="0"/>
                </a:lnTo>
                <a:lnTo>
                  <a:pt x="7315200" y="1965960"/>
                </a:lnTo>
                <a:lnTo>
                  <a:pt x="0" y="19659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a:ln cap="sq">
            <a:noFill/>
            <a:prstDash val="solid"/>
            <a:miter/>
          </a:ln>
        </p:spPr>
      </p:sp>
      <p:sp>
        <p:nvSpPr>
          <p:cNvPr name="TextBox 7" id="7"/>
          <p:cNvSpPr txBox="true"/>
          <p:nvPr/>
        </p:nvSpPr>
        <p:spPr>
          <a:xfrm rot="0">
            <a:off x="2749144" y="1497536"/>
            <a:ext cx="12461606" cy="6282056"/>
          </a:xfrm>
          <a:prstGeom prst="rect">
            <a:avLst/>
          </a:prstGeom>
        </p:spPr>
        <p:txBody>
          <a:bodyPr anchor="t" rtlCol="false" tIns="0" lIns="0" bIns="0" rIns="0">
            <a:spAutoFit/>
          </a:bodyPr>
          <a:lstStyle/>
          <a:p>
            <a:pPr algn="l">
              <a:lnSpc>
                <a:spcPts val="12319"/>
              </a:lnSpc>
            </a:pPr>
            <a:r>
              <a:rPr lang="en-US" sz="8799" spc="-149" b="true">
                <a:solidFill>
                  <a:srgbClr val="FFFFFF"/>
                </a:solidFill>
                <a:latin typeface="Poppins Medium"/>
                <a:ea typeface="Poppins Medium"/>
                <a:cs typeface="Poppins Medium"/>
                <a:sym typeface="Poppins Medium"/>
              </a:rPr>
              <a:t>Data-Driven Personalized Workout Optimization System</a:t>
            </a:r>
          </a:p>
          <a:p>
            <a:pPr algn="l">
              <a:lnSpc>
                <a:spcPts val="12319"/>
              </a:lnSpc>
            </a:pPr>
          </a:p>
        </p:txBody>
      </p:sp>
      <p:sp>
        <p:nvSpPr>
          <p:cNvPr name="TextBox 8" id="8"/>
          <p:cNvSpPr txBox="true"/>
          <p:nvPr/>
        </p:nvSpPr>
        <p:spPr>
          <a:xfrm rot="0">
            <a:off x="1788995" y="7196661"/>
            <a:ext cx="7355005" cy="1080135"/>
          </a:xfrm>
          <a:prstGeom prst="rect">
            <a:avLst/>
          </a:prstGeom>
        </p:spPr>
        <p:txBody>
          <a:bodyPr anchor="t" rtlCol="false" tIns="0" lIns="0" bIns="0" rIns="0">
            <a:spAutoFit/>
          </a:bodyPr>
          <a:lstStyle/>
          <a:p>
            <a:pPr algn="l">
              <a:lnSpc>
                <a:spcPts val="2880"/>
              </a:lnSpc>
            </a:pPr>
            <a:r>
              <a:rPr lang="en-US" sz="1800">
                <a:solidFill>
                  <a:srgbClr val="D9D9D9"/>
                </a:solidFill>
                <a:latin typeface="Poppins"/>
                <a:ea typeface="Poppins"/>
                <a:cs typeface="Poppins"/>
                <a:sym typeface="Poppins"/>
              </a:rPr>
              <a:t>Venkatesh Nagarjuna, Diluni Peiris, Manoj Kodihalli Venkatesh, Jose Luis Garcia Montero, Ella Brown</a:t>
            </a:r>
          </a:p>
          <a:p>
            <a:pPr algn="l">
              <a:lnSpc>
                <a:spcPts val="2880"/>
              </a:lnSpc>
            </a:pP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4544475"/>
            <a:chOff x="0" y="0"/>
            <a:chExt cx="4816593" cy="1196899"/>
          </a:xfrm>
        </p:grpSpPr>
        <p:sp>
          <p:nvSpPr>
            <p:cNvPr name="Freeform 3" id="3"/>
            <p:cNvSpPr/>
            <p:nvPr/>
          </p:nvSpPr>
          <p:spPr>
            <a:xfrm flipH="false" flipV="false" rot="0">
              <a:off x="0" y="0"/>
              <a:ext cx="4816592" cy="1196899"/>
            </a:xfrm>
            <a:custGeom>
              <a:avLst/>
              <a:gdLst/>
              <a:ahLst/>
              <a:cxnLst/>
              <a:rect r="r" b="b" t="t" l="l"/>
              <a:pathLst>
                <a:path h="1196899" w="4816592">
                  <a:moveTo>
                    <a:pt x="0" y="0"/>
                  </a:moveTo>
                  <a:lnTo>
                    <a:pt x="4816592" y="0"/>
                  </a:lnTo>
                  <a:lnTo>
                    <a:pt x="4816592" y="1196899"/>
                  </a:lnTo>
                  <a:lnTo>
                    <a:pt x="0" y="1196899"/>
                  </a:lnTo>
                  <a:close/>
                </a:path>
              </a:pathLst>
            </a:custGeom>
            <a:solidFill>
              <a:srgbClr val="071C42"/>
            </a:solidFill>
          </p:spPr>
        </p:sp>
        <p:sp>
          <p:nvSpPr>
            <p:cNvPr name="TextBox 4" id="4"/>
            <p:cNvSpPr txBox="true"/>
            <p:nvPr/>
          </p:nvSpPr>
          <p:spPr>
            <a:xfrm>
              <a:off x="0" y="-57150"/>
              <a:ext cx="4816593" cy="1254049"/>
            </a:xfrm>
            <a:prstGeom prst="rect">
              <a:avLst/>
            </a:prstGeom>
          </p:spPr>
          <p:txBody>
            <a:bodyPr anchor="ctr" rtlCol="false" tIns="50800" lIns="50800" bIns="50800" rIns="50800"/>
            <a:lstStyle/>
            <a:p>
              <a:pPr algn="ctr">
                <a:lnSpc>
                  <a:spcPts val="2659"/>
                </a:lnSpc>
                <a:spcBef>
                  <a:spcPct val="0"/>
                </a:spcBef>
              </a:pPr>
            </a:p>
          </p:txBody>
        </p:sp>
      </p:grpSp>
      <p:sp>
        <p:nvSpPr>
          <p:cNvPr name="AutoShape 5" id="5"/>
          <p:cNvSpPr/>
          <p:nvPr/>
        </p:nvSpPr>
        <p:spPr>
          <a:xfrm rot="0">
            <a:off x="1028700" y="601417"/>
            <a:ext cx="16230600" cy="0"/>
          </a:xfrm>
          <a:prstGeom prst="line">
            <a:avLst/>
          </a:prstGeom>
          <a:ln cap="flat" w="19050">
            <a:solidFill>
              <a:srgbClr val="D9D9D9"/>
            </a:solidFill>
            <a:prstDash val="solid"/>
            <a:headEnd type="none" len="sm" w="sm"/>
            <a:tailEnd type="none" len="sm" w="sm"/>
          </a:ln>
        </p:spPr>
      </p:sp>
      <p:grpSp>
        <p:nvGrpSpPr>
          <p:cNvPr name="Group 6" id="6"/>
          <p:cNvGrpSpPr/>
          <p:nvPr/>
        </p:nvGrpSpPr>
        <p:grpSpPr>
          <a:xfrm rot="0">
            <a:off x="0" y="4200988"/>
            <a:ext cx="9144000" cy="343487"/>
            <a:chOff x="0" y="0"/>
            <a:chExt cx="2408296" cy="90466"/>
          </a:xfrm>
        </p:grpSpPr>
        <p:sp>
          <p:nvSpPr>
            <p:cNvPr name="Freeform 7" id="7"/>
            <p:cNvSpPr/>
            <p:nvPr/>
          </p:nvSpPr>
          <p:spPr>
            <a:xfrm flipH="false" flipV="false" rot="0">
              <a:off x="0" y="0"/>
              <a:ext cx="2408296" cy="90466"/>
            </a:xfrm>
            <a:custGeom>
              <a:avLst/>
              <a:gdLst/>
              <a:ahLst/>
              <a:cxnLst/>
              <a:rect r="r" b="b" t="t" l="l"/>
              <a:pathLst>
                <a:path h="90466" w="2408296">
                  <a:moveTo>
                    <a:pt x="0" y="0"/>
                  </a:moveTo>
                  <a:lnTo>
                    <a:pt x="2408296" y="0"/>
                  </a:lnTo>
                  <a:lnTo>
                    <a:pt x="2408296" y="90466"/>
                  </a:lnTo>
                  <a:lnTo>
                    <a:pt x="0" y="90466"/>
                  </a:lnTo>
                  <a:close/>
                </a:path>
              </a:pathLst>
            </a:custGeom>
            <a:solidFill>
              <a:srgbClr val="4DE1C7"/>
            </a:solidFill>
          </p:spPr>
        </p:sp>
        <p:sp>
          <p:nvSpPr>
            <p:cNvPr name="TextBox 8" id="8"/>
            <p:cNvSpPr txBox="true"/>
            <p:nvPr/>
          </p:nvSpPr>
          <p:spPr>
            <a:xfrm>
              <a:off x="0" y="-57150"/>
              <a:ext cx="2408296" cy="147616"/>
            </a:xfrm>
            <a:prstGeom prst="rect">
              <a:avLst/>
            </a:prstGeom>
          </p:spPr>
          <p:txBody>
            <a:bodyPr anchor="ctr" rtlCol="false" tIns="50800" lIns="50800" bIns="50800" rIns="50800"/>
            <a:lstStyle/>
            <a:p>
              <a:pPr algn="ctr">
                <a:lnSpc>
                  <a:spcPts val="2659"/>
                </a:lnSpc>
              </a:pPr>
            </a:p>
          </p:txBody>
        </p:sp>
      </p:grpSp>
      <p:sp>
        <p:nvSpPr>
          <p:cNvPr name="Freeform 9" id="9"/>
          <p:cNvSpPr/>
          <p:nvPr/>
        </p:nvSpPr>
        <p:spPr>
          <a:xfrm flipH="false" flipV="false" rot="4689992">
            <a:off x="10289729" y="-1421921"/>
            <a:ext cx="13969695" cy="5395795"/>
          </a:xfrm>
          <a:custGeom>
            <a:avLst/>
            <a:gdLst/>
            <a:ahLst/>
            <a:cxnLst/>
            <a:rect r="r" b="b" t="t" l="l"/>
            <a:pathLst>
              <a:path h="5395795" w="13969695">
                <a:moveTo>
                  <a:pt x="0" y="0"/>
                </a:moveTo>
                <a:lnTo>
                  <a:pt x="13969695" y="0"/>
                </a:lnTo>
                <a:lnTo>
                  <a:pt x="13969695" y="5395795"/>
                </a:lnTo>
                <a:lnTo>
                  <a:pt x="0" y="539579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TextBox 10" id="10"/>
          <p:cNvSpPr txBox="true"/>
          <p:nvPr/>
        </p:nvSpPr>
        <p:spPr>
          <a:xfrm rot="0">
            <a:off x="1028700" y="4991292"/>
            <a:ext cx="15232885" cy="5295708"/>
          </a:xfrm>
          <a:prstGeom prst="rect">
            <a:avLst/>
          </a:prstGeom>
        </p:spPr>
        <p:txBody>
          <a:bodyPr anchor="t" rtlCol="false" tIns="0" lIns="0" bIns="0" rIns="0">
            <a:spAutoFit/>
          </a:bodyPr>
          <a:lstStyle/>
          <a:p>
            <a:pPr algn="l">
              <a:lnSpc>
                <a:spcPts val="3515"/>
              </a:lnSpc>
            </a:pPr>
            <a:r>
              <a:rPr lang="en-US" sz="2197">
                <a:solidFill>
                  <a:srgbClr val="545454"/>
                </a:solidFill>
                <a:latin typeface="Poppins"/>
                <a:ea typeface="Poppins"/>
                <a:cs typeface="Poppins"/>
                <a:sym typeface="Poppins"/>
              </a:rPr>
              <a:t>Obesity rates in the U.S. continue to rise, with the CDC reporting that the prevalence of severe obesity in adults increased from 4.7% in 1999–2000 to 9.2% in 2017–2020. Among children and adolescents, severe obesity has also grown from 7.7% to 9.7%. These trends highlight an urgent need for lifestyle changes, particularly incorporating regular exercise into daily routines. Physical activity plays a crucial role in maintaining a healthy weight, improving cardiovascular health, and reducing the risk of obesity-related conditions such as diabetes and hypertension. As obesity rates climb, prioritizing movement—whether through structured workouts or simple daily activities—can help combat this growing public health concern. This project will analyze 10,000+ records of workout and fitness-related data collected from various fitness apps and devices to help analyze and predict workout efficiency based on user activity, health metrics, and lifestyle factors. As a result, we aim to create personalized fitness plans that maximize both physical benefits and mood improvements based off an individual’s physical traits and fitness goals.</a:t>
            </a:r>
          </a:p>
          <a:p>
            <a:pPr algn="l">
              <a:lnSpc>
                <a:spcPts val="3515"/>
              </a:lnSpc>
            </a:pPr>
          </a:p>
        </p:txBody>
      </p:sp>
      <p:sp>
        <p:nvSpPr>
          <p:cNvPr name="TextBox 11" id="11"/>
          <p:cNvSpPr txBox="true"/>
          <p:nvPr/>
        </p:nvSpPr>
        <p:spPr>
          <a:xfrm rot="0">
            <a:off x="1544727" y="2546276"/>
            <a:ext cx="11071494" cy="904875"/>
          </a:xfrm>
          <a:prstGeom prst="rect">
            <a:avLst/>
          </a:prstGeom>
        </p:spPr>
        <p:txBody>
          <a:bodyPr anchor="t" rtlCol="false" tIns="0" lIns="0" bIns="0" rIns="0">
            <a:spAutoFit/>
          </a:bodyPr>
          <a:lstStyle/>
          <a:p>
            <a:pPr algn="l">
              <a:lnSpc>
                <a:spcPts val="6719"/>
              </a:lnSpc>
            </a:pPr>
            <a:r>
              <a:rPr lang="en-US" sz="5599" b="true">
                <a:solidFill>
                  <a:srgbClr val="FFFFFF"/>
                </a:solidFill>
                <a:latin typeface="Poppins Bold"/>
                <a:ea typeface="Poppins Bold"/>
                <a:cs typeface="Poppins Bold"/>
                <a:sym typeface="Poppins Bold"/>
              </a:rPr>
              <a:t>Introduction / Background</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1028700" y="601417"/>
            <a:ext cx="16230600" cy="0"/>
          </a:xfrm>
          <a:prstGeom prst="line">
            <a:avLst/>
          </a:prstGeom>
          <a:ln cap="flat" w="19050">
            <a:solidFill>
              <a:srgbClr val="D9D9D9"/>
            </a:solidFill>
            <a:prstDash val="solid"/>
            <a:headEnd type="none" len="sm" w="sm"/>
            <a:tailEnd type="none" len="sm" w="sm"/>
          </a:ln>
        </p:spPr>
      </p:sp>
      <p:grpSp>
        <p:nvGrpSpPr>
          <p:cNvPr name="Group 3" id="3"/>
          <p:cNvGrpSpPr/>
          <p:nvPr/>
        </p:nvGrpSpPr>
        <p:grpSpPr>
          <a:xfrm rot="0">
            <a:off x="7401128" y="0"/>
            <a:ext cx="5443436" cy="5143500"/>
            <a:chOff x="0" y="0"/>
            <a:chExt cx="1290296" cy="1219200"/>
          </a:xfrm>
        </p:grpSpPr>
        <p:sp>
          <p:nvSpPr>
            <p:cNvPr name="Freeform 4" id="4"/>
            <p:cNvSpPr/>
            <p:nvPr/>
          </p:nvSpPr>
          <p:spPr>
            <a:xfrm flipH="false" flipV="false" rot="0">
              <a:off x="0" y="0"/>
              <a:ext cx="1290296" cy="1219200"/>
            </a:xfrm>
            <a:custGeom>
              <a:avLst/>
              <a:gdLst/>
              <a:ahLst/>
              <a:cxnLst/>
              <a:rect r="r" b="b" t="t" l="l"/>
              <a:pathLst>
                <a:path h="1219200" w="1290296">
                  <a:moveTo>
                    <a:pt x="0" y="0"/>
                  </a:moveTo>
                  <a:lnTo>
                    <a:pt x="1290296" y="0"/>
                  </a:lnTo>
                  <a:lnTo>
                    <a:pt x="1290296" y="1219200"/>
                  </a:lnTo>
                  <a:lnTo>
                    <a:pt x="0" y="1219200"/>
                  </a:lnTo>
                  <a:close/>
                </a:path>
              </a:pathLst>
            </a:custGeom>
            <a:solidFill>
              <a:srgbClr val="071C42"/>
            </a:solidFill>
          </p:spPr>
        </p:sp>
        <p:sp>
          <p:nvSpPr>
            <p:cNvPr name="TextBox 5" id="5"/>
            <p:cNvSpPr txBox="true"/>
            <p:nvPr/>
          </p:nvSpPr>
          <p:spPr>
            <a:xfrm>
              <a:off x="0" y="-57150"/>
              <a:ext cx="1290296" cy="1276350"/>
            </a:xfrm>
            <a:prstGeom prst="rect">
              <a:avLst/>
            </a:prstGeom>
          </p:spPr>
          <p:txBody>
            <a:bodyPr anchor="ctr" rtlCol="false" tIns="50800" lIns="50800" bIns="50800" rIns="50800"/>
            <a:lstStyle/>
            <a:p>
              <a:pPr algn="ctr">
                <a:lnSpc>
                  <a:spcPts val="2659"/>
                </a:lnSpc>
                <a:spcBef>
                  <a:spcPct val="0"/>
                </a:spcBef>
              </a:pPr>
            </a:p>
          </p:txBody>
        </p:sp>
      </p:grpSp>
      <p:grpSp>
        <p:nvGrpSpPr>
          <p:cNvPr name="Group 6" id="6"/>
          <p:cNvGrpSpPr/>
          <p:nvPr/>
        </p:nvGrpSpPr>
        <p:grpSpPr>
          <a:xfrm rot="0">
            <a:off x="12844564" y="0"/>
            <a:ext cx="5443436" cy="5143500"/>
            <a:chOff x="0" y="0"/>
            <a:chExt cx="1290296" cy="1219200"/>
          </a:xfrm>
        </p:grpSpPr>
        <p:sp>
          <p:nvSpPr>
            <p:cNvPr name="Freeform 7" id="7"/>
            <p:cNvSpPr/>
            <p:nvPr/>
          </p:nvSpPr>
          <p:spPr>
            <a:xfrm flipH="false" flipV="false" rot="0">
              <a:off x="0" y="0"/>
              <a:ext cx="1290296" cy="1219200"/>
            </a:xfrm>
            <a:custGeom>
              <a:avLst/>
              <a:gdLst/>
              <a:ahLst/>
              <a:cxnLst/>
              <a:rect r="r" b="b" t="t" l="l"/>
              <a:pathLst>
                <a:path h="1219200" w="1290296">
                  <a:moveTo>
                    <a:pt x="0" y="0"/>
                  </a:moveTo>
                  <a:lnTo>
                    <a:pt x="1290296" y="0"/>
                  </a:lnTo>
                  <a:lnTo>
                    <a:pt x="1290296" y="1219200"/>
                  </a:lnTo>
                  <a:lnTo>
                    <a:pt x="0" y="1219200"/>
                  </a:lnTo>
                  <a:close/>
                </a:path>
              </a:pathLst>
            </a:custGeom>
            <a:solidFill>
              <a:srgbClr val="4DE1C7"/>
            </a:solidFill>
          </p:spPr>
        </p:sp>
        <p:sp>
          <p:nvSpPr>
            <p:cNvPr name="TextBox 8" id="8"/>
            <p:cNvSpPr txBox="true"/>
            <p:nvPr/>
          </p:nvSpPr>
          <p:spPr>
            <a:xfrm>
              <a:off x="0" y="-57150"/>
              <a:ext cx="1290296" cy="1276350"/>
            </a:xfrm>
            <a:prstGeom prst="rect">
              <a:avLst/>
            </a:prstGeom>
          </p:spPr>
          <p:txBody>
            <a:bodyPr anchor="ctr" rtlCol="false" tIns="50800" lIns="50800" bIns="50800" rIns="50800"/>
            <a:lstStyle/>
            <a:p>
              <a:pPr algn="ctr">
                <a:lnSpc>
                  <a:spcPts val="2659"/>
                </a:lnSpc>
                <a:spcBef>
                  <a:spcPct val="0"/>
                </a:spcBef>
              </a:pPr>
            </a:p>
          </p:txBody>
        </p:sp>
      </p:grpSp>
      <p:grpSp>
        <p:nvGrpSpPr>
          <p:cNvPr name="Group 9" id="9"/>
          <p:cNvGrpSpPr/>
          <p:nvPr/>
        </p:nvGrpSpPr>
        <p:grpSpPr>
          <a:xfrm rot="0">
            <a:off x="7401128" y="5143500"/>
            <a:ext cx="5443436" cy="5143500"/>
            <a:chOff x="0" y="0"/>
            <a:chExt cx="1290296" cy="1219200"/>
          </a:xfrm>
        </p:grpSpPr>
        <p:sp>
          <p:nvSpPr>
            <p:cNvPr name="Freeform 10" id="10"/>
            <p:cNvSpPr/>
            <p:nvPr/>
          </p:nvSpPr>
          <p:spPr>
            <a:xfrm flipH="false" flipV="false" rot="0">
              <a:off x="0" y="0"/>
              <a:ext cx="1290296" cy="1219200"/>
            </a:xfrm>
            <a:custGeom>
              <a:avLst/>
              <a:gdLst/>
              <a:ahLst/>
              <a:cxnLst/>
              <a:rect r="r" b="b" t="t" l="l"/>
              <a:pathLst>
                <a:path h="1219200" w="1290296">
                  <a:moveTo>
                    <a:pt x="0" y="0"/>
                  </a:moveTo>
                  <a:lnTo>
                    <a:pt x="1290296" y="0"/>
                  </a:lnTo>
                  <a:lnTo>
                    <a:pt x="1290296" y="1219200"/>
                  </a:lnTo>
                  <a:lnTo>
                    <a:pt x="0" y="1219200"/>
                  </a:lnTo>
                  <a:close/>
                </a:path>
              </a:pathLst>
            </a:custGeom>
            <a:solidFill>
              <a:srgbClr val="4DE1C7"/>
            </a:solidFill>
          </p:spPr>
        </p:sp>
        <p:sp>
          <p:nvSpPr>
            <p:cNvPr name="TextBox 11" id="11"/>
            <p:cNvSpPr txBox="true"/>
            <p:nvPr/>
          </p:nvSpPr>
          <p:spPr>
            <a:xfrm>
              <a:off x="0" y="-57150"/>
              <a:ext cx="1290296" cy="1276350"/>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2844564" y="5143500"/>
            <a:ext cx="5443436" cy="5143500"/>
            <a:chOff x="0" y="0"/>
            <a:chExt cx="1290296" cy="1219200"/>
          </a:xfrm>
        </p:grpSpPr>
        <p:sp>
          <p:nvSpPr>
            <p:cNvPr name="Freeform 13" id="13"/>
            <p:cNvSpPr/>
            <p:nvPr/>
          </p:nvSpPr>
          <p:spPr>
            <a:xfrm flipH="false" flipV="false" rot="0">
              <a:off x="0" y="0"/>
              <a:ext cx="1290296" cy="1219200"/>
            </a:xfrm>
            <a:custGeom>
              <a:avLst/>
              <a:gdLst/>
              <a:ahLst/>
              <a:cxnLst/>
              <a:rect r="r" b="b" t="t" l="l"/>
              <a:pathLst>
                <a:path h="1219200" w="1290296">
                  <a:moveTo>
                    <a:pt x="0" y="0"/>
                  </a:moveTo>
                  <a:lnTo>
                    <a:pt x="1290296" y="0"/>
                  </a:lnTo>
                  <a:lnTo>
                    <a:pt x="1290296" y="1219200"/>
                  </a:lnTo>
                  <a:lnTo>
                    <a:pt x="0" y="1219200"/>
                  </a:lnTo>
                  <a:close/>
                </a:path>
              </a:pathLst>
            </a:custGeom>
            <a:solidFill>
              <a:srgbClr val="071C42"/>
            </a:solidFill>
          </p:spPr>
        </p:sp>
        <p:sp>
          <p:nvSpPr>
            <p:cNvPr name="TextBox 14" id="14"/>
            <p:cNvSpPr txBox="true"/>
            <p:nvPr/>
          </p:nvSpPr>
          <p:spPr>
            <a:xfrm>
              <a:off x="0" y="-57150"/>
              <a:ext cx="1290296" cy="1276350"/>
            </a:xfrm>
            <a:prstGeom prst="rect">
              <a:avLst/>
            </a:prstGeom>
          </p:spPr>
          <p:txBody>
            <a:bodyPr anchor="ctr" rtlCol="false" tIns="50800" lIns="50800" bIns="50800" rIns="50800"/>
            <a:lstStyle/>
            <a:p>
              <a:pPr algn="ctr">
                <a:lnSpc>
                  <a:spcPts val="2659"/>
                </a:lnSpc>
                <a:spcBef>
                  <a:spcPct val="0"/>
                </a:spcBef>
              </a:pPr>
            </a:p>
          </p:txBody>
        </p:sp>
      </p:grpSp>
      <p:sp>
        <p:nvSpPr>
          <p:cNvPr name="TextBox 15" id="15"/>
          <p:cNvSpPr txBox="true"/>
          <p:nvPr/>
        </p:nvSpPr>
        <p:spPr>
          <a:xfrm rot="0">
            <a:off x="1221496" y="3342998"/>
            <a:ext cx="4694697" cy="2548057"/>
          </a:xfrm>
          <a:prstGeom prst="rect">
            <a:avLst/>
          </a:prstGeom>
        </p:spPr>
        <p:txBody>
          <a:bodyPr anchor="t" rtlCol="false" tIns="0" lIns="0" bIns="0" rIns="0">
            <a:spAutoFit/>
          </a:bodyPr>
          <a:lstStyle/>
          <a:p>
            <a:pPr algn="l">
              <a:lnSpc>
                <a:spcPts val="2538"/>
              </a:lnSpc>
            </a:pPr>
            <a:r>
              <a:rPr lang="en-US" sz="1586">
                <a:solidFill>
                  <a:srgbClr val="545454"/>
                </a:solidFill>
                <a:latin typeface="Poppins"/>
                <a:ea typeface="Poppins"/>
                <a:cs typeface="Poppins"/>
                <a:sym typeface="Poppins"/>
              </a:rPr>
              <a:t>This dataset contains 10,000+ records of workout and fitness-related data collected from various fitness apps and devices. It is designed to help analyze and predict workout efficiency based on user activity, health metrics, and lifestyle factors.</a:t>
            </a:r>
          </a:p>
          <a:p>
            <a:pPr algn="l">
              <a:lnSpc>
                <a:spcPts val="2538"/>
              </a:lnSpc>
            </a:pPr>
          </a:p>
          <a:p>
            <a:pPr algn="l">
              <a:lnSpc>
                <a:spcPts val="2538"/>
              </a:lnSpc>
            </a:pPr>
          </a:p>
        </p:txBody>
      </p:sp>
      <p:sp>
        <p:nvSpPr>
          <p:cNvPr name="Freeform 16" id="16"/>
          <p:cNvSpPr/>
          <p:nvPr/>
        </p:nvSpPr>
        <p:spPr>
          <a:xfrm flipH="false" flipV="false" rot="2089252">
            <a:off x="-6191201" y="4534055"/>
            <a:ext cx="13969695" cy="5395795"/>
          </a:xfrm>
          <a:custGeom>
            <a:avLst/>
            <a:gdLst/>
            <a:ahLst/>
            <a:cxnLst/>
            <a:rect r="r" b="b" t="t" l="l"/>
            <a:pathLst>
              <a:path h="5395795" w="13969695">
                <a:moveTo>
                  <a:pt x="0" y="0"/>
                </a:moveTo>
                <a:lnTo>
                  <a:pt x="13969694" y="0"/>
                </a:lnTo>
                <a:lnTo>
                  <a:pt x="13969694" y="5395794"/>
                </a:lnTo>
                <a:lnTo>
                  <a:pt x="0" y="539579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17" id="17"/>
          <p:cNvSpPr/>
          <p:nvPr/>
        </p:nvSpPr>
        <p:spPr>
          <a:xfrm flipH="false" flipV="false" rot="0">
            <a:off x="7572820" y="523228"/>
            <a:ext cx="5100053" cy="2895970"/>
          </a:xfrm>
          <a:custGeom>
            <a:avLst/>
            <a:gdLst/>
            <a:ahLst/>
            <a:cxnLst/>
            <a:rect r="r" b="b" t="t" l="l"/>
            <a:pathLst>
              <a:path h="2895970" w="5100053">
                <a:moveTo>
                  <a:pt x="0" y="0"/>
                </a:moveTo>
                <a:lnTo>
                  <a:pt x="5100053" y="0"/>
                </a:lnTo>
                <a:lnTo>
                  <a:pt x="5100053" y="2895970"/>
                </a:lnTo>
                <a:lnTo>
                  <a:pt x="0" y="2895970"/>
                </a:lnTo>
                <a:lnTo>
                  <a:pt x="0" y="0"/>
                </a:lnTo>
                <a:close/>
              </a:path>
            </a:pathLst>
          </a:custGeom>
          <a:blipFill>
            <a:blip r:embed="rId4"/>
            <a:stretch>
              <a:fillRect l="0" t="0" r="-38074" b="0"/>
            </a:stretch>
          </a:blipFill>
        </p:spPr>
      </p:sp>
      <p:sp>
        <p:nvSpPr>
          <p:cNvPr name="Freeform 18" id="18"/>
          <p:cNvSpPr/>
          <p:nvPr/>
        </p:nvSpPr>
        <p:spPr>
          <a:xfrm flipH="false" flipV="false" rot="0">
            <a:off x="9972418" y="7360789"/>
            <a:ext cx="6284627" cy="2560986"/>
          </a:xfrm>
          <a:custGeom>
            <a:avLst/>
            <a:gdLst/>
            <a:ahLst/>
            <a:cxnLst/>
            <a:rect r="r" b="b" t="t" l="l"/>
            <a:pathLst>
              <a:path h="2560986" w="6284627">
                <a:moveTo>
                  <a:pt x="0" y="0"/>
                </a:moveTo>
                <a:lnTo>
                  <a:pt x="6284627" y="0"/>
                </a:lnTo>
                <a:lnTo>
                  <a:pt x="6284627" y="2560985"/>
                </a:lnTo>
                <a:lnTo>
                  <a:pt x="0" y="2560985"/>
                </a:lnTo>
                <a:lnTo>
                  <a:pt x="0" y="0"/>
                </a:lnTo>
                <a:close/>
              </a:path>
            </a:pathLst>
          </a:custGeom>
          <a:blipFill>
            <a:blip r:embed="rId5"/>
            <a:stretch>
              <a:fillRect l="0" t="0" r="0" b="0"/>
            </a:stretch>
          </a:blipFill>
        </p:spPr>
      </p:sp>
      <p:sp>
        <p:nvSpPr>
          <p:cNvPr name="Freeform 19" id="19"/>
          <p:cNvSpPr/>
          <p:nvPr/>
        </p:nvSpPr>
        <p:spPr>
          <a:xfrm flipH="false" flipV="false" rot="0">
            <a:off x="13114732" y="523228"/>
            <a:ext cx="4903101" cy="2695152"/>
          </a:xfrm>
          <a:custGeom>
            <a:avLst/>
            <a:gdLst/>
            <a:ahLst/>
            <a:cxnLst/>
            <a:rect r="r" b="b" t="t" l="l"/>
            <a:pathLst>
              <a:path h="2695152" w="4903101">
                <a:moveTo>
                  <a:pt x="0" y="0"/>
                </a:moveTo>
                <a:lnTo>
                  <a:pt x="4903101" y="0"/>
                </a:lnTo>
                <a:lnTo>
                  <a:pt x="4903101" y="2695152"/>
                </a:lnTo>
                <a:lnTo>
                  <a:pt x="0" y="2695152"/>
                </a:lnTo>
                <a:lnTo>
                  <a:pt x="0" y="0"/>
                </a:lnTo>
                <a:close/>
              </a:path>
            </a:pathLst>
          </a:custGeom>
          <a:blipFill>
            <a:blip r:embed="rId6"/>
            <a:stretch>
              <a:fillRect l="0" t="0" r="-32853" b="0"/>
            </a:stretch>
          </a:blipFill>
        </p:spPr>
      </p:sp>
      <p:sp>
        <p:nvSpPr>
          <p:cNvPr name="Freeform 20" id="20"/>
          <p:cNvSpPr/>
          <p:nvPr/>
        </p:nvSpPr>
        <p:spPr>
          <a:xfrm flipH="false" flipV="false" rot="0">
            <a:off x="9280682" y="3924347"/>
            <a:ext cx="7127764" cy="2931293"/>
          </a:xfrm>
          <a:custGeom>
            <a:avLst/>
            <a:gdLst/>
            <a:ahLst/>
            <a:cxnLst/>
            <a:rect r="r" b="b" t="t" l="l"/>
            <a:pathLst>
              <a:path h="2931293" w="7127764">
                <a:moveTo>
                  <a:pt x="0" y="0"/>
                </a:moveTo>
                <a:lnTo>
                  <a:pt x="7127764" y="0"/>
                </a:lnTo>
                <a:lnTo>
                  <a:pt x="7127764" y="2931293"/>
                </a:lnTo>
                <a:lnTo>
                  <a:pt x="0" y="2931293"/>
                </a:lnTo>
                <a:lnTo>
                  <a:pt x="0" y="0"/>
                </a:lnTo>
                <a:close/>
              </a:path>
            </a:pathLst>
          </a:custGeom>
          <a:blipFill>
            <a:blip r:embed="rId7"/>
            <a:stretch>
              <a:fillRect l="0" t="0" r="0" b="0"/>
            </a:stretch>
          </a:blipFill>
        </p:spPr>
      </p:sp>
      <p:sp>
        <p:nvSpPr>
          <p:cNvPr name="TextBox 21" id="21"/>
          <p:cNvSpPr txBox="true"/>
          <p:nvPr/>
        </p:nvSpPr>
        <p:spPr>
          <a:xfrm rot="0">
            <a:off x="1221496" y="1298920"/>
            <a:ext cx="3627020" cy="1752600"/>
          </a:xfrm>
          <a:prstGeom prst="rect">
            <a:avLst/>
          </a:prstGeom>
        </p:spPr>
        <p:txBody>
          <a:bodyPr anchor="t" rtlCol="false" tIns="0" lIns="0" bIns="0" rIns="0">
            <a:spAutoFit/>
          </a:bodyPr>
          <a:lstStyle/>
          <a:p>
            <a:pPr algn="l">
              <a:lnSpc>
                <a:spcPts val="6719"/>
              </a:lnSpc>
            </a:pPr>
            <a:r>
              <a:rPr lang="en-US" sz="5599" b="true">
                <a:solidFill>
                  <a:srgbClr val="101010"/>
                </a:solidFill>
                <a:latin typeface="Poppins Bold"/>
                <a:ea typeface="Poppins Bold"/>
                <a:cs typeface="Poppins Bold"/>
                <a:sym typeface="Poppins Bold"/>
              </a:rPr>
              <a:t>Our Dataset</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1028700" y="601417"/>
            <a:ext cx="16230600" cy="0"/>
          </a:xfrm>
          <a:prstGeom prst="line">
            <a:avLst/>
          </a:prstGeom>
          <a:ln cap="flat" w="19050">
            <a:solidFill>
              <a:srgbClr val="D9D9D9"/>
            </a:solidFill>
            <a:prstDash val="solid"/>
            <a:headEnd type="none" len="sm" w="sm"/>
            <a:tailEnd type="none" len="sm" w="sm"/>
          </a:ln>
        </p:spPr>
      </p:sp>
      <p:grpSp>
        <p:nvGrpSpPr>
          <p:cNvPr name="Group 3" id="3"/>
          <p:cNvGrpSpPr/>
          <p:nvPr/>
        </p:nvGrpSpPr>
        <p:grpSpPr>
          <a:xfrm rot="0">
            <a:off x="0" y="0"/>
            <a:ext cx="7352672" cy="10287000"/>
            <a:chOff x="0" y="0"/>
            <a:chExt cx="1936506" cy="2709333"/>
          </a:xfrm>
        </p:grpSpPr>
        <p:sp>
          <p:nvSpPr>
            <p:cNvPr name="Freeform 4" id="4"/>
            <p:cNvSpPr/>
            <p:nvPr/>
          </p:nvSpPr>
          <p:spPr>
            <a:xfrm flipH="false" flipV="false" rot="0">
              <a:off x="0" y="0"/>
              <a:ext cx="1936506" cy="2709333"/>
            </a:xfrm>
            <a:custGeom>
              <a:avLst/>
              <a:gdLst/>
              <a:ahLst/>
              <a:cxnLst/>
              <a:rect r="r" b="b" t="t" l="l"/>
              <a:pathLst>
                <a:path h="2709333" w="1936506">
                  <a:moveTo>
                    <a:pt x="0" y="0"/>
                  </a:moveTo>
                  <a:lnTo>
                    <a:pt x="1936506" y="0"/>
                  </a:lnTo>
                  <a:lnTo>
                    <a:pt x="1936506" y="2709333"/>
                  </a:lnTo>
                  <a:lnTo>
                    <a:pt x="0" y="2709333"/>
                  </a:lnTo>
                  <a:close/>
                </a:path>
              </a:pathLst>
            </a:custGeom>
            <a:solidFill>
              <a:srgbClr val="071C42"/>
            </a:solidFill>
          </p:spPr>
        </p:sp>
        <p:sp>
          <p:nvSpPr>
            <p:cNvPr name="TextBox 5" id="5"/>
            <p:cNvSpPr txBox="true"/>
            <p:nvPr/>
          </p:nvSpPr>
          <p:spPr>
            <a:xfrm>
              <a:off x="0" y="-57150"/>
              <a:ext cx="1936506" cy="2766483"/>
            </a:xfrm>
            <a:prstGeom prst="rect">
              <a:avLst/>
            </a:prstGeom>
          </p:spPr>
          <p:txBody>
            <a:bodyPr anchor="ctr" rtlCol="false" tIns="50800" lIns="50800" bIns="50800" rIns="50800"/>
            <a:lstStyle/>
            <a:p>
              <a:pPr algn="ctr">
                <a:lnSpc>
                  <a:spcPts val="2659"/>
                </a:lnSpc>
                <a:spcBef>
                  <a:spcPct val="0"/>
                </a:spcBef>
              </a:pPr>
            </a:p>
          </p:txBody>
        </p:sp>
      </p:grpSp>
      <p:grpSp>
        <p:nvGrpSpPr>
          <p:cNvPr name="Group 6" id="6"/>
          <p:cNvGrpSpPr/>
          <p:nvPr/>
        </p:nvGrpSpPr>
        <p:grpSpPr>
          <a:xfrm rot="0">
            <a:off x="0" y="0"/>
            <a:ext cx="4506284" cy="343487"/>
            <a:chOff x="0" y="0"/>
            <a:chExt cx="1186840" cy="90466"/>
          </a:xfrm>
        </p:grpSpPr>
        <p:sp>
          <p:nvSpPr>
            <p:cNvPr name="Freeform 7" id="7"/>
            <p:cNvSpPr/>
            <p:nvPr/>
          </p:nvSpPr>
          <p:spPr>
            <a:xfrm flipH="false" flipV="false" rot="0">
              <a:off x="0" y="0"/>
              <a:ext cx="1186840" cy="90466"/>
            </a:xfrm>
            <a:custGeom>
              <a:avLst/>
              <a:gdLst/>
              <a:ahLst/>
              <a:cxnLst/>
              <a:rect r="r" b="b" t="t" l="l"/>
              <a:pathLst>
                <a:path h="90466" w="1186840">
                  <a:moveTo>
                    <a:pt x="0" y="0"/>
                  </a:moveTo>
                  <a:lnTo>
                    <a:pt x="1186840" y="0"/>
                  </a:lnTo>
                  <a:lnTo>
                    <a:pt x="1186840" y="90466"/>
                  </a:lnTo>
                  <a:lnTo>
                    <a:pt x="0" y="90466"/>
                  </a:lnTo>
                  <a:close/>
                </a:path>
              </a:pathLst>
            </a:custGeom>
            <a:solidFill>
              <a:srgbClr val="4DE1C7"/>
            </a:solidFill>
          </p:spPr>
        </p:sp>
        <p:sp>
          <p:nvSpPr>
            <p:cNvPr name="TextBox 8" id="8"/>
            <p:cNvSpPr txBox="true"/>
            <p:nvPr/>
          </p:nvSpPr>
          <p:spPr>
            <a:xfrm>
              <a:off x="0" y="-57150"/>
              <a:ext cx="1186840" cy="147616"/>
            </a:xfrm>
            <a:prstGeom prst="rect">
              <a:avLst/>
            </a:prstGeom>
          </p:spPr>
          <p:txBody>
            <a:bodyPr anchor="ctr" rtlCol="false" tIns="50800" lIns="50800" bIns="50800" rIns="50800"/>
            <a:lstStyle/>
            <a:p>
              <a:pPr algn="ctr">
                <a:lnSpc>
                  <a:spcPts val="2659"/>
                </a:lnSpc>
              </a:pPr>
            </a:p>
          </p:txBody>
        </p:sp>
      </p:grpSp>
      <p:sp>
        <p:nvSpPr>
          <p:cNvPr name="Freeform 9" id="9"/>
          <p:cNvSpPr/>
          <p:nvPr/>
        </p:nvSpPr>
        <p:spPr>
          <a:xfrm flipH="false" flipV="false" rot="2089252">
            <a:off x="-8678509" y="6140222"/>
            <a:ext cx="13969695" cy="5395795"/>
          </a:xfrm>
          <a:custGeom>
            <a:avLst/>
            <a:gdLst/>
            <a:ahLst/>
            <a:cxnLst/>
            <a:rect r="r" b="b" t="t" l="l"/>
            <a:pathLst>
              <a:path h="5395795" w="13969695">
                <a:moveTo>
                  <a:pt x="0" y="0"/>
                </a:moveTo>
                <a:lnTo>
                  <a:pt x="13969695" y="0"/>
                </a:lnTo>
                <a:lnTo>
                  <a:pt x="13969695" y="5395794"/>
                </a:lnTo>
                <a:lnTo>
                  <a:pt x="0" y="539579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TextBox 10" id="10"/>
          <p:cNvSpPr txBox="true"/>
          <p:nvPr/>
        </p:nvSpPr>
        <p:spPr>
          <a:xfrm rot="0">
            <a:off x="1028700" y="1167744"/>
            <a:ext cx="5179295" cy="1752600"/>
          </a:xfrm>
          <a:prstGeom prst="rect">
            <a:avLst/>
          </a:prstGeom>
        </p:spPr>
        <p:txBody>
          <a:bodyPr anchor="t" rtlCol="false" tIns="0" lIns="0" bIns="0" rIns="0">
            <a:spAutoFit/>
          </a:bodyPr>
          <a:lstStyle/>
          <a:p>
            <a:pPr algn="l">
              <a:lnSpc>
                <a:spcPts val="6719"/>
              </a:lnSpc>
            </a:pPr>
            <a:r>
              <a:rPr lang="en-US" sz="5599" b="true">
                <a:solidFill>
                  <a:srgbClr val="FFFFFF"/>
                </a:solidFill>
                <a:latin typeface="Poppins Bold"/>
                <a:ea typeface="Poppins Bold"/>
                <a:cs typeface="Poppins Bold"/>
                <a:sym typeface="Poppins Bold"/>
              </a:rPr>
              <a:t>Why this dataset?</a:t>
            </a:r>
          </a:p>
        </p:txBody>
      </p:sp>
      <p:sp>
        <p:nvSpPr>
          <p:cNvPr name="TextBox 11" id="11"/>
          <p:cNvSpPr txBox="true"/>
          <p:nvPr/>
        </p:nvSpPr>
        <p:spPr>
          <a:xfrm rot="0">
            <a:off x="1084267" y="2980653"/>
            <a:ext cx="5184138" cy="356235"/>
          </a:xfrm>
          <a:prstGeom prst="rect">
            <a:avLst/>
          </a:prstGeom>
        </p:spPr>
        <p:txBody>
          <a:bodyPr anchor="t" rtlCol="false" tIns="0" lIns="0" bIns="0" rIns="0">
            <a:spAutoFit/>
          </a:bodyPr>
          <a:lstStyle/>
          <a:p>
            <a:pPr algn="l">
              <a:lnSpc>
                <a:spcPts val="2880"/>
              </a:lnSpc>
            </a:pPr>
            <a:r>
              <a:rPr lang="en-US" sz="1800">
                <a:solidFill>
                  <a:srgbClr val="D9D9D9"/>
                </a:solidFill>
                <a:latin typeface="Poppins"/>
                <a:ea typeface="Poppins"/>
                <a:cs typeface="Poppins"/>
                <a:sym typeface="Poppins"/>
              </a:rPr>
              <a:t>blah blah some more stuff about obesity</a:t>
            </a:r>
          </a:p>
        </p:txBody>
      </p:sp>
      <p:sp>
        <p:nvSpPr>
          <p:cNvPr name="TextBox 12" id="12"/>
          <p:cNvSpPr txBox="true"/>
          <p:nvPr/>
        </p:nvSpPr>
        <p:spPr>
          <a:xfrm rot="0">
            <a:off x="1739826" y="4906926"/>
            <a:ext cx="849435" cy="509905"/>
          </a:xfrm>
          <a:prstGeom prst="rect">
            <a:avLst/>
          </a:prstGeom>
        </p:spPr>
        <p:txBody>
          <a:bodyPr anchor="t" rtlCol="false" tIns="0" lIns="0" bIns="0" rIns="0">
            <a:spAutoFit/>
          </a:bodyPr>
          <a:lstStyle/>
          <a:p>
            <a:pPr algn="l">
              <a:lnSpc>
                <a:spcPts val="3919"/>
              </a:lnSpc>
            </a:pPr>
            <a:r>
              <a:rPr lang="en-US" sz="2799">
                <a:solidFill>
                  <a:srgbClr val="FFFFFF"/>
                </a:solidFill>
                <a:latin typeface="Poppins"/>
                <a:ea typeface="Poppins"/>
                <a:cs typeface="Poppins"/>
                <a:sym typeface="Poppins"/>
              </a:rPr>
              <a:t>TAM</a:t>
            </a:r>
          </a:p>
        </p:txBody>
      </p:sp>
      <p:sp>
        <p:nvSpPr>
          <p:cNvPr name="TextBox 13" id="13"/>
          <p:cNvSpPr txBox="true"/>
          <p:nvPr/>
        </p:nvSpPr>
        <p:spPr>
          <a:xfrm rot="0">
            <a:off x="3270019" y="4698963"/>
            <a:ext cx="2123752" cy="868680"/>
          </a:xfrm>
          <a:prstGeom prst="rect">
            <a:avLst/>
          </a:prstGeom>
        </p:spPr>
        <p:txBody>
          <a:bodyPr anchor="t" rtlCol="false" tIns="0" lIns="0" bIns="0" rIns="0">
            <a:spAutoFit/>
          </a:bodyPr>
          <a:lstStyle/>
          <a:p>
            <a:pPr algn="l">
              <a:lnSpc>
                <a:spcPts val="6719"/>
              </a:lnSpc>
            </a:pPr>
            <a:r>
              <a:rPr lang="en-US" sz="4800" b="true">
                <a:solidFill>
                  <a:srgbClr val="FFFFFF"/>
                </a:solidFill>
                <a:latin typeface="Poppins Bold"/>
                <a:ea typeface="Poppins Bold"/>
                <a:cs typeface="Poppins Bold"/>
                <a:sym typeface="Poppins Bold"/>
              </a:rPr>
              <a:t>$ 98M</a:t>
            </a:r>
          </a:p>
        </p:txBody>
      </p:sp>
      <p:sp>
        <p:nvSpPr>
          <p:cNvPr name="TextBox 14" id="14"/>
          <p:cNvSpPr txBox="true"/>
          <p:nvPr/>
        </p:nvSpPr>
        <p:spPr>
          <a:xfrm rot="0">
            <a:off x="1739826" y="6019008"/>
            <a:ext cx="855273" cy="509905"/>
          </a:xfrm>
          <a:prstGeom prst="rect">
            <a:avLst/>
          </a:prstGeom>
        </p:spPr>
        <p:txBody>
          <a:bodyPr anchor="t" rtlCol="false" tIns="0" lIns="0" bIns="0" rIns="0">
            <a:spAutoFit/>
          </a:bodyPr>
          <a:lstStyle/>
          <a:p>
            <a:pPr algn="l">
              <a:lnSpc>
                <a:spcPts val="3919"/>
              </a:lnSpc>
            </a:pPr>
            <a:r>
              <a:rPr lang="en-US" sz="2799">
                <a:solidFill>
                  <a:srgbClr val="FFFFFF"/>
                </a:solidFill>
                <a:latin typeface="Poppins"/>
                <a:ea typeface="Poppins"/>
                <a:cs typeface="Poppins"/>
                <a:sym typeface="Poppins"/>
              </a:rPr>
              <a:t>SAM</a:t>
            </a:r>
          </a:p>
        </p:txBody>
      </p:sp>
      <p:sp>
        <p:nvSpPr>
          <p:cNvPr name="TextBox 15" id="15"/>
          <p:cNvSpPr txBox="true"/>
          <p:nvPr/>
        </p:nvSpPr>
        <p:spPr>
          <a:xfrm rot="0">
            <a:off x="1751502" y="7134266"/>
            <a:ext cx="843597" cy="509905"/>
          </a:xfrm>
          <a:prstGeom prst="rect">
            <a:avLst/>
          </a:prstGeom>
        </p:spPr>
        <p:txBody>
          <a:bodyPr anchor="t" rtlCol="false" tIns="0" lIns="0" bIns="0" rIns="0">
            <a:spAutoFit/>
          </a:bodyPr>
          <a:lstStyle/>
          <a:p>
            <a:pPr algn="l">
              <a:lnSpc>
                <a:spcPts val="3919"/>
              </a:lnSpc>
            </a:pPr>
            <a:r>
              <a:rPr lang="en-US" sz="2799">
                <a:solidFill>
                  <a:srgbClr val="FFFFFF"/>
                </a:solidFill>
                <a:latin typeface="Poppins"/>
                <a:ea typeface="Poppins"/>
                <a:cs typeface="Poppins"/>
                <a:sym typeface="Poppins"/>
              </a:rPr>
              <a:t>SOM</a:t>
            </a:r>
          </a:p>
        </p:txBody>
      </p:sp>
      <p:sp>
        <p:nvSpPr>
          <p:cNvPr name="TextBox 16" id="16"/>
          <p:cNvSpPr txBox="true"/>
          <p:nvPr/>
        </p:nvSpPr>
        <p:spPr>
          <a:xfrm rot="0">
            <a:off x="3270019" y="5811046"/>
            <a:ext cx="2123752" cy="868680"/>
          </a:xfrm>
          <a:prstGeom prst="rect">
            <a:avLst/>
          </a:prstGeom>
        </p:spPr>
        <p:txBody>
          <a:bodyPr anchor="t" rtlCol="false" tIns="0" lIns="0" bIns="0" rIns="0">
            <a:spAutoFit/>
          </a:bodyPr>
          <a:lstStyle/>
          <a:p>
            <a:pPr algn="l">
              <a:lnSpc>
                <a:spcPts val="6719"/>
              </a:lnSpc>
            </a:pPr>
            <a:r>
              <a:rPr lang="en-US" sz="4800" b="true">
                <a:solidFill>
                  <a:srgbClr val="FFFFFF"/>
                </a:solidFill>
                <a:latin typeface="Poppins Bold"/>
                <a:ea typeface="Poppins Bold"/>
                <a:cs typeface="Poppins Bold"/>
                <a:sym typeface="Poppins Bold"/>
              </a:rPr>
              <a:t>$ 78M</a:t>
            </a:r>
          </a:p>
        </p:txBody>
      </p:sp>
      <p:sp>
        <p:nvSpPr>
          <p:cNvPr name="TextBox 17" id="17"/>
          <p:cNvSpPr txBox="true"/>
          <p:nvPr/>
        </p:nvSpPr>
        <p:spPr>
          <a:xfrm rot="0">
            <a:off x="3270019" y="6926304"/>
            <a:ext cx="2123752" cy="868680"/>
          </a:xfrm>
          <a:prstGeom prst="rect">
            <a:avLst/>
          </a:prstGeom>
        </p:spPr>
        <p:txBody>
          <a:bodyPr anchor="t" rtlCol="false" tIns="0" lIns="0" bIns="0" rIns="0">
            <a:spAutoFit/>
          </a:bodyPr>
          <a:lstStyle/>
          <a:p>
            <a:pPr algn="l">
              <a:lnSpc>
                <a:spcPts val="6719"/>
              </a:lnSpc>
            </a:pPr>
            <a:r>
              <a:rPr lang="en-US" sz="4800" b="true">
                <a:solidFill>
                  <a:srgbClr val="FFFFFF"/>
                </a:solidFill>
                <a:latin typeface="Poppins Bold"/>
                <a:ea typeface="Poppins Bold"/>
                <a:cs typeface="Poppins Bold"/>
                <a:sym typeface="Poppins Bold"/>
              </a:rPr>
              <a:t>$ 68M</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7215070"/>
            <a:ext cx="18288000" cy="3073179"/>
            <a:chOff x="0" y="0"/>
            <a:chExt cx="4816593" cy="809397"/>
          </a:xfrm>
        </p:grpSpPr>
        <p:sp>
          <p:nvSpPr>
            <p:cNvPr name="Freeform 3" id="3"/>
            <p:cNvSpPr/>
            <p:nvPr/>
          </p:nvSpPr>
          <p:spPr>
            <a:xfrm flipH="false" flipV="false" rot="0">
              <a:off x="0" y="0"/>
              <a:ext cx="4816592" cy="809397"/>
            </a:xfrm>
            <a:custGeom>
              <a:avLst/>
              <a:gdLst/>
              <a:ahLst/>
              <a:cxnLst/>
              <a:rect r="r" b="b" t="t" l="l"/>
              <a:pathLst>
                <a:path h="809397" w="4816592">
                  <a:moveTo>
                    <a:pt x="0" y="0"/>
                  </a:moveTo>
                  <a:lnTo>
                    <a:pt x="4816592" y="0"/>
                  </a:lnTo>
                  <a:lnTo>
                    <a:pt x="4816592" y="809397"/>
                  </a:lnTo>
                  <a:lnTo>
                    <a:pt x="0" y="809397"/>
                  </a:lnTo>
                  <a:close/>
                </a:path>
              </a:pathLst>
            </a:custGeom>
            <a:solidFill>
              <a:srgbClr val="071C42"/>
            </a:solidFill>
          </p:spPr>
        </p:sp>
        <p:sp>
          <p:nvSpPr>
            <p:cNvPr name="TextBox 4" id="4"/>
            <p:cNvSpPr txBox="true"/>
            <p:nvPr/>
          </p:nvSpPr>
          <p:spPr>
            <a:xfrm>
              <a:off x="0" y="-57150"/>
              <a:ext cx="4816593" cy="866547"/>
            </a:xfrm>
            <a:prstGeom prst="rect">
              <a:avLst/>
            </a:prstGeom>
          </p:spPr>
          <p:txBody>
            <a:bodyPr anchor="ctr" rtlCol="false" tIns="50800" lIns="50800" bIns="50800" rIns="50800"/>
            <a:lstStyle/>
            <a:p>
              <a:pPr algn="ctr">
                <a:lnSpc>
                  <a:spcPts val="2659"/>
                </a:lnSpc>
                <a:spcBef>
                  <a:spcPct val="0"/>
                </a:spcBef>
              </a:pPr>
            </a:p>
          </p:txBody>
        </p:sp>
      </p:grpSp>
      <p:sp>
        <p:nvSpPr>
          <p:cNvPr name="TextBox 5" id="5"/>
          <p:cNvSpPr txBox="true"/>
          <p:nvPr/>
        </p:nvSpPr>
        <p:spPr>
          <a:xfrm rot="0">
            <a:off x="1313558" y="8270647"/>
            <a:ext cx="11533832" cy="904875"/>
          </a:xfrm>
          <a:prstGeom prst="rect">
            <a:avLst/>
          </a:prstGeom>
        </p:spPr>
        <p:txBody>
          <a:bodyPr anchor="t" rtlCol="false" tIns="0" lIns="0" bIns="0" rIns="0">
            <a:spAutoFit/>
          </a:bodyPr>
          <a:lstStyle/>
          <a:p>
            <a:pPr algn="l">
              <a:lnSpc>
                <a:spcPts val="6719"/>
              </a:lnSpc>
            </a:pPr>
            <a:r>
              <a:rPr lang="en-US" sz="5599" b="true">
                <a:solidFill>
                  <a:srgbClr val="FFFFFF"/>
                </a:solidFill>
                <a:latin typeface="Poppins Bold"/>
                <a:ea typeface="Poppins Bold"/>
                <a:cs typeface="Poppins Bold"/>
                <a:sym typeface="Poppins Bold"/>
              </a:rPr>
              <a:t>Some Statistics on Obesity</a:t>
            </a:r>
          </a:p>
        </p:txBody>
      </p:sp>
      <p:sp>
        <p:nvSpPr>
          <p:cNvPr name="AutoShape 6" id="6"/>
          <p:cNvSpPr/>
          <p:nvPr/>
        </p:nvSpPr>
        <p:spPr>
          <a:xfrm rot="0">
            <a:off x="1028700" y="601417"/>
            <a:ext cx="16230600" cy="0"/>
          </a:xfrm>
          <a:prstGeom prst="line">
            <a:avLst/>
          </a:prstGeom>
          <a:ln cap="flat" w="19050">
            <a:solidFill>
              <a:srgbClr val="D9D9D9"/>
            </a:solidFill>
            <a:prstDash val="solid"/>
            <a:headEnd type="none" len="sm" w="sm"/>
            <a:tailEnd type="none" len="sm" w="sm"/>
          </a:ln>
        </p:spPr>
      </p:sp>
      <p:grpSp>
        <p:nvGrpSpPr>
          <p:cNvPr name="Group 7" id="7"/>
          <p:cNvGrpSpPr/>
          <p:nvPr/>
        </p:nvGrpSpPr>
        <p:grpSpPr>
          <a:xfrm rot="0">
            <a:off x="3176705" y="1394134"/>
            <a:ext cx="5047269" cy="5047269"/>
            <a:chOff x="0" y="0"/>
            <a:chExt cx="812800" cy="812800"/>
          </a:xfrm>
        </p:grpSpPr>
        <p:sp>
          <p:nvSpPr>
            <p:cNvPr name="Freeform 8" id="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71C42"/>
            </a:solidFill>
          </p:spPr>
        </p:sp>
        <p:sp>
          <p:nvSpPr>
            <p:cNvPr name="TextBox 9" id="9"/>
            <p:cNvSpPr txBox="true"/>
            <p:nvPr/>
          </p:nvSpPr>
          <p:spPr>
            <a:xfrm>
              <a:off x="76200" y="19050"/>
              <a:ext cx="660400" cy="717550"/>
            </a:xfrm>
            <a:prstGeom prst="rect">
              <a:avLst/>
            </a:prstGeom>
          </p:spPr>
          <p:txBody>
            <a:bodyPr anchor="ctr" rtlCol="false" tIns="50800" lIns="50800" bIns="50800" rIns="50800"/>
            <a:lstStyle/>
            <a:p>
              <a:pPr algn="ctr">
                <a:lnSpc>
                  <a:spcPts val="2659"/>
                </a:lnSpc>
              </a:pPr>
            </a:p>
          </p:txBody>
        </p:sp>
      </p:grpSp>
      <p:grpSp>
        <p:nvGrpSpPr>
          <p:cNvPr name="Group 10" id="10"/>
          <p:cNvGrpSpPr/>
          <p:nvPr/>
        </p:nvGrpSpPr>
        <p:grpSpPr>
          <a:xfrm rot="0">
            <a:off x="7640206" y="2073729"/>
            <a:ext cx="4367674" cy="4367674"/>
            <a:chOff x="0" y="0"/>
            <a:chExt cx="812800" cy="812800"/>
          </a:xfrm>
        </p:grpSpPr>
        <p:sp>
          <p:nvSpPr>
            <p:cNvPr name="Freeform 11" id="11"/>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E1C7"/>
            </a:solidFill>
          </p:spPr>
        </p:sp>
        <p:sp>
          <p:nvSpPr>
            <p:cNvPr name="TextBox 12" id="12"/>
            <p:cNvSpPr txBox="true"/>
            <p:nvPr/>
          </p:nvSpPr>
          <p:spPr>
            <a:xfrm>
              <a:off x="76200" y="19050"/>
              <a:ext cx="660400" cy="717550"/>
            </a:xfrm>
            <a:prstGeom prst="rect">
              <a:avLst/>
            </a:prstGeom>
          </p:spPr>
          <p:txBody>
            <a:bodyPr anchor="ctr" rtlCol="false" tIns="50800" lIns="50800" bIns="50800" rIns="50800"/>
            <a:lstStyle/>
            <a:p>
              <a:pPr algn="ctr">
                <a:lnSpc>
                  <a:spcPts val="2659"/>
                </a:lnSpc>
              </a:pPr>
            </a:p>
          </p:txBody>
        </p:sp>
      </p:grpSp>
      <p:grpSp>
        <p:nvGrpSpPr>
          <p:cNvPr name="Group 13" id="13"/>
          <p:cNvGrpSpPr/>
          <p:nvPr/>
        </p:nvGrpSpPr>
        <p:grpSpPr>
          <a:xfrm rot="0">
            <a:off x="11604791" y="2934898"/>
            <a:ext cx="3506505" cy="3506505"/>
            <a:chOff x="0" y="0"/>
            <a:chExt cx="812800" cy="812800"/>
          </a:xfrm>
        </p:grpSpPr>
        <p:sp>
          <p:nvSpPr>
            <p:cNvPr name="Freeform 14" id="14"/>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38B6FF"/>
            </a:solidFill>
          </p:spPr>
        </p:sp>
        <p:sp>
          <p:nvSpPr>
            <p:cNvPr name="TextBox 15" id="15"/>
            <p:cNvSpPr txBox="true"/>
            <p:nvPr/>
          </p:nvSpPr>
          <p:spPr>
            <a:xfrm>
              <a:off x="76200" y="19050"/>
              <a:ext cx="660400" cy="717550"/>
            </a:xfrm>
            <a:prstGeom prst="rect">
              <a:avLst/>
            </a:prstGeom>
          </p:spPr>
          <p:txBody>
            <a:bodyPr anchor="ctr" rtlCol="false" tIns="50800" lIns="50800" bIns="50800" rIns="50800"/>
            <a:lstStyle/>
            <a:p>
              <a:pPr algn="ctr">
                <a:lnSpc>
                  <a:spcPts val="2659"/>
                </a:lnSpc>
              </a:pPr>
            </a:p>
          </p:txBody>
        </p:sp>
      </p:grpSp>
      <p:sp>
        <p:nvSpPr>
          <p:cNvPr name="TextBox 16" id="16"/>
          <p:cNvSpPr txBox="true"/>
          <p:nvPr/>
        </p:nvSpPr>
        <p:spPr>
          <a:xfrm rot="0">
            <a:off x="3768986" y="2706298"/>
            <a:ext cx="3862707" cy="1398439"/>
          </a:xfrm>
          <a:prstGeom prst="rect">
            <a:avLst/>
          </a:prstGeom>
        </p:spPr>
        <p:txBody>
          <a:bodyPr anchor="t" rtlCol="false" tIns="0" lIns="0" bIns="0" rIns="0">
            <a:spAutoFit/>
          </a:bodyPr>
          <a:lstStyle/>
          <a:p>
            <a:pPr algn="ctr">
              <a:lnSpc>
                <a:spcPts val="10795"/>
              </a:lnSpc>
            </a:pPr>
            <a:r>
              <a:rPr lang="en-US" b="true" sz="7711">
                <a:solidFill>
                  <a:srgbClr val="FFFFFF"/>
                </a:solidFill>
                <a:latin typeface="Poppins Bold"/>
                <a:ea typeface="Poppins Bold"/>
                <a:cs typeface="Poppins Bold"/>
                <a:sym typeface="Poppins Bold"/>
              </a:rPr>
              <a:t>40.3 %</a:t>
            </a:r>
          </a:p>
        </p:txBody>
      </p:sp>
      <p:sp>
        <p:nvSpPr>
          <p:cNvPr name="TextBox 17" id="17"/>
          <p:cNvSpPr txBox="true"/>
          <p:nvPr/>
        </p:nvSpPr>
        <p:spPr>
          <a:xfrm rot="0">
            <a:off x="4648817" y="4223559"/>
            <a:ext cx="2103044" cy="1449706"/>
          </a:xfrm>
          <a:prstGeom prst="rect">
            <a:avLst/>
          </a:prstGeom>
        </p:spPr>
        <p:txBody>
          <a:bodyPr anchor="t" rtlCol="false" tIns="0" lIns="0" bIns="0" rIns="0">
            <a:spAutoFit/>
          </a:bodyPr>
          <a:lstStyle/>
          <a:p>
            <a:pPr algn="ctr">
              <a:lnSpc>
                <a:spcPts val="3839"/>
              </a:lnSpc>
            </a:pPr>
            <a:r>
              <a:rPr lang="en-US" sz="2399">
                <a:solidFill>
                  <a:srgbClr val="EEF2F5"/>
                </a:solidFill>
                <a:latin typeface="Poppins"/>
                <a:ea typeface="Poppins"/>
                <a:cs typeface="Poppins"/>
                <a:sym typeface="Poppins"/>
              </a:rPr>
              <a:t>U.S. adults considered obese</a:t>
            </a:r>
          </a:p>
        </p:txBody>
      </p:sp>
      <p:sp>
        <p:nvSpPr>
          <p:cNvPr name="TextBox 18" id="18"/>
          <p:cNvSpPr txBox="true"/>
          <p:nvPr/>
        </p:nvSpPr>
        <p:spPr>
          <a:xfrm rot="0">
            <a:off x="8398914" y="3441238"/>
            <a:ext cx="3205877" cy="1010285"/>
          </a:xfrm>
          <a:prstGeom prst="rect">
            <a:avLst/>
          </a:prstGeom>
        </p:spPr>
        <p:txBody>
          <a:bodyPr anchor="t" rtlCol="false" tIns="0" lIns="0" bIns="0" rIns="0">
            <a:spAutoFit/>
          </a:bodyPr>
          <a:lstStyle/>
          <a:p>
            <a:pPr algn="ctr">
              <a:lnSpc>
                <a:spcPts val="7840"/>
              </a:lnSpc>
            </a:pPr>
            <a:r>
              <a:rPr lang="en-US" b="true" sz="5600">
                <a:solidFill>
                  <a:srgbClr val="000000"/>
                </a:solidFill>
                <a:latin typeface="Poppins Bold"/>
                <a:ea typeface="Poppins Bold"/>
                <a:cs typeface="Poppins Bold"/>
                <a:sym typeface="Poppins Bold"/>
              </a:rPr>
              <a:t>31.6 %</a:t>
            </a:r>
          </a:p>
        </p:txBody>
      </p:sp>
      <p:sp>
        <p:nvSpPr>
          <p:cNvPr name="TextBox 19" id="19"/>
          <p:cNvSpPr txBox="true"/>
          <p:nvPr/>
        </p:nvSpPr>
        <p:spPr>
          <a:xfrm rot="0">
            <a:off x="8899663" y="4516894"/>
            <a:ext cx="1848758" cy="1696226"/>
          </a:xfrm>
          <a:prstGeom prst="rect">
            <a:avLst/>
          </a:prstGeom>
        </p:spPr>
        <p:txBody>
          <a:bodyPr anchor="t" rtlCol="false" tIns="0" lIns="0" bIns="0" rIns="0">
            <a:spAutoFit/>
          </a:bodyPr>
          <a:lstStyle/>
          <a:p>
            <a:pPr algn="ctr">
              <a:lnSpc>
                <a:spcPts val="3375"/>
              </a:lnSpc>
            </a:pPr>
            <a:r>
              <a:rPr lang="en-US" sz="2109">
                <a:solidFill>
                  <a:srgbClr val="000000"/>
                </a:solidFill>
                <a:latin typeface="Poppins"/>
                <a:ea typeface="Poppins"/>
                <a:cs typeface="Poppins"/>
                <a:sym typeface="Poppins"/>
              </a:rPr>
              <a:t>lower in adults with a bachelor’s or more</a:t>
            </a:r>
          </a:p>
        </p:txBody>
      </p:sp>
      <p:sp>
        <p:nvSpPr>
          <p:cNvPr name="TextBox 20" id="20"/>
          <p:cNvSpPr txBox="true"/>
          <p:nvPr/>
        </p:nvSpPr>
        <p:spPr>
          <a:xfrm rot="0">
            <a:off x="12292349" y="3884468"/>
            <a:ext cx="2174555" cy="868680"/>
          </a:xfrm>
          <a:prstGeom prst="rect">
            <a:avLst/>
          </a:prstGeom>
        </p:spPr>
        <p:txBody>
          <a:bodyPr anchor="t" rtlCol="false" tIns="0" lIns="0" bIns="0" rIns="0">
            <a:spAutoFit/>
          </a:bodyPr>
          <a:lstStyle/>
          <a:p>
            <a:pPr algn="ctr">
              <a:lnSpc>
                <a:spcPts val="6719"/>
              </a:lnSpc>
            </a:pPr>
            <a:r>
              <a:rPr lang="en-US" b="true" sz="4800">
                <a:solidFill>
                  <a:srgbClr val="000000"/>
                </a:solidFill>
                <a:latin typeface="Poppins Bold"/>
                <a:ea typeface="Poppins Bold"/>
                <a:cs typeface="Poppins Bold"/>
                <a:sym typeface="Poppins Bold"/>
              </a:rPr>
              <a:t>260M</a:t>
            </a:r>
          </a:p>
        </p:txBody>
      </p:sp>
      <p:sp>
        <p:nvSpPr>
          <p:cNvPr name="TextBox 21" id="21"/>
          <p:cNvSpPr txBox="true"/>
          <p:nvPr/>
        </p:nvSpPr>
        <p:spPr>
          <a:xfrm rot="0">
            <a:off x="12639548" y="4880197"/>
            <a:ext cx="1436991" cy="988671"/>
          </a:xfrm>
          <a:prstGeom prst="rect">
            <a:avLst/>
          </a:prstGeom>
        </p:spPr>
        <p:txBody>
          <a:bodyPr anchor="t" rtlCol="false" tIns="0" lIns="0" bIns="0" rIns="0">
            <a:spAutoFit/>
          </a:bodyPr>
          <a:lstStyle/>
          <a:p>
            <a:pPr algn="ctr">
              <a:lnSpc>
                <a:spcPts val="2623"/>
              </a:lnSpc>
            </a:pPr>
            <a:r>
              <a:rPr lang="en-US" sz="1639">
                <a:solidFill>
                  <a:srgbClr val="000000"/>
                </a:solidFill>
                <a:latin typeface="Poppins"/>
                <a:ea typeface="Poppins"/>
                <a:cs typeface="Poppins"/>
                <a:sym typeface="Poppins"/>
              </a:rPr>
              <a:t>estimated to be obese in U.S. by 2050</a:t>
            </a:r>
          </a:p>
        </p:txBody>
      </p:sp>
      <p:grpSp>
        <p:nvGrpSpPr>
          <p:cNvPr name="Group 22" id="22"/>
          <p:cNvGrpSpPr/>
          <p:nvPr/>
        </p:nvGrpSpPr>
        <p:grpSpPr>
          <a:xfrm rot="0">
            <a:off x="0" y="9943513"/>
            <a:ext cx="4848665" cy="343487"/>
            <a:chOff x="0" y="0"/>
            <a:chExt cx="1277015" cy="90466"/>
          </a:xfrm>
        </p:grpSpPr>
        <p:sp>
          <p:nvSpPr>
            <p:cNvPr name="Freeform 23" id="23"/>
            <p:cNvSpPr/>
            <p:nvPr/>
          </p:nvSpPr>
          <p:spPr>
            <a:xfrm flipH="false" flipV="false" rot="0">
              <a:off x="0" y="0"/>
              <a:ext cx="1277015" cy="90466"/>
            </a:xfrm>
            <a:custGeom>
              <a:avLst/>
              <a:gdLst/>
              <a:ahLst/>
              <a:cxnLst/>
              <a:rect r="r" b="b" t="t" l="l"/>
              <a:pathLst>
                <a:path h="90466" w="1277015">
                  <a:moveTo>
                    <a:pt x="0" y="0"/>
                  </a:moveTo>
                  <a:lnTo>
                    <a:pt x="1277015" y="0"/>
                  </a:lnTo>
                  <a:lnTo>
                    <a:pt x="1277015" y="90466"/>
                  </a:lnTo>
                  <a:lnTo>
                    <a:pt x="0" y="90466"/>
                  </a:lnTo>
                  <a:close/>
                </a:path>
              </a:pathLst>
            </a:custGeom>
            <a:solidFill>
              <a:srgbClr val="4DE1C7"/>
            </a:solidFill>
          </p:spPr>
        </p:sp>
        <p:sp>
          <p:nvSpPr>
            <p:cNvPr name="TextBox 24" id="24"/>
            <p:cNvSpPr txBox="true"/>
            <p:nvPr/>
          </p:nvSpPr>
          <p:spPr>
            <a:xfrm>
              <a:off x="0" y="-57150"/>
              <a:ext cx="1277015" cy="147616"/>
            </a:xfrm>
            <a:prstGeom prst="rect">
              <a:avLst/>
            </a:prstGeom>
          </p:spPr>
          <p:txBody>
            <a:bodyPr anchor="ctr" rtlCol="false" tIns="50800" lIns="50800" bIns="50800" rIns="50800"/>
            <a:lstStyle/>
            <a:p>
              <a:pPr algn="ctr">
                <a:lnSpc>
                  <a:spcPts val="2659"/>
                </a:lnSpc>
              </a:pPr>
            </a:p>
          </p:txBody>
        </p:sp>
      </p:grpSp>
      <p:sp>
        <p:nvSpPr>
          <p:cNvPr name="Freeform 25" id="25"/>
          <p:cNvSpPr/>
          <p:nvPr/>
        </p:nvSpPr>
        <p:spPr>
          <a:xfrm flipH="false" flipV="false" rot="-1844135">
            <a:off x="7149567" y="7802979"/>
            <a:ext cx="13969695" cy="5395795"/>
          </a:xfrm>
          <a:custGeom>
            <a:avLst/>
            <a:gdLst/>
            <a:ahLst/>
            <a:cxnLst/>
            <a:rect r="r" b="b" t="t" l="l"/>
            <a:pathLst>
              <a:path h="5395795" w="13969695">
                <a:moveTo>
                  <a:pt x="0" y="0"/>
                </a:moveTo>
                <a:lnTo>
                  <a:pt x="13969695" y="0"/>
                </a:lnTo>
                <a:lnTo>
                  <a:pt x="13969695" y="5395794"/>
                </a:lnTo>
                <a:lnTo>
                  <a:pt x="0" y="539579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TextBox 26" id="26"/>
          <p:cNvSpPr txBox="true"/>
          <p:nvPr/>
        </p:nvSpPr>
        <p:spPr>
          <a:xfrm rot="0">
            <a:off x="8899663" y="2665122"/>
            <a:ext cx="1848758" cy="842149"/>
          </a:xfrm>
          <a:prstGeom prst="rect">
            <a:avLst/>
          </a:prstGeom>
        </p:spPr>
        <p:txBody>
          <a:bodyPr anchor="t" rtlCol="false" tIns="0" lIns="0" bIns="0" rIns="0">
            <a:spAutoFit/>
          </a:bodyPr>
          <a:lstStyle/>
          <a:p>
            <a:pPr algn="ctr">
              <a:lnSpc>
                <a:spcPts val="3375"/>
              </a:lnSpc>
            </a:pPr>
            <a:r>
              <a:rPr lang="en-US" sz="2109">
                <a:solidFill>
                  <a:srgbClr val="000000"/>
                </a:solidFill>
                <a:latin typeface="Poppins"/>
                <a:ea typeface="Poppins"/>
                <a:cs typeface="Poppins"/>
                <a:sym typeface="Poppins"/>
              </a:rPr>
              <a:t>prevalence of obesity</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5143500"/>
            <a:ext cx="6121614" cy="5143500"/>
            <a:chOff x="0" y="0"/>
            <a:chExt cx="1451049" cy="1219200"/>
          </a:xfrm>
        </p:grpSpPr>
        <p:sp>
          <p:nvSpPr>
            <p:cNvPr name="Freeform 3" id="3"/>
            <p:cNvSpPr/>
            <p:nvPr/>
          </p:nvSpPr>
          <p:spPr>
            <a:xfrm flipH="false" flipV="false" rot="0">
              <a:off x="0" y="0"/>
              <a:ext cx="1451049" cy="1219200"/>
            </a:xfrm>
            <a:custGeom>
              <a:avLst/>
              <a:gdLst/>
              <a:ahLst/>
              <a:cxnLst/>
              <a:rect r="r" b="b" t="t" l="l"/>
              <a:pathLst>
                <a:path h="1219200" w="1451049">
                  <a:moveTo>
                    <a:pt x="0" y="0"/>
                  </a:moveTo>
                  <a:lnTo>
                    <a:pt x="1451049" y="0"/>
                  </a:lnTo>
                  <a:lnTo>
                    <a:pt x="1451049" y="1219200"/>
                  </a:lnTo>
                  <a:lnTo>
                    <a:pt x="0" y="1219200"/>
                  </a:lnTo>
                  <a:close/>
                </a:path>
              </a:pathLst>
            </a:custGeom>
            <a:solidFill>
              <a:srgbClr val="071C42"/>
            </a:solidFill>
          </p:spPr>
        </p:sp>
        <p:sp>
          <p:nvSpPr>
            <p:cNvPr name="TextBox 4" id="4"/>
            <p:cNvSpPr txBox="true"/>
            <p:nvPr/>
          </p:nvSpPr>
          <p:spPr>
            <a:xfrm>
              <a:off x="0" y="-57150"/>
              <a:ext cx="1451049" cy="1276350"/>
            </a:xfrm>
            <a:prstGeom prst="rect">
              <a:avLst/>
            </a:prstGeom>
          </p:spPr>
          <p:txBody>
            <a:bodyPr anchor="ctr" rtlCol="false" tIns="50800" lIns="50800" bIns="50800" rIns="50800"/>
            <a:lstStyle/>
            <a:p>
              <a:pPr algn="ctr">
                <a:lnSpc>
                  <a:spcPts val="2659"/>
                </a:lnSpc>
                <a:spcBef>
                  <a:spcPct val="0"/>
                </a:spcBef>
              </a:pPr>
            </a:p>
          </p:txBody>
        </p:sp>
      </p:grpSp>
      <p:sp>
        <p:nvSpPr>
          <p:cNvPr name="Freeform 5" id="5"/>
          <p:cNvSpPr/>
          <p:nvPr/>
        </p:nvSpPr>
        <p:spPr>
          <a:xfrm flipH="false" flipV="false" rot="1558576">
            <a:off x="6646171" y="-1172108"/>
            <a:ext cx="16916074" cy="7083606"/>
          </a:xfrm>
          <a:custGeom>
            <a:avLst/>
            <a:gdLst/>
            <a:ahLst/>
            <a:cxnLst/>
            <a:rect r="r" b="b" t="t" l="l"/>
            <a:pathLst>
              <a:path h="7083606" w="16916074">
                <a:moveTo>
                  <a:pt x="0" y="0"/>
                </a:moveTo>
                <a:lnTo>
                  <a:pt x="16916074" y="0"/>
                </a:lnTo>
                <a:lnTo>
                  <a:pt x="16916074" y="7083606"/>
                </a:lnTo>
                <a:lnTo>
                  <a:pt x="0" y="7083606"/>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grpSp>
        <p:nvGrpSpPr>
          <p:cNvPr name="Group 6" id="6"/>
          <p:cNvGrpSpPr/>
          <p:nvPr/>
        </p:nvGrpSpPr>
        <p:grpSpPr>
          <a:xfrm rot="0">
            <a:off x="6121614" y="5143500"/>
            <a:ext cx="6044772" cy="5143500"/>
            <a:chOff x="0" y="0"/>
            <a:chExt cx="1432835" cy="1219200"/>
          </a:xfrm>
        </p:grpSpPr>
        <p:sp>
          <p:nvSpPr>
            <p:cNvPr name="Freeform 7" id="7"/>
            <p:cNvSpPr/>
            <p:nvPr/>
          </p:nvSpPr>
          <p:spPr>
            <a:xfrm flipH="false" flipV="false" rot="0">
              <a:off x="0" y="0"/>
              <a:ext cx="1432835" cy="1219200"/>
            </a:xfrm>
            <a:custGeom>
              <a:avLst/>
              <a:gdLst/>
              <a:ahLst/>
              <a:cxnLst/>
              <a:rect r="r" b="b" t="t" l="l"/>
              <a:pathLst>
                <a:path h="1219200" w="1432835">
                  <a:moveTo>
                    <a:pt x="0" y="0"/>
                  </a:moveTo>
                  <a:lnTo>
                    <a:pt x="1432835" y="0"/>
                  </a:lnTo>
                  <a:lnTo>
                    <a:pt x="1432835" y="1219200"/>
                  </a:lnTo>
                  <a:lnTo>
                    <a:pt x="0" y="1219200"/>
                  </a:lnTo>
                  <a:close/>
                </a:path>
              </a:pathLst>
            </a:custGeom>
            <a:solidFill>
              <a:srgbClr val="4DE1C7"/>
            </a:solidFill>
          </p:spPr>
        </p:sp>
        <p:sp>
          <p:nvSpPr>
            <p:cNvPr name="TextBox 8" id="8"/>
            <p:cNvSpPr txBox="true"/>
            <p:nvPr/>
          </p:nvSpPr>
          <p:spPr>
            <a:xfrm>
              <a:off x="0" y="-57150"/>
              <a:ext cx="1432835" cy="1276350"/>
            </a:xfrm>
            <a:prstGeom prst="rect">
              <a:avLst/>
            </a:prstGeom>
          </p:spPr>
          <p:txBody>
            <a:bodyPr anchor="ctr" rtlCol="false" tIns="50800" lIns="50800" bIns="50800" rIns="50800"/>
            <a:lstStyle/>
            <a:p>
              <a:pPr algn="ctr">
                <a:lnSpc>
                  <a:spcPts val="2659"/>
                </a:lnSpc>
                <a:spcBef>
                  <a:spcPct val="0"/>
                </a:spcBef>
              </a:pPr>
            </a:p>
          </p:txBody>
        </p:sp>
      </p:grpSp>
      <p:grpSp>
        <p:nvGrpSpPr>
          <p:cNvPr name="Group 9" id="9"/>
          <p:cNvGrpSpPr/>
          <p:nvPr/>
        </p:nvGrpSpPr>
        <p:grpSpPr>
          <a:xfrm rot="0">
            <a:off x="12166386" y="5143500"/>
            <a:ext cx="6121614" cy="5143500"/>
            <a:chOff x="0" y="0"/>
            <a:chExt cx="1451049" cy="1219200"/>
          </a:xfrm>
        </p:grpSpPr>
        <p:sp>
          <p:nvSpPr>
            <p:cNvPr name="Freeform 10" id="10"/>
            <p:cNvSpPr/>
            <p:nvPr/>
          </p:nvSpPr>
          <p:spPr>
            <a:xfrm flipH="false" flipV="false" rot="0">
              <a:off x="0" y="0"/>
              <a:ext cx="1451049" cy="1219200"/>
            </a:xfrm>
            <a:custGeom>
              <a:avLst/>
              <a:gdLst/>
              <a:ahLst/>
              <a:cxnLst/>
              <a:rect r="r" b="b" t="t" l="l"/>
              <a:pathLst>
                <a:path h="1219200" w="1451049">
                  <a:moveTo>
                    <a:pt x="0" y="0"/>
                  </a:moveTo>
                  <a:lnTo>
                    <a:pt x="1451049" y="0"/>
                  </a:lnTo>
                  <a:lnTo>
                    <a:pt x="1451049" y="1219200"/>
                  </a:lnTo>
                  <a:lnTo>
                    <a:pt x="0" y="1219200"/>
                  </a:lnTo>
                  <a:close/>
                </a:path>
              </a:pathLst>
            </a:custGeom>
            <a:solidFill>
              <a:srgbClr val="071C42"/>
            </a:solidFill>
          </p:spPr>
        </p:sp>
        <p:sp>
          <p:nvSpPr>
            <p:cNvPr name="TextBox 11" id="11"/>
            <p:cNvSpPr txBox="true"/>
            <p:nvPr/>
          </p:nvSpPr>
          <p:spPr>
            <a:xfrm>
              <a:off x="0" y="-57150"/>
              <a:ext cx="1451049" cy="1276350"/>
            </a:xfrm>
            <a:prstGeom prst="rect">
              <a:avLst/>
            </a:prstGeom>
          </p:spPr>
          <p:txBody>
            <a:bodyPr anchor="ctr" rtlCol="false" tIns="50800" lIns="50800" bIns="50800" rIns="50800"/>
            <a:lstStyle/>
            <a:p>
              <a:pPr algn="ctr">
                <a:lnSpc>
                  <a:spcPts val="2659"/>
                </a:lnSpc>
                <a:spcBef>
                  <a:spcPct val="0"/>
                </a:spcBef>
              </a:pPr>
            </a:p>
          </p:txBody>
        </p:sp>
      </p:grpSp>
      <p:sp>
        <p:nvSpPr>
          <p:cNvPr name="AutoShape 12" id="12"/>
          <p:cNvSpPr/>
          <p:nvPr/>
        </p:nvSpPr>
        <p:spPr>
          <a:xfrm rot="0">
            <a:off x="1028700" y="601417"/>
            <a:ext cx="16230600" cy="0"/>
          </a:xfrm>
          <a:prstGeom prst="line">
            <a:avLst/>
          </a:prstGeom>
          <a:ln cap="flat" w="19050">
            <a:solidFill>
              <a:srgbClr val="D9D9D9"/>
            </a:solidFill>
            <a:prstDash val="solid"/>
            <a:headEnd type="none" len="sm" w="sm"/>
            <a:tailEnd type="none" len="sm" w="sm"/>
          </a:ln>
        </p:spPr>
      </p:sp>
      <p:sp>
        <p:nvSpPr>
          <p:cNvPr name="TextBox 13" id="13"/>
          <p:cNvSpPr txBox="true"/>
          <p:nvPr/>
        </p:nvSpPr>
        <p:spPr>
          <a:xfrm rot="0">
            <a:off x="1221496" y="1456808"/>
            <a:ext cx="7510660" cy="1752600"/>
          </a:xfrm>
          <a:prstGeom prst="rect">
            <a:avLst/>
          </a:prstGeom>
        </p:spPr>
        <p:txBody>
          <a:bodyPr anchor="t" rtlCol="false" tIns="0" lIns="0" bIns="0" rIns="0">
            <a:spAutoFit/>
          </a:bodyPr>
          <a:lstStyle/>
          <a:p>
            <a:pPr algn="ctr">
              <a:lnSpc>
                <a:spcPts val="6719"/>
              </a:lnSpc>
            </a:pPr>
            <a:r>
              <a:rPr lang="en-US" sz="5599" b="true">
                <a:solidFill>
                  <a:srgbClr val="101010"/>
                </a:solidFill>
                <a:latin typeface="Poppins Bold"/>
                <a:ea typeface="Poppins Bold"/>
                <a:cs typeface="Poppins Bold"/>
                <a:sym typeface="Poppins Bold"/>
              </a:rPr>
              <a:t>Overall SMART Question</a:t>
            </a:r>
          </a:p>
        </p:txBody>
      </p:sp>
      <p:sp>
        <p:nvSpPr>
          <p:cNvPr name="TextBox 14" id="14"/>
          <p:cNvSpPr txBox="true"/>
          <p:nvPr/>
        </p:nvSpPr>
        <p:spPr>
          <a:xfrm rot="0">
            <a:off x="1221496" y="3955474"/>
            <a:ext cx="5814035" cy="356235"/>
          </a:xfrm>
          <a:prstGeom prst="rect">
            <a:avLst/>
          </a:prstGeom>
        </p:spPr>
        <p:txBody>
          <a:bodyPr anchor="t" rtlCol="false" tIns="0" lIns="0" bIns="0" rIns="0">
            <a:spAutoFit/>
          </a:bodyPr>
          <a:lstStyle/>
          <a:p>
            <a:pPr algn="l">
              <a:lnSpc>
                <a:spcPts val="2880"/>
              </a:lnSpc>
            </a:pPr>
            <a:r>
              <a:rPr lang="en-US" sz="1800">
                <a:solidFill>
                  <a:srgbClr val="545454"/>
                </a:solidFill>
                <a:latin typeface="Poppins"/>
                <a:ea typeface="Poppins"/>
                <a:cs typeface="Poppins"/>
                <a:sym typeface="Poppins"/>
              </a:rPr>
              <a:t>overall one</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071C42"/>
        </a:solidFill>
      </p:bgPr>
    </p:bg>
    <p:spTree>
      <p:nvGrpSpPr>
        <p:cNvPr id="1" name=""/>
        <p:cNvGrpSpPr/>
        <p:nvPr/>
      </p:nvGrpSpPr>
      <p:grpSpPr>
        <a:xfrm>
          <a:off x="0" y="0"/>
          <a:ext cx="0" cy="0"/>
          <a:chOff x="0" y="0"/>
          <a:chExt cx="0" cy="0"/>
        </a:xfrm>
      </p:grpSpPr>
      <p:grpSp>
        <p:nvGrpSpPr>
          <p:cNvPr name="Group 2" id="2"/>
          <p:cNvGrpSpPr/>
          <p:nvPr/>
        </p:nvGrpSpPr>
        <p:grpSpPr>
          <a:xfrm rot="0">
            <a:off x="8111545" y="1028700"/>
            <a:ext cx="9147755" cy="8229600"/>
            <a:chOff x="0" y="0"/>
            <a:chExt cx="2168357" cy="1950720"/>
          </a:xfrm>
        </p:grpSpPr>
        <p:sp>
          <p:nvSpPr>
            <p:cNvPr name="Freeform 3" id="3"/>
            <p:cNvSpPr/>
            <p:nvPr/>
          </p:nvSpPr>
          <p:spPr>
            <a:xfrm flipH="false" flipV="false" rot="0">
              <a:off x="0" y="0"/>
              <a:ext cx="2168357" cy="1950720"/>
            </a:xfrm>
            <a:custGeom>
              <a:avLst/>
              <a:gdLst/>
              <a:ahLst/>
              <a:cxnLst/>
              <a:rect r="r" b="b" t="t" l="l"/>
              <a:pathLst>
                <a:path h="1950720" w="2168357">
                  <a:moveTo>
                    <a:pt x="0" y="0"/>
                  </a:moveTo>
                  <a:lnTo>
                    <a:pt x="2168357" y="0"/>
                  </a:lnTo>
                  <a:lnTo>
                    <a:pt x="2168357" y="1950720"/>
                  </a:lnTo>
                  <a:lnTo>
                    <a:pt x="0" y="1950720"/>
                  </a:lnTo>
                  <a:close/>
                </a:path>
              </a:pathLst>
            </a:custGeom>
            <a:solidFill>
              <a:srgbClr val="FFFFFF"/>
            </a:solidFill>
          </p:spPr>
        </p:sp>
        <p:sp>
          <p:nvSpPr>
            <p:cNvPr name="TextBox 4" id="4"/>
            <p:cNvSpPr txBox="true"/>
            <p:nvPr/>
          </p:nvSpPr>
          <p:spPr>
            <a:xfrm>
              <a:off x="0" y="-57150"/>
              <a:ext cx="2168357" cy="2007870"/>
            </a:xfrm>
            <a:prstGeom prst="rect">
              <a:avLst/>
            </a:prstGeom>
          </p:spPr>
          <p:txBody>
            <a:bodyPr anchor="ctr" rtlCol="false" tIns="50800" lIns="50800" bIns="50800" rIns="50800"/>
            <a:lstStyle/>
            <a:p>
              <a:pPr algn="ctr">
                <a:lnSpc>
                  <a:spcPts val="2659"/>
                </a:lnSpc>
                <a:spcBef>
                  <a:spcPct val="0"/>
                </a:spcBef>
              </a:pPr>
            </a:p>
          </p:txBody>
        </p:sp>
      </p:grpSp>
      <p:pic>
        <p:nvPicPr>
          <p:cNvPr name="Picture 5" id="5"/>
          <p:cNvPicPr>
            <a:picLocks noChangeAspect="true"/>
          </p:cNvPicPr>
          <p:nvPr/>
        </p:nvPicPr>
        <p:blipFill>
          <a:blip r:embed="rId2"/>
          <a:stretch>
            <a:fillRect/>
          </a:stretch>
        </p:blipFill>
        <p:spPr>
          <a:xfrm rot="0">
            <a:off x="7975157" y="763050"/>
            <a:ext cx="9386064" cy="8760899"/>
          </a:xfrm>
          <a:prstGeom prst="rect">
            <a:avLst/>
          </a:prstGeom>
        </p:spPr>
      </p:pic>
      <p:sp>
        <p:nvSpPr>
          <p:cNvPr name="TextBox 6" id="6"/>
          <p:cNvSpPr txBox="true"/>
          <p:nvPr/>
        </p:nvSpPr>
        <p:spPr>
          <a:xfrm rot="0">
            <a:off x="1712082" y="1545749"/>
            <a:ext cx="3627020" cy="904875"/>
          </a:xfrm>
          <a:prstGeom prst="rect">
            <a:avLst/>
          </a:prstGeom>
        </p:spPr>
        <p:txBody>
          <a:bodyPr anchor="t" rtlCol="false" tIns="0" lIns="0" bIns="0" rIns="0">
            <a:spAutoFit/>
          </a:bodyPr>
          <a:lstStyle/>
          <a:p>
            <a:pPr algn="l">
              <a:lnSpc>
                <a:spcPts val="6719"/>
              </a:lnSpc>
            </a:pPr>
            <a:r>
              <a:rPr lang="en-US" sz="5599" b="true">
                <a:solidFill>
                  <a:srgbClr val="FFFFFF"/>
                </a:solidFill>
                <a:latin typeface="Poppins Bold"/>
                <a:ea typeface="Poppins Bold"/>
                <a:cs typeface="Poppins Bold"/>
                <a:sym typeface="Poppins Bold"/>
              </a:rPr>
              <a:t>Coding </a:t>
            </a:r>
          </a:p>
        </p:txBody>
      </p:sp>
      <p:sp>
        <p:nvSpPr>
          <p:cNvPr name="TextBox 7" id="7"/>
          <p:cNvSpPr txBox="true"/>
          <p:nvPr/>
        </p:nvSpPr>
        <p:spPr>
          <a:xfrm rot="0">
            <a:off x="1712082" y="2796460"/>
            <a:ext cx="4643986" cy="356235"/>
          </a:xfrm>
          <a:prstGeom prst="rect">
            <a:avLst/>
          </a:prstGeom>
        </p:spPr>
        <p:txBody>
          <a:bodyPr anchor="t" rtlCol="false" tIns="0" lIns="0" bIns="0" rIns="0">
            <a:spAutoFit/>
          </a:bodyPr>
          <a:lstStyle/>
          <a:p>
            <a:pPr algn="l">
              <a:lnSpc>
                <a:spcPts val="2880"/>
              </a:lnSpc>
            </a:pPr>
            <a:r>
              <a:rPr lang="en-US" sz="1800">
                <a:solidFill>
                  <a:srgbClr val="D9D9D9"/>
                </a:solidFill>
                <a:latin typeface="Poppins"/>
                <a:ea typeface="Poppins"/>
                <a:cs typeface="Poppins"/>
                <a:sym typeface="Poppins"/>
              </a:rPr>
              <a:t>general summary of what we did</a:t>
            </a:r>
          </a:p>
        </p:txBody>
      </p:sp>
      <p:sp>
        <p:nvSpPr>
          <p:cNvPr name="AutoShape 8" id="8"/>
          <p:cNvSpPr/>
          <p:nvPr/>
        </p:nvSpPr>
        <p:spPr>
          <a:xfrm rot="0">
            <a:off x="1028700" y="601417"/>
            <a:ext cx="16230600" cy="0"/>
          </a:xfrm>
          <a:prstGeom prst="line">
            <a:avLst/>
          </a:prstGeom>
          <a:ln cap="flat" w="19050">
            <a:solidFill>
              <a:srgbClr val="D9D9D9"/>
            </a:solidFill>
            <a:prstDash val="solid"/>
            <a:headEnd type="none" len="sm" w="sm"/>
            <a:tailEnd type="none" len="sm" w="sm"/>
          </a:ln>
        </p:spPr>
      </p:sp>
      <p:grpSp>
        <p:nvGrpSpPr>
          <p:cNvPr name="Group 9" id="9"/>
          <p:cNvGrpSpPr/>
          <p:nvPr/>
        </p:nvGrpSpPr>
        <p:grpSpPr>
          <a:xfrm rot="5400000">
            <a:off x="-1947529" y="1947529"/>
            <a:ext cx="4238545" cy="343487"/>
            <a:chOff x="0" y="0"/>
            <a:chExt cx="1116325" cy="90466"/>
          </a:xfrm>
        </p:grpSpPr>
        <p:sp>
          <p:nvSpPr>
            <p:cNvPr name="Freeform 10" id="10"/>
            <p:cNvSpPr/>
            <p:nvPr/>
          </p:nvSpPr>
          <p:spPr>
            <a:xfrm flipH="false" flipV="false" rot="0">
              <a:off x="0" y="0"/>
              <a:ext cx="1116324" cy="90466"/>
            </a:xfrm>
            <a:custGeom>
              <a:avLst/>
              <a:gdLst/>
              <a:ahLst/>
              <a:cxnLst/>
              <a:rect r="r" b="b" t="t" l="l"/>
              <a:pathLst>
                <a:path h="90466" w="1116324">
                  <a:moveTo>
                    <a:pt x="0" y="0"/>
                  </a:moveTo>
                  <a:lnTo>
                    <a:pt x="1116324" y="0"/>
                  </a:lnTo>
                  <a:lnTo>
                    <a:pt x="1116324" y="90466"/>
                  </a:lnTo>
                  <a:lnTo>
                    <a:pt x="0" y="90466"/>
                  </a:lnTo>
                  <a:close/>
                </a:path>
              </a:pathLst>
            </a:custGeom>
            <a:solidFill>
              <a:srgbClr val="4DE1C7"/>
            </a:solidFill>
          </p:spPr>
        </p:sp>
        <p:sp>
          <p:nvSpPr>
            <p:cNvPr name="TextBox 11" id="11"/>
            <p:cNvSpPr txBox="true"/>
            <p:nvPr/>
          </p:nvSpPr>
          <p:spPr>
            <a:xfrm>
              <a:off x="0" y="-57150"/>
              <a:ext cx="1116325" cy="147616"/>
            </a:xfrm>
            <a:prstGeom prst="rect">
              <a:avLst/>
            </a:prstGeom>
          </p:spPr>
          <p:txBody>
            <a:bodyPr anchor="ctr" rtlCol="false" tIns="50800" lIns="50800" bIns="50800" rIns="50800"/>
            <a:lstStyle/>
            <a:p>
              <a:pPr algn="ctr">
                <a:lnSpc>
                  <a:spcPts val="2659"/>
                </a:lnSpc>
              </a:pPr>
            </a:p>
          </p:txBody>
        </p:sp>
      </p:grpSp>
      <p:sp>
        <p:nvSpPr>
          <p:cNvPr name="Freeform 12" id="12"/>
          <p:cNvSpPr/>
          <p:nvPr/>
        </p:nvSpPr>
        <p:spPr>
          <a:xfrm flipH="false" flipV="false" rot="2089252">
            <a:off x="-6984847" y="4534055"/>
            <a:ext cx="13969695" cy="5395795"/>
          </a:xfrm>
          <a:custGeom>
            <a:avLst/>
            <a:gdLst/>
            <a:ahLst/>
            <a:cxnLst/>
            <a:rect r="r" b="b" t="t" l="l"/>
            <a:pathLst>
              <a:path h="5395795" w="13969695">
                <a:moveTo>
                  <a:pt x="0" y="0"/>
                </a:moveTo>
                <a:lnTo>
                  <a:pt x="13969694" y="0"/>
                </a:lnTo>
                <a:lnTo>
                  <a:pt x="13969694" y="5395794"/>
                </a:lnTo>
                <a:lnTo>
                  <a:pt x="0" y="539579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7154584" y="0"/>
            <a:ext cx="11133416" cy="3429000"/>
            <a:chOff x="0" y="0"/>
            <a:chExt cx="2639032" cy="812800"/>
          </a:xfrm>
        </p:grpSpPr>
        <p:sp>
          <p:nvSpPr>
            <p:cNvPr name="Freeform 3" id="3"/>
            <p:cNvSpPr/>
            <p:nvPr/>
          </p:nvSpPr>
          <p:spPr>
            <a:xfrm flipH="false" flipV="false" rot="0">
              <a:off x="0" y="0"/>
              <a:ext cx="2639032" cy="812800"/>
            </a:xfrm>
            <a:custGeom>
              <a:avLst/>
              <a:gdLst/>
              <a:ahLst/>
              <a:cxnLst/>
              <a:rect r="r" b="b" t="t" l="l"/>
              <a:pathLst>
                <a:path h="812800" w="2639032">
                  <a:moveTo>
                    <a:pt x="0" y="0"/>
                  </a:moveTo>
                  <a:lnTo>
                    <a:pt x="2639032" y="0"/>
                  </a:lnTo>
                  <a:lnTo>
                    <a:pt x="2639032" y="812800"/>
                  </a:lnTo>
                  <a:lnTo>
                    <a:pt x="0" y="812800"/>
                  </a:lnTo>
                  <a:close/>
                </a:path>
              </a:pathLst>
            </a:custGeom>
            <a:solidFill>
              <a:srgbClr val="071C42"/>
            </a:solidFill>
          </p:spPr>
        </p:sp>
        <p:sp>
          <p:nvSpPr>
            <p:cNvPr name="TextBox 4" id="4"/>
            <p:cNvSpPr txBox="true"/>
            <p:nvPr/>
          </p:nvSpPr>
          <p:spPr>
            <a:xfrm>
              <a:off x="0" y="-57150"/>
              <a:ext cx="2639032" cy="869950"/>
            </a:xfrm>
            <a:prstGeom prst="rect">
              <a:avLst/>
            </a:prstGeom>
          </p:spPr>
          <p:txBody>
            <a:bodyPr anchor="ctr" rtlCol="false" tIns="50800" lIns="50800" bIns="50800" rIns="50800"/>
            <a:lstStyle/>
            <a:p>
              <a:pPr algn="ctr">
                <a:lnSpc>
                  <a:spcPts val="2659"/>
                </a:lnSpc>
                <a:spcBef>
                  <a:spcPct val="0"/>
                </a:spcBef>
              </a:pPr>
            </a:p>
          </p:txBody>
        </p:sp>
      </p:grpSp>
      <p:grpSp>
        <p:nvGrpSpPr>
          <p:cNvPr name="Group 5" id="5"/>
          <p:cNvGrpSpPr/>
          <p:nvPr/>
        </p:nvGrpSpPr>
        <p:grpSpPr>
          <a:xfrm rot="0">
            <a:off x="8437354" y="3429000"/>
            <a:ext cx="9850646" cy="3429000"/>
            <a:chOff x="0" y="0"/>
            <a:chExt cx="2334968" cy="812800"/>
          </a:xfrm>
        </p:grpSpPr>
        <p:sp>
          <p:nvSpPr>
            <p:cNvPr name="Freeform 6" id="6"/>
            <p:cNvSpPr/>
            <p:nvPr/>
          </p:nvSpPr>
          <p:spPr>
            <a:xfrm flipH="false" flipV="false" rot="0">
              <a:off x="0" y="0"/>
              <a:ext cx="2334968" cy="812800"/>
            </a:xfrm>
            <a:custGeom>
              <a:avLst/>
              <a:gdLst/>
              <a:ahLst/>
              <a:cxnLst/>
              <a:rect r="r" b="b" t="t" l="l"/>
              <a:pathLst>
                <a:path h="812800" w="2334968">
                  <a:moveTo>
                    <a:pt x="0" y="0"/>
                  </a:moveTo>
                  <a:lnTo>
                    <a:pt x="2334968" y="0"/>
                  </a:lnTo>
                  <a:lnTo>
                    <a:pt x="2334968" y="812800"/>
                  </a:lnTo>
                  <a:lnTo>
                    <a:pt x="0" y="812800"/>
                  </a:lnTo>
                  <a:close/>
                </a:path>
              </a:pathLst>
            </a:custGeom>
            <a:solidFill>
              <a:srgbClr val="4DE1C7"/>
            </a:solidFill>
          </p:spPr>
        </p:sp>
        <p:sp>
          <p:nvSpPr>
            <p:cNvPr name="TextBox 7" id="7"/>
            <p:cNvSpPr txBox="true"/>
            <p:nvPr/>
          </p:nvSpPr>
          <p:spPr>
            <a:xfrm>
              <a:off x="0" y="-57150"/>
              <a:ext cx="2334968" cy="869950"/>
            </a:xfrm>
            <a:prstGeom prst="rect">
              <a:avLst/>
            </a:prstGeom>
          </p:spPr>
          <p:txBody>
            <a:bodyPr anchor="ctr" rtlCol="false" tIns="50800" lIns="50800" bIns="50800" rIns="50800"/>
            <a:lstStyle/>
            <a:p>
              <a:pPr algn="ctr">
                <a:lnSpc>
                  <a:spcPts val="2659"/>
                </a:lnSpc>
                <a:spcBef>
                  <a:spcPct val="0"/>
                </a:spcBef>
              </a:pPr>
            </a:p>
          </p:txBody>
        </p:sp>
      </p:grpSp>
      <p:grpSp>
        <p:nvGrpSpPr>
          <p:cNvPr name="Group 8" id="8"/>
          <p:cNvGrpSpPr/>
          <p:nvPr/>
        </p:nvGrpSpPr>
        <p:grpSpPr>
          <a:xfrm rot="0">
            <a:off x="9924636" y="6858000"/>
            <a:ext cx="8363364" cy="3429000"/>
            <a:chOff x="0" y="0"/>
            <a:chExt cx="1982427" cy="812800"/>
          </a:xfrm>
        </p:grpSpPr>
        <p:sp>
          <p:nvSpPr>
            <p:cNvPr name="Freeform 9" id="9"/>
            <p:cNvSpPr/>
            <p:nvPr/>
          </p:nvSpPr>
          <p:spPr>
            <a:xfrm flipH="false" flipV="false" rot="0">
              <a:off x="0" y="0"/>
              <a:ext cx="1982427" cy="812800"/>
            </a:xfrm>
            <a:custGeom>
              <a:avLst/>
              <a:gdLst/>
              <a:ahLst/>
              <a:cxnLst/>
              <a:rect r="r" b="b" t="t" l="l"/>
              <a:pathLst>
                <a:path h="812800" w="1982427">
                  <a:moveTo>
                    <a:pt x="0" y="0"/>
                  </a:moveTo>
                  <a:lnTo>
                    <a:pt x="1982427" y="0"/>
                  </a:lnTo>
                  <a:lnTo>
                    <a:pt x="1982427" y="812800"/>
                  </a:lnTo>
                  <a:lnTo>
                    <a:pt x="0" y="812800"/>
                  </a:lnTo>
                  <a:close/>
                </a:path>
              </a:pathLst>
            </a:custGeom>
            <a:solidFill>
              <a:srgbClr val="071C42"/>
            </a:solidFill>
          </p:spPr>
        </p:sp>
        <p:sp>
          <p:nvSpPr>
            <p:cNvPr name="TextBox 10" id="10"/>
            <p:cNvSpPr txBox="true"/>
            <p:nvPr/>
          </p:nvSpPr>
          <p:spPr>
            <a:xfrm>
              <a:off x="0" y="-57150"/>
              <a:ext cx="1982427" cy="869950"/>
            </a:xfrm>
            <a:prstGeom prst="rect">
              <a:avLst/>
            </a:prstGeom>
          </p:spPr>
          <p:txBody>
            <a:bodyPr anchor="ctr" rtlCol="false" tIns="50800" lIns="50800" bIns="50800" rIns="50800"/>
            <a:lstStyle/>
            <a:p>
              <a:pPr algn="ctr">
                <a:lnSpc>
                  <a:spcPts val="2659"/>
                </a:lnSpc>
                <a:spcBef>
                  <a:spcPct val="0"/>
                </a:spcBef>
              </a:pPr>
            </a:p>
          </p:txBody>
        </p:sp>
      </p:grpSp>
      <p:sp>
        <p:nvSpPr>
          <p:cNvPr name="Freeform 11" id="11"/>
          <p:cNvSpPr/>
          <p:nvPr/>
        </p:nvSpPr>
        <p:spPr>
          <a:xfrm flipH="false" flipV="false" rot="-2071567">
            <a:off x="-5831204" y="-306994"/>
            <a:ext cx="13969695" cy="5395795"/>
          </a:xfrm>
          <a:custGeom>
            <a:avLst/>
            <a:gdLst/>
            <a:ahLst/>
            <a:cxnLst/>
            <a:rect r="r" b="b" t="t" l="l"/>
            <a:pathLst>
              <a:path h="5395795" w="13969695">
                <a:moveTo>
                  <a:pt x="0" y="0"/>
                </a:moveTo>
                <a:lnTo>
                  <a:pt x="13969695" y="0"/>
                </a:lnTo>
                <a:lnTo>
                  <a:pt x="13969695" y="5395794"/>
                </a:lnTo>
                <a:lnTo>
                  <a:pt x="0" y="539579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TextBox 12" id="12"/>
          <p:cNvSpPr txBox="true"/>
          <p:nvPr/>
        </p:nvSpPr>
        <p:spPr>
          <a:xfrm rot="0">
            <a:off x="8437354" y="476276"/>
            <a:ext cx="5969920" cy="424815"/>
          </a:xfrm>
          <a:prstGeom prst="rect">
            <a:avLst/>
          </a:prstGeom>
        </p:spPr>
        <p:txBody>
          <a:bodyPr anchor="t" rtlCol="false" tIns="0" lIns="0" bIns="0" rIns="0">
            <a:spAutoFit/>
          </a:bodyPr>
          <a:lstStyle/>
          <a:p>
            <a:pPr algn="l">
              <a:lnSpc>
                <a:spcPts val="3360"/>
              </a:lnSpc>
            </a:pPr>
            <a:r>
              <a:rPr lang="en-US" sz="2400" b="true">
                <a:solidFill>
                  <a:srgbClr val="FFFFFF"/>
                </a:solidFill>
                <a:latin typeface="Poppins Bold"/>
                <a:ea typeface="Poppins Bold"/>
                <a:cs typeface="Poppins Bold"/>
                <a:sym typeface="Poppins Bold"/>
              </a:rPr>
              <a:t>Demographic Analysis</a:t>
            </a:r>
          </a:p>
        </p:txBody>
      </p:sp>
      <p:sp>
        <p:nvSpPr>
          <p:cNvPr name="TextBox 13" id="13"/>
          <p:cNvSpPr txBox="true"/>
          <p:nvPr/>
        </p:nvSpPr>
        <p:spPr>
          <a:xfrm rot="0">
            <a:off x="8437354" y="1082014"/>
            <a:ext cx="6409167" cy="1804035"/>
          </a:xfrm>
          <a:prstGeom prst="rect">
            <a:avLst/>
          </a:prstGeom>
        </p:spPr>
        <p:txBody>
          <a:bodyPr anchor="t" rtlCol="false" tIns="0" lIns="0" bIns="0" rIns="0">
            <a:spAutoFit/>
          </a:bodyPr>
          <a:lstStyle/>
          <a:p>
            <a:pPr algn="l">
              <a:lnSpc>
                <a:spcPts val="2880"/>
              </a:lnSpc>
            </a:pPr>
            <a:r>
              <a:rPr lang="en-US" sz="1800">
                <a:solidFill>
                  <a:srgbClr val="EEF2F5"/>
                </a:solidFill>
                <a:latin typeface="Poppins"/>
                <a:ea typeface="Poppins"/>
                <a:cs typeface="Poppins"/>
                <a:sym typeface="Poppins"/>
              </a:rPr>
              <a:t>In the presentation session, the background can be filled with information that is arranged systematically and effectively concerning an interesting topic to be used as material for discussion at the opening of the presentation session. </a:t>
            </a:r>
          </a:p>
        </p:txBody>
      </p:sp>
      <p:sp>
        <p:nvSpPr>
          <p:cNvPr name="TextBox 14" id="14"/>
          <p:cNvSpPr txBox="true"/>
          <p:nvPr/>
        </p:nvSpPr>
        <p:spPr>
          <a:xfrm rot="0">
            <a:off x="9924636" y="3905276"/>
            <a:ext cx="5969920" cy="424815"/>
          </a:xfrm>
          <a:prstGeom prst="rect">
            <a:avLst/>
          </a:prstGeom>
        </p:spPr>
        <p:txBody>
          <a:bodyPr anchor="t" rtlCol="false" tIns="0" lIns="0" bIns="0" rIns="0">
            <a:spAutoFit/>
          </a:bodyPr>
          <a:lstStyle/>
          <a:p>
            <a:pPr algn="l">
              <a:lnSpc>
                <a:spcPts val="3360"/>
              </a:lnSpc>
            </a:pPr>
            <a:r>
              <a:rPr lang="en-US" sz="2400" b="true">
                <a:solidFill>
                  <a:srgbClr val="000000"/>
                </a:solidFill>
                <a:latin typeface="Poppins Bold"/>
                <a:ea typeface="Poppins Bold"/>
                <a:cs typeface="Poppins Bold"/>
                <a:sym typeface="Poppins Bold"/>
              </a:rPr>
              <a:t>Performance Metrics</a:t>
            </a:r>
          </a:p>
        </p:txBody>
      </p:sp>
      <p:sp>
        <p:nvSpPr>
          <p:cNvPr name="TextBox 15" id="15"/>
          <p:cNvSpPr txBox="true"/>
          <p:nvPr/>
        </p:nvSpPr>
        <p:spPr>
          <a:xfrm rot="0">
            <a:off x="9924636" y="4511014"/>
            <a:ext cx="6409167" cy="1804035"/>
          </a:xfrm>
          <a:prstGeom prst="rect">
            <a:avLst/>
          </a:prstGeom>
        </p:spPr>
        <p:txBody>
          <a:bodyPr anchor="t" rtlCol="false" tIns="0" lIns="0" bIns="0" rIns="0">
            <a:spAutoFit/>
          </a:bodyPr>
          <a:lstStyle/>
          <a:p>
            <a:pPr algn="l">
              <a:lnSpc>
                <a:spcPts val="2880"/>
              </a:lnSpc>
            </a:pPr>
            <a:r>
              <a:rPr lang="en-US" sz="1800">
                <a:solidFill>
                  <a:srgbClr val="000000"/>
                </a:solidFill>
                <a:latin typeface="Poppins"/>
                <a:ea typeface="Poppins"/>
                <a:cs typeface="Poppins"/>
                <a:sym typeface="Poppins"/>
              </a:rPr>
              <a:t>In the presentation session, the background can be filled with information that is arranged systematically and effectively concerning an interesting topic to be used as material for discussion at the opening of the presentation session. </a:t>
            </a:r>
          </a:p>
        </p:txBody>
      </p:sp>
      <p:sp>
        <p:nvSpPr>
          <p:cNvPr name="TextBox 16" id="16"/>
          <p:cNvSpPr txBox="true"/>
          <p:nvPr/>
        </p:nvSpPr>
        <p:spPr>
          <a:xfrm rot="0">
            <a:off x="10901735" y="7334276"/>
            <a:ext cx="5969920" cy="424815"/>
          </a:xfrm>
          <a:prstGeom prst="rect">
            <a:avLst/>
          </a:prstGeom>
        </p:spPr>
        <p:txBody>
          <a:bodyPr anchor="t" rtlCol="false" tIns="0" lIns="0" bIns="0" rIns="0">
            <a:spAutoFit/>
          </a:bodyPr>
          <a:lstStyle/>
          <a:p>
            <a:pPr algn="l">
              <a:lnSpc>
                <a:spcPts val="3360"/>
              </a:lnSpc>
            </a:pPr>
            <a:r>
              <a:rPr lang="en-US" sz="2400" b="true">
                <a:solidFill>
                  <a:srgbClr val="FFFFFF"/>
                </a:solidFill>
                <a:latin typeface="Poppins Bold"/>
                <a:ea typeface="Poppins Bold"/>
                <a:cs typeface="Poppins Bold"/>
                <a:sym typeface="Poppins Bold"/>
              </a:rPr>
              <a:t>Workout Patterns</a:t>
            </a:r>
          </a:p>
        </p:txBody>
      </p:sp>
      <p:sp>
        <p:nvSpPr>
          <p:cNvPr name="TextBox 17" id="17"/>
          <p:cNvSpPr txBox="true"/>
          <p:nvPr/>
        </p:nvSpPr>
        <p:spPr>
          <a:xfrm rot="0">
            <a:off x="10901735" y="7940014"/>
            <a:ext cx="6409167" cy="1804035"/>
          </a:xfrm>
          <a:prstGeom prst="rect">
            <a:avLst/>
          </a:prstGeom>
        </p:spPr>
        <p:txBody>
          <a:bodyPr anchor="t" rtlCol="false" tIns="0" lIns="0" bIns="0" rIns="0">
            <a:spAutoFit/>
          </a:bodyPr>
          <a:lstStyle/>
          <a:p>
            <a:pPr algn="l">
              <a:lnSpc>
                <a:spcPts val="2880"/>
              </a:lnSpc>
            </a:pPr>
            <a:r>
              <a:rPr lang="en-US" sz="1800">
                <a:solidFill>
                  <a:srgbClr val="EEF2F5"/>
                </a:solidFill>
                <a:latin typeface="Poppins"/>
                <a:ea typeface="Poppins"/>
                <a:cs typeface="Poppins"/>
                <a:sym typeface="Poppins"/>
              </a:rPr>
              <a:t>In the presentation session, the background can be filled with information that is arranged systematically and effectively concerning an interesting topic to be used as material for discussion at the opening of the presentation session. </a:t>
            </a:r>
          </a:p>
        </p:txBody>
      </p:sp>
      <p:sp>
        <p:nvSpPr>
          <p:cNvPr name="TextBox 18" id="18"/>
          <p:cNvSpPr txBox="true"/>
          <p:nvPr/>
        </p:nvSpPr>
        <p:spPr>
          <a:xfrm rot="0">
            <a:off x="1221496" y="5774042"/>
            <a:ext cx="4643986" cy="904875"/>
          </a:xfrm>
          <a:prstGeom prst="rect">
            <a:avLst/>
          </a:prstGeom>
        </p:spPr>
        <p:txBody>
          <a:bodyPr anchor="t" rtlCol="false" tIns="0" lIns="0" bIns="0" rIns="0">
            <a:spAutoFit/>
          </a:bodyPr>
          <a:lstStyle/>
          <a:p>
            <a:pPr algn="l">
              <a:lnSpc>
                <a:spcPts val="6719"/>
              </a:lnSpc>
            </a:pPr>
            <a:r>
              <a:rPr lang="en-US" sz="5599" b="true">
                <a:solidFill>
                  <a:srgbClr val="101010"/>
                </a:solidFill>
                <a:latin typeface="Poppins Bold"/>
                <a:ea typeface="Poppins Bold"/>
                <a:cs typeface="Poppins Bold"/>
                <a:sym typeface="Poppins Bold"/>
              </a:rPr>
              <a:t>EDA </a:t>
            </a:r>
          </a:p>
        </p:txBody>
      </p:sp>
      <p:sp>
        <p:nvSpPr>
          <p:cNvPr name="TextBox 19" id="19"/>
          <p:cNvSpPr txBox="true"/>
          <p:nvPr/>
        </p:nvSpPr>
        <p:spPr>
          <a:xfrm rot="0">
            <a:off x="1221496" y="7816215"/>
            <a:ext cx="4643986" cy="1442085"/>
          </a:xfrm>
          <a:prstGeom prst="rect">
            <a:avLst/>
          </a:prstGeom>
        </p:spPr>
        <p:txBody>
          <a:bodyPr anchor="t" rtlCol="false" tIns="0" lIns="0" bIns="0" rIns="0">
            <a:spAutoFit/>
          </a:bodyPr>
          <a:lstStyle/>
          <a:p>
            <a:pPr algn="l">
              <a:lnSpc>
                <a:spcPts val="2880"/>
              </a:lnSpc>
            </a:pPr>
            <a:r>
              <a:rPr lang="en-US" sz="1800">
                <a:solidFill>
                  <a:srgbClr val="545454"/>
                </a:solidFill>
                <a:latin typeface="Poppins"/>
                <a:ea typeface="Poppins"/>
                <a:cs typeface="Poppins"/>
                <a:sym typeface="Poppins"/>
              </a:rPr>
              <a:t>Presentations are communication tools that can be used as lectures, speeches, reports, and more. It all depends on the purpose of your presentation.</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4544475"/>
            <a:chOff x="0" y="0"/>
            <a:chExt cx="4816593" cy="1196899"/>
          </a:xfrm>
        </p:grpSpPr>
        <p:sp>
          <p:nvSpPr>
            <p:cNvPr name="Freeform 3" id="3"/>
            <p:cNvSpPr/>
            <p:nvPr/>
          </p:nvSpPr>
          <p:spPr>
            <a:xfrm flipH="false" flipV="false" rot="0">
              <a:off x="0" y="0"/>
              <a:ext cx="4816592" cy="1196899"/>
            </a:xfrm>
            <a:custGeom>
              <a:avLst/>
              <a:gdLst/>
              <a:ahLst/>
              <a:cxnLst/>
              <a:rect r="r" b="b" t="t" l="l"/>
              <a:pathLst>
                <a:path h="1196899" w="4816592">
                  <a:moveTo>
                    <a:pt x="0" y="0"/>
                  </a:moveTo>
                  <a:lnTo>
                    <a:pt x="4816592" y="0"/>
                  </a:lnTo>
                  <a:lnTo>
                    <a:pt x="4816592" y="1196899"/>
                  </a:lnTo>
                  <a:lnTo>
                    <a:pt x="0" y="1196899"/>
                  </a:lnTo>
                  <a:close/>
                </a:path>
              </a:pathLst>
            </a:custGeom>
            <a:solidFill>
              <a:srgbClr val="071C42"/>
            </a:solidFill>
          </p:spPr>
        </p:sp>
        <p:sp>
          <p:nvSpPr>
            <p:cNvPr name="TextBox 4" id="4"/>
            <p:cNvSpPr txBox="true"/>
            <p:nvPr/>
          </p:nvSpPr>
          <p:spPr>
            <a:xfrm>
              <a:off x="0" y="-57150"/>
              <a:ext cx="4816593" cy="1254049"/>
            </a:xfrm>
            <a:prstGeom prst="rect">
              <a:avLst/>
            </a:prstGeom>
          </p:spPr>
          <p:txBody>
            <a:bodyPr anchor="ctr" rtlCol="false" tIns="50800" lIns="50800" bIns="50800" rIns="50800"/>
            <a:lstStyle/>
            <a:p>
              <a:pPr algn="ctr">
                <a:lnSpc>
                  <a:spcPts val="2659"/>
                </a:lnSpc>
                <a:spcBef>
                  <a:spcPct val="0"/>
                </a:spcBef>
              </a:pPr>
            </a:p>
          </p:txBody>
        </p:sp>
      </p:grpSp>
      <p:sp>
        <p:nvSpPr>
          <p:cNvPr name="AutoShape 5" id="5"/>
          <p:cNvSpPr/>
          <p:nvPr/>
        </p:nvSpPr>
        <p:spPr>
          <a:xfrm rot="0">
            <a:off x="1028700" y="601417"/>
            <a:ext cx="16230600" cy="0"/>
          </a:xfrm>
          <a:prstGeom prst="line">
            <a:avLst/>
          </a:prstGeom>
          <a:ln cap="flat" w="19050">
            <a:solidFill>
              <a:srgbClr val="D9D9D9"/>
            </a:solidFill>
            <a:prstDash val="solid"/>
            <a:headEnd type="none" len="sm" w="sm"/>
            <a:tailEnd type="none" len="sm" w="sm"/>
          </a:ln>
        </p:spPr>
      </p:sp>
      <p:grpSp>
        <p:nvGrpSpPr>
          <p:cNvPr name="Group 6" id="6"/>
          <p:cNvGrpSpPr/>
          <p:nvPr/>
        </p:nvGrpSpPr>
        <p:grpSpPr>
          <a:xfrm rot="0">
            <a:off x="0" y="4200988"/>
            <a:ext cx="9144000" cy="343487"/>
            <a:chOff x="0" y="0"/>
            <a:chExt cx="2408296" cy="90466"/>
          </a:xfrm>
        </p:grpSpPr>
        <p:sp>
          <p:nvSpPr>
            <p:cNvPr name="Freeform 7" id="7"/>
            <p:cNvSpPr/>
            <p:nvPr/>
          </p:nvSpPr>
          <p:spPr>
            <a:xfrm flipH="false" flipV="false" rot="0">
              <a:off x="0" y="0"/>
              <a:ext cx="2408296" cy="90466"/>
            </a:xfrm>
            <a:custGeom>
              <a:avLst/>
              <a:gdLst/>
              <a:ahLst/>
              <a:cxnLst/>
              <a:rect r="r" b="b" t="t" l="l"/>
              <a:pathLst>
                <a:path h="90466" w="2408296">
                  <a:moveTo>
                    <a:pt x="0" y="0"/>
                  </a:moveTo>
                  <a:lnTo>
                    <a:pt x="2408296" y="0"/>
                  </a:lnTo>
                  <a:lnTo>
                    <a:pt x="2408296" y="90466"/>
                  </a:lnTo>
                  <a:lnTo>
                    <a:pt x="0" y="90466"/>
                  </a:lnTo>
                  <a:close/>
                </a:path>
              </a:pathLst>
            </a:custGeom>
            <a:solidFill>
              <a:srgbClr val="4DE1C7"/>
            </a:solidFill>
          </p:spPr>
        </p:sp>
        <p:sp>
          <p:nvSpPr>
            <p:cNvPr name="TextBox 8" id="8"/>
            <p:cNvSpPr txBox="true"/>
            <p:nvPr/>
          </p:nvSpPr>
          <p:spPr>
            <a:xfrm>
              <a:off x="0" y="-57150"/>
              <a:ext cx="2408296" cy="147616"/>
            </a:xfrm>
            <a:prstGeom prst="rect">
              <a:avLst/>
            </a:prstGeom>
          </p:spPr>
          <p:txBody>
            <a:bodyPr anchor="ctr" rtlCol="false" tIns="50800" lIns="50800" bIns="50800" rIns="50800"/>
            <a:lstStyle/>
            <a:p>
              <a:pPr algn="ctr">
                <a:lnSpc>
                  <a:spcPts val="2659"/>
                </a:lnSpc>
              </a:pPr>
            </a:p>
          </p:txBody>
        </p:sp>
      </p:grpSp>
      <p:sp>
        <p:nvSpPr>
          <p:cNvPr name="Freeform 9" id="9"/>
          <p:cNvSpPr/>
          <p:nvPr/>
        </p:nvSpPr>
        <p:spPr>
          <a:xfrm flipH="false" flipV="false" rot="4689992">
            <a:off x="10289729" y="-1421921"/>
            <a:ext cx="13969695" cy="5395795"/>
          </a:xfrm>
          <a:custGeom>
            <a:avLst/>
            <a:gdLst/>
            <a:ahLst/>
            <a:cxnLst/>
            <a:rect r="r" b="b" t="t" l="l"/>
            <a:pathLst>
              <a:path h="5395795" w="13969695">
                <a:moveTo>
                  <a:pt x="0" y="0"/>
                </a:moveTo>
                <a:lnTo>
                  <a:pt x="13969695" y="0"/>
                </a:lnTo>
                <a:lnTo>
                  <a:pt x="13969695" y="5395795"/>
                </a:lnTo>
                <a:lnTo>
                  <a:pt x="0" y="539579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TextBox 10" id="10"/>
          <p:cNvSpPr txBox="true"/>
          <p:nvPr/>
        </p:nvSpPr>
        <p:spPr>
          <a:xfrm rot="0">
            <a:off x="1544727" y="6368415"/>
            <a:ext cx="7083247" cy="718185"/>
          </a:xfrm>
          <a:prstGeom prst="rect">
            <a:avLst/>
          </a:prstGeom>
        </p:spPr>
        <p:txBody>
          <a:bodyPr anchor="t" rtlCol="false" tIns="0" lIns="0" bIns="0" rIns="0">
            <a:spAutoFit/>
          </a:bodyPr>
          <a:lstStyle/>
          <a:p>
            <a:pPr algn="l">
              <a:lnSpc>
                <a:spcPts val="2880"/>
              </a:lnSpc>
            </a:pPr>
            <a:r>
              <a:rPr lang="en-US" sz="1800">
                <a:solidFill>
                  <a:srgbClr val="545454"/>
                </a:solidFill>
                <a:latin typeface="Poppins"/>
                <a:ea typeface="Poppins"/>
                <a:cs typeface="Poppins"/>
                <a:sym typeface="Poppins"/>
              </a:rPr>
              <a:t>description of what u did and results-- i can move results to another slide but just explain everything here</a:t>
            </a:r>
          </a:p>
        </p:txBody>
      </p:sp>
      <p:sp>
        <p:nvSpPr>
          <p:cNvPr name="TextBox 11" id="11"/>
          <p:cNvSpPr txBox="true"/>
          <p:nvPr/>
        </p:nvSpPr>
        <p:spPr>
          <a:xfrm rot="0">
            <a:off x="1544727" y="2546276"/>
            <a:ext cx="11071494" cy="904875"/>
          </a:xfrm>
          <a:prstGeom prst="rect">
            <a:avLst/>
          </a:prstGeom>
        </p:spPr>
        <p:txBody>
          <a:bodyPr anchor="t" rtlCol="false" tIns="0" lIns="0" bIns="0" rIns="0">
            <a:spAutoFit/>
          </a:bodyPr>
          <a:lstStyle/>
          <a:p>
            <a:pPr algn="l">
              <a:lnSpc>
                <a:spcPts val="6719"/>
              </a:lnSpc>
            </a:pPr>
            <a:r>
              <a:rPr lang="en-US" sz="5599" b="true">
                <a:solidFill>
                  <a:srgbClr val="FFFFFF"/>
                </a:solidFill>
                <a:latin typeface="Poppins Bold"/>
                <a:ea typeface="Poppins Bold"/>
                <a:cs typeface="Poppins Bold"/>
                <a:sym typeface="Poppins Bold"/>
              </a:rPr>
              <a:t>SMART Question 1</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4544475"/>
            <a:chOff x="0" y="0"/>
            <a:chExt cx="4816593" cy="1196899"/>
          </a:xfrm>
        </p:grpSpPr>
        <p:sp>
          <p:nvSpPr>
            <p:cNvPr name="Freeform 3" id="3"/>
            <p:cNvSpPr/>
            <p:nvPr/>
          </p:nvSpPr>
          <p:spPr>
            <a:xfrm flipH="false" flipV="false" rot="0">
              <a:off x="0" y="0"/>
              <a:ext cx="4816592" cy="1196899"/>
            </a:xfrm>
            <a:custGeom>
              <a:avLst/>
              <a:gdLst/>
              <a:ahLst/>
              <a:cxnLst/>
              <a:rect r="r" b="b" t="t" l="l"/>
              <a:pathLst>
                <a:path h="1196899" w="4816592">
                  <a:moveTo>
                    <a:pt x="0" y="0"/>
                  </a:moveTo>
                  <a:lnTo>
                    <a:pt x="4816592" y="0"/>
                  </a:lnTo>
                  <a:lnTo>
                    <a:pt x="4816592" y="1196899"/>
                  </a:lnTo>
                  <a:lnTo>
                    <a:pt x="0" y="1196899"/>
                  </a:lnTo>
                  <a:close/>
                </a:path>
              </a:pathLst>
            </a:custGeom>
            <a:solidFill>
              <a:srgbClr val="071C42"/>
            </a:solidFill>
          </p:spPr>
        </p:sp>
        <p:sp>
          <p:nvSpPr>
            <p:cNvPr name="TextBox 4" id="4"/>
            <p:cNvSpPr txBox="true"/>
            <p:nvPr/>
          </p:nvSpPr>
          <p:spPr>
            <a:xfrm>
              <a:off x="0" y="-57150"/>
              <a:ext cx="4816593" cy="1254049"/>
            </a:xfrm>
            <a:prstGeom prst="rect">
              <a:avLst/>
            </a:prstGeom>
          </p:spPr>
          <p:txBody>
            <a:bodyPr anchor="ctr" rtlCol="false" tIns="50800" lIns="50800" bIns="50800" rIns="50800"/>
            <a:lstStyle/>
            <a:p>
              <a:pPr algn="ctr">
                <a:lnSpc>
                  <a:spcPts val="2659"/>
                </a:lnSpc>
                <a:spcBef>
                  <a:spcPct val="0"/>
                </a:spcBef>
              </a:pPr>
            </a:p>
          </p:txBody>
        </p:sp>
      </p:grpSp>
      <p:sp>
        <p:nvSpPr>
          <p:cNvPr name="AutoShape 5" id="5"/>
          <p:cNvSpPr/>
          <p:nvPr/>
        </p:nvSpPr>
        <p:spPr>
          <a:xfrm rot="0">
            <a:off x="1028700" y="601417"/>
            <a:ext cx="16230600" cy="0"/>
          </a:xfrm>
          <a:prstGeom prst="line">
            <a:avLst/>
          </a:prstGeom>
          <a:ln cap="flat" w="19050">
            <a:solidFill>
              <a:srgbClr val="D9D9D9"/>
            </a:solidFill>
            <a:prstDash val="solid"/>
            <a:headEnd type="none" len="sm" w="sm"/>
            <a:tailEnd type="none" len="sm" w="sm"/>
          </a:ln>
        </p:spPr>
      </p:sp>
      <p:grpSp>
        <p:nvGrpSpPr>
          <p:cNvPr name="Group 6" id="6"/>
          <p:cNvGrpSpPr/>
          <p:nvPr/>
        </p:nvGrpSpPr>
        <p:grpSpPr>
          <a:xfrm rot="0">
            <a:off x="0" y="4200988"/>
            <a:ext cx="9144000" cy="343487"/>
            <a:chOff x="0" y="0"/>
            <a:chExt cx="2408296" cy="90466"/>
          </a:xfrm>
        </p:grpSpPr>
        <p:sp>
          <p:nvSpPr>
            <p:cNvPr name="Freeform 7" id="7"/>
            <p:cNvSpPr/>
            <p:nvPr/>
          </p:nvSpPr>
          <p:spPr>
            <a:xfrm flipH="false" flipV="false" rot="0">
              <a:off x="0" y="0"/>
              <a:ext cx="2408296" cy="90466"/>
            </a:xfrm>
            <a:custGeom>
              <a:avLst/>
              <a:gdLst/>
              <a:ahLst/>
              <a:cxnLst/>
              <a:rect r="r" b="b" t="t" l="l"/>
              <a:pathLst>
                <a:path h="90466" w="2408296">
                  <a:moveTo>
                    <a:pt x="0" y="0"/>
                  </a:moveTo>
                  <a:lnTo>
                    <a:pt x="2408296" y="0"/>
                  </a:lnTo>
                  <a:lnTo>
                    <a:pt x="2408296" y="90466"/>
                  </a:lnTo>
                  <a:lnTo>
                    <a:pt x="0" y="90466"/>
                  </a:lnTo>
                  <a:close/>
                </a:path>
              </a:pathLst>
            </a:custGeom>
            <a:solidFill>
              <a:srgbClr val="4DE1C7"/>
            </a:solidFill>
          </p:spPr>
        </p:sp>
        <p:sp>
          <p:nvSpPr>
            <p:cNvPr name="TextBox 8" id="8"/>
            <p:cNvSpPr txBox="true"/>
            <p:nvPr/>
          </p:nvSpPr>
          <p:spPr>
            <a:xfrm>
              <a:off x="0" y="-57150"/>
              <a:ext cx="2408296" cy="147616"/>
            </a:xfrm>
            <a:prstGeom prst="rect">
              <a:avLst/>
            </a:prstGeom>
          </p:spPr>
          <p:txBody>
            <a:bodyPr anchor="ctr" rtlCol="false" tIns="50800" lIns="50800" bIns="50800" rIns="50800"/>
            <a:lstStyle/>
            <a:p>
              <a:pPr algn="ctr">
                <a:lnSpc>
                  <a:spcPts val="2659"/>
                </a:lnSpc>
              </a:pPr>
            </a:p>
          </p:txBody>
        </p:sp>
      </p:grpSp>
      <p:sp>
        <p:nvSpPr>
          <p:cNvPr name="Freeform 9" id="9"/>
          <p:cNvSpPr/>
          <p:nvPr/>
        </p:nvSpPr>
        <p:spPr>
          <a:xfrm flipH="false" flipV="false" rot="4689992">
            <a:off x="10289729" y="-1421921"/>
            <a:ext cx="13969695" cy="5395795"/>
          </a:xfrm>
          <a:custGeom>
            <a:avLst/>
            <a:gdLst/>
            <a:ahLst/>
            <a:cxnLst/>
            <a:rect r="r" b="b" t="t" l="l"/>
            <a:pathLst>
              <a:path h="5395795" w="13969695">
                <a:moveTo>
                  <a:pt x="0" y="0"/>
                </a:moveTo>
                <a:lnTo>
                  <a:pt x="13969695" y="0"/>
                </a:lnTo>
                <a:lnTo>
                  <a:pt x="13969695" y="5395795"/>
                </a:lnTo>
                <a:lnTo>
                  <a:pt x="0" y="539579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TextBox 10" id="10"/>
          <p:cNvSpPr txBox="true"/>
          <p:nvPr/>
        </p:nvSpPr>
        <p:spPr>
          <a:xfrm rot="0">
            <a:off x="1544727" y="2546276"/>
            <a:ext cx="11071494" cy="904875"/>
          </a:xfrm>
          <a:prstGeom prst="rect">
            <a:avLst/>
          </a:prstGeom>
        </p:spPr>
        <p:txBody>
          <a:bodyPr anchor="t" rtlCol="false" tIns="0" lIns="0" bIns="0" rIns="0">
            <a:spAutoFit/>
          </a:bodyPr>
          <a:lstStyle/>
          <a:p>
            <a:pPr algn="l">
              <a:lnSpc>
                <a:spcPts val="6719"/>
              </a:lnSpc>
            </a:pPr>
            <a:r>
              <a:rPr lang="en-US" sz="5599" b="true">
                <a:solidFill>
                  <a:srgbClr val="FFFFFF"/>
                </a:solidFill>
                <a:latin typeface="Poppins Bold"/>
                <a:ea typeface="Poppins Bold"/>
                <a:cs typeface="Poppins Bold"/>
                <a:sym typeface="Poppins Bold"/>
              </a:rPr>
              <a:t>SMART Question 2</a:t>
            </a:r>
          </a:p>
        </p:txBody>
      </p:sp>
      <p:sp>
        <p:nvSpPr>
          <p:cNvPr name="TextBox 11" id="11"/>
          <p:cNvSpPr txBox="true"/>
          <p:nvPr/>
        </p:nvSpPr>
        <p:spPr>
          <a:xfrm rot="0">
            <a:off x="1544727" y="6368415"/>
            <a:ext cx="7083247" cy="718185"/>
          </a:xfrm>
          <a:prstGeom prst="rect">
            <a:avLst/>
          </a:prstGeom>
        </p:spPr>
        <p:txBody>
          <a:bodyPr anchor="t" rtlCol="false" tIns="0" lIns="0" bIns="0" rIns="0">
            <a:spAutoFit/>
          </a:bodyPr>
          <a:lstStyle/>
          <a:p>
            <a:pPr algn="l">
              <a:lnSpc>
                <a:spcPts val="2880"/>
              </a:lnSpc>
            </a:pPr>
            <a:r>
              <a:rPr lang="en-US" sz="1800">
                <a:solidFill>
                  <a:srgbClr val="545454"/>
                </a:solidFill>
                <a:latin typeface="Poppins"/>
                <a:ea typeface="Poppins"/>
                <a:cs typeface="Poppins"/>
                <a:sym typeface="Poppins"/>
              </a:rPr>
              <a:t>description of what u did and results-- i can move results to another slide but just explain everything here</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4544475"/>
            <a:chOff x="0" y="0"/>
            <a:chExt cx="4816593" cy="1196899"/>
          </a:xfrm>
        </p:grpSpPr>
        <p:sp>
          <p:nvSpPr>
            <p:cNvPr name="Freeform 3" id="3"/>
            <p:cNvSpPr/>
            <p:nvPr/>
          </p:nvSpPr>
          <p:spPr>
            <a:xfrm flipH="false" flipV="false" rot="0">
              <a:off x="0" y="0"/>
              <a:ext cx="4816592" cy="1196899"/>
            </a:xfrm>
            <a:custGeom>
              <a:avLst/>
              <a:gdLst/>
              <a:ahLst/>
              <a:cxnLst/>
              <a:rect r="r" b="b" t="t" l="l"/>
              <a:pathLst>
                <a:path h="1196899" w="4816592">
                  <a:moveTo>
                    <a:pt x="0" y="0"/>
                  </a:moveTo>
                  <a:lnTo>
                    <a:pt x="4816592" y="0"/>
                  </a:lnTo>
                  <a:lnTo>
                    <a:pt x="4816592" y="1196899"/>
                  </a:lnTo>
                  <a:lnTo>
                    <a:pt x="0" y="1196899"/>
                  </a:lnTo>
                  <a:close/>
                </a:path>
              </a:pathLst>
            </a:custGeom>
            <a:solidFill>
              <a:srgbClr val="071C42"/>
            </a:solidFill>
          </p:spPr>
        </p:sp>
        <p:sp>
          <p:nvSpPr>
            <p:cNvPr name="TextBox 4" id="4"/>
            <p:cNvSpPr txBox="true"/>
            <p:nvPr/>
          </p:nvSpPr>
          <p:spPr>
            <a:xfrm>
              <a:off x="0" y="-57150"/>
              <a:ext cx="4816593" cy="1254049"/>
            </a:xfrm>
            <a:prstGeom prst="rect">
              <a:avLst/>
            </a:prstGeom>
          </p:spPr>
          <p:txBody>
            <a:bodyPr anchor="ctr" rtlCol="false" tIns="50800" lIns="50800" bIns="50800" rIns="50800"/>
            <a:lstStyle/>
            <a:p>
              <a:pPr algn="ctr">
                <a:lnSpc>
                  <a:spcPts val="2659"/>
                </a:lnSpc>
                <a:spcBef>
                  <a:spcPct val="0"/>
                </a:spcBef>
              </a:pPr>
            </a:p>
          </p:txBody>
        </p:sp>
      </p:grpSp>
      <p:sp>
        <p:nvSpPr>
          <p:cNvPr name="AutoShape 5" id="5"/>
          <p:cNvSpPr/>
          <p:nvPr/>
        </p:nvSpPr>
        <p:spPr>
          <a:xfrm rot="0">
            <a:off x="1028700" y="601417"/>
            <a:ext cx="16230600" cy="0"/>
          </a:xfrm>
          <a:prstGeom prst="line">
            <a:avLst/>
          </a:prstGeom>
          <a:ln cap="flat" w="19050">
            <a:solidFill>
              <a:srgbClr val="D9D9D9"/>
            </a:solidFill>
            <a:prstDash val="solid"/>
            <a:headEnd type="none" len="sm" w="sm"/>
            <a:tailEnd type="none" len="sm" w="sm"/>
          </a:ln>
        </p:spPr>
      </p:sp>
      <p:grpSp>
        <p:nvGrpSpPr>
          <p:cNvPr name="Group 6" id="6"/>
          <p:cNvGrpSpPr/>
          <p:nvPr/>
        </p:nvGrpSpPr>
        <p:grpSpPr>
          <a:xfrm rot="0">
            <a:off x="0" y="4200988"/>
            <a:ext cx="9144000" cy="343487"/>
            <a:chOff x="0" y="0"/>
            <a:chExt cx="2408296" cy="90466"/>
          </a:xfrm>
        </p:grpSpPr>
        <p:sp>
          <p:nvSpPr>
            <p:cNvPr name="Freeform 7" id="7"/>
            <p:cNvSpPr/>
            <p:nvPr/>
          </p:nvSpPr>
          <p:spPr>
            <a:xfrm flipH="false" flipV="false" rot="0">
              <a:off x="0" y="0"/>
              <a:ext cx="2408296" cy="90466"/>
            </a:xfrm>
            <a:custGeom>
              <a:avLst/>
              <a:gdLst/>
              <a:ahLst/>
              <a:cxnLst/>
              <a:rect r="r" b="b" t="t" l="l"/>
              <a:pathLst>
                <a:path h="90466" w="2408296">
                  <a:moveTo>
                    <a:pt x="0" y="0"/>
                  </a:moveTo>
                  <a:lnTo>
                    <a:pt x="2408296" y="0"/>
                  </a:lnTo>
                  <a:lnTo>
                    <a:pt x="2408296" y="90466"/>
                  </a:lnTo>
                  <a:lnTo>
                    <a:pt x="0" y="90466"/>
                  </a:lnTo>
                  <a:close/>
                </a:path>
              </a:pathLst>
            </a:custGeom>
            <a:solidFill>
              <a:srgbClr val="4DE1C7"/>
            </a:solidFill>
          </p:spPr>
        </p:sp>
        <p:sp>
          <p:nvSpPr>
            <p:cNvPr name="TextBox 8" id="8"/>
            <p:cNvSpPr txBox="true"/>
            <p:nvPr/>
          </p:nvSpPr>
          <p:spPr>
            <a:xfrm>
              <a:off x="0" y="-57150"/>
              <a:ext cx="2408296" cy="147616"/>
            </a:xfrm>
            <a:prstGeom prst="rect">
              <a:avLst/>
            </a:prstGeom>
          </p:spPr>
          <p:txBody>
            <a:bodyPr anchor="ctr" rtlCol="false" tIns="50800" lIns="50800" bIns="50800" rIns="50800"/>
            <a:lstStyle/>
            <a:p>
              <a:pPr algn="ctr">
                <a:lnSpc>
                  <a:spcPts val="2659"/>
                </a:lnSpc>
              </a:pPr>
            </a:p>
          </p:txBody>
        </p:sp>
      </p:grpSp>
      <p:sp>
        <p:nvSpPr>
          <p:cNvPr name="Freeform 9" id="9"/>
          <p:cNvSpPr/>
          <p:nvPr/>
        </p:nvSpPr>
        <p:spPr>
          <a:xfrm flipH="false" flipV="false" rot="4689992">
            <a:off x="10289729" y="-1421921"/>
            <a:ext cx="13969695" cy="5395795"/>
          </a:xfrm>
          <a:custGeom>
            <a:avLst/>
            <a:gdLst/>
            <a:ahLst/>
            <a:cxnLst/>
            <a:rect r="r" b="b" t="t" l="l"/>
            <a:pathLst>
              <a:path h="5395795" w="13969695">
                <a:moveTo>
                  <a:pt x="0" y="0"/>
                </a:moveTo>
                <a:lnTo>
                  <a:pt x="13969695" y="0"/>
                </a:lnTo>
                <a:lnTo>
                  <a:pt x="13969695" y="5395795"/>
                </a:lnTo>
                <a:lnTo>
                  <a:pt x="0" y="539579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TextBox 10" id="10"/>
          <p:cNvSpPr txBox="true"/>
          <p:nvPr/>
        </p:nvSpPr>
        <p:spPr>
          <a:xfrm rot="0">
            <a:off x="1544727" y="2546276"/>
            <a:ext cx="11071494" cy="904875"/>
          </a:xfrm>
          <a:prstGeom prst="rect">
            <a:avLst/>
          </a:prstGeom>
        </p:spPr>
        <p:txBody>
          <a:bodyPr anchor="t" rtlCol="false" tIns="0" lIns="0" bIns="0" rIns="0">
            <a:spAutoFit/>
          </a:bodyPr>
          <a:lstStyle/>
          <a:p>
            <a:pPr algn="l">
              <a:lnSpc>
                <a:spcPts val="6719"/>
              </a:lnSpc>
            </a:pPr>
            <a:r>
              <a:rPr lang="en-US" sz="5599" b="true">
                <a:solidFill>
                  <a:srgbClr val="FFFFFF"/>
                </a:solidFill>
                <a:latin typeface="Poppins Bold"/>
                <a:ea typeface="Poppins Bold"/>
                <a:cs typeface="Poppins Bold"/>
                <a:sym typeface="Poppins Bold"/>
              </a:rPr>
              <a:t>SMART Question 3</a:t>
            </a:r>
          </a:p>
        </p:txBody>
      </p:sp>
      <p:sp>
        <p:nvSpPr>
          <p:cNvPr name="TextBox 11" id="11"/>
          <p:cNvSpPr txBox="true"/>
          <p:nvPr/>
        </p:nvSpPr>
        <p:spPr>
          <a:xfrm rot="0">
            <a:off x="1544727" y="6368415"/>
            <a:ext cx="7083247" cy="718185"/>
          </a:xfrm>
          <a:prstGeom prst="rect">
            <a:avLst/>
          </a:prstGeom>
        </p:spPr>
        <p:txBody>
          <a:bodyPr anchor="t" rtlCol="false" tIns="0" lIns="0" bIns="0" rIns="0">
            <a:spAutoFit/>
          </a:bodyPr>
          <a:lstStyle/>
          <a:p>
            <a:pPr algn="l">
              <a:lnSpc>
                <a:spcPts val="2880"/>
              </a:lnSpc>
            </a:pPr>
            <a:r>
              <a:rPr lang="en-US" sz="1800">
                <a:solidFill>
                  <a:srgbClr val="545454"/>
                </a:solidFill>
                <a:latin typeface="Poppins"/>
                <a:ea typeface="Poppins"/>
                <a:cs typeface="Poppins"/>
                <a:sym typeface="Poppins"/>
              </a:rPr>
              <a:t>description of what u did and results-- i can move results to another slide but just explain everything here</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4544475"/>
            <a:chOff x="0" y="0"/>
            <a:chExt cx="4816593" cy="1196899"/>
          </a:xfrm>
        </p:grpSpPr>
        <p:sp>
          <p:nvSpPr>
            <p:cNvPr name="Freeform 3" id="3"/>
            <p:cNvSpPr/>
            <p:nvPr/>
          </p:nvSpPr>
          <p:spPr>
            <a:xfrm flipH="false" flipV="false" rot="0">
              <a:off x="0" y="0"/>
              <a:ext cx="4816592" cy="1196899"/>
            </a:xfrm>
            <a:custGeom>
              <a:avLst/>
              <a:gdLst/>
              <a:ahLst/>
              <a:cxnLst/>
              <a:rect r="r" b="b" t="t" l="l"/>
              <a:pathLst>
                <a:path h="1196899" w="4816592">
                  <a:moveTo>
                    <a:pt x="0" y="0"/>
                  </a:moveTo>
                  <a:lnTo>
                    <a:pt x="4816592" y="0"/>
                  </a:lnTo>
                  <a:lnTo>
                    <a:pt x="4816592" y="1196899"/>
                  </a:lnTo>
                  <a:lnTo>
                    <a:pt x="0" y="1196899"/>
                  </a:lnTo>
                  <a:close/>
                </a:path>
              </a:pathLst>
            </a:custGeom>
            <a:solidFill>
              <a:srgbClr val="071C42"/>
            </a:solidFill>
          </p:spPr>
        </p:sp>
        <p:sp>
          <p:nvSpPr>
            <p:cNvPr name="TextBox 4" id="4"/>
            <p:cNvSpPr txBox="true"/>
            <p:nvPr/>
          </p:nvSpPr>
          <p:spPr>
            <a:xfrm>
              <a:off x="0" y="-57150"/>
              <a:ext cx="4816593" cy="1254049"/>
            </a:xfrm>
            <a:prstGeom prst="rect">
              <a:avLst/>
            </a:prstGeom>
          </p:spPr>
          <p:txBody>
            <a:bodyPr anchor="ctr" rtlCol="false" tIns="50800" lIns="50800" bIns="50800" rIns="50800"/>
            <a:lstStyle/>
            <a:p>
              <a:pPr algn="ctr">
                <a:lnSpc>
                  <a:spcPts val="2659"/>
                </a:lnSpc>
                <a:spcBef>
                  <a:spcPct val="0"/>
                </a:spcBef>
              </a:pPr>
            </a:p>
          </p:txBody>
        </p:sp>
      </p:grpSp>
      <p:sp>
        <p:nvSpPr>
          <p:cNvPr name="AutoShape 5" id="5"/>
          <p:cNvSpPr/>
          <p:nvPr/>
        </p:nvSpPr>
        <p:spPr>
          <a:xfrm rot="0">
            <a:off x="1028700" y="601417"/>
            <a:ext cx="16230600" cy="0"/>
          </a:xfrm>
          <a:prstGeom prst="line">
            <a:avLst/>
          </a:prstGeom>
          <a:ln cap="flat" w="19050">
            <a:solidFill>
              <a:srgbClr val="D9D9D9"/>
            </a:solidFill>
            <a:prstDash val="solid"/>
            <a:headEnd type="none" len="sm" w="sm"/>
            <a:tailEnd type="none" len="sm" w="sm"/>
          </a:ln>
        </p:spPr>
      </p:sp>
      <p:grpSp>
        <p:nvGrpSpPr>
          <p:cNvPr name="Group 6" id="6"/>
          <p:cNvGrpSpPr/>
          <p:nvPr/>
        </p:nvGrpSpPr>
        <p:grpSpPr>
          <a:xfrm rot="0">
            <a:off x="0" y="4200988"/>
            <a:ext cx="9144000" cy="343487"/>
            <a:chOff x="0" y="0"/>
            <a:chExt cx="2408296" cy="90466"/>
          </a:xfrm>
        </p:grpSpPr>
        <p:sp>
          <p:nvSpPr>
            <p:cNvPr name="Freeform 7" id="7"/>
            <p:cNvSpPr/>
            <p:nvPr/>
          </p:nvSpPr>
          <p:spPr>
            <a:xfrm flipH="false" flipV="false" rot="0">
              <a:off x="0" y="0"/>
              <a:ext cx="2408296" cy="90466"/>
            </a:xfrm>
            <a:custGeom>
              <a:avLst/>
              <a:gdLst/>
              <a:ahLst/>
              <a:cxnLst/>
              <a:rect r="r" b="b" t="t" l="l"/>
              <a:pathLst>
                <a:path h="90466" w="2408296">
                  <a:moveTo>
                    <a:pt x="0" y="0"/>
                  </a:moveTo>
                  <a:lnTo>
                    <a:pt x="2408296" y="0"/>
                  </a:lnTo>
                  <a:lnTo>
                    <a:pt x="2408296" y="90466"/>
                  </a:lnTo>
                  <a:lnTo>
                    <a:pt x="0" y="90466"/>
                  </a:lnTo>
                  <a:close/>
                </a:path>
              </a:pathLst>
            </a:custGeom>
            <a:solidFill>
              <a:srgbClr val="4DE1C7"/>
            </a:solidFill>
          </p:spPr>
        </p:sp>
        <p:sp>
          <p:nvSpPr>
            <p:cNvPr name="TextBox 8" id="8"/>
            <p:cNvSpPr txBox="true"/>
            <p:nvPr/>
          </p:nvSpPr>
          <p:spPr>
            <a:xfrm>
              <a:off x="0" y="-57150"/>
              <a:ext cx="2408296" cy="147616"/>
            </a:xfrm>
            <a:prstGeom prst="rect">
              <a:avLst/>
            </a:prstGeom>
          </p:spPr>
          <p:txBody>
            <a:bodyPr anchor="ctr" rtlCol="false" tIns="50800" lIns="50800" bIns="50800" rIns="50800"/>
            <a:lstStyle/>
            <a:p>
              <a:pPr algn="ctr">
                <a:lnSpc>
                  <a:spcPts val="2659"/>
                </a:lnSpc>
              </a:pPr>
            </a:p>
          </p:txBody>
        </p:sp>
      </p:grpSp>
      <p:sp>
        <p:nvSpPr>
          <p:cNvPr name="Freeform 9" id="9"/>
          <p:cNvSpPr/>
          <p:nvPr/>
        </p:nvSpPr>
        <p:spPr>
          <a:xfrm flipH="false" flipV="false" rot="4689992">
            <a:off x="10289729" y="-1421921"/>
            <a:ext cx="13969695" cy="5395795"/>
          </a:xfrm>
          <a:custGeom>
            <a:avLst/>
            <a:gdLst/>
            <a:ahLst/>
            <a:cxnLst/>
            <a:rect r="r" b="b" t="t" l="l"/>
            <a:pathLst>
              <a:path h="5395795" w="13969695">
                <a:moveTo>
                  <a:pt x="0" y="0"/>
                </a:moveTo>
                <a:lnTo>
                  <a:pt x="13969695" y="0"/>
                </a:lnTo>
                <a:lnTo>
                  <a:pt x="13969695" y="5395795"/>
                </a:lnTo>
                <a:lnTo>
                  <a:pt x="0" y="539579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TextBox 10" id="10"/>
          <p:cNvSpPr txBox="true"/>
          <p:nvPr/>
        </p:nvSpPr>
        <p:spPr>
          <a:xfrm rot="0">
            <a:off x="1544727" y="2546276"/>
            <a:ext cx="11071494" cy="904875"/>
          </a:xfrm>
          <a:prstGeom prst="rect">
            <a:avLst/>
          </a:prstGeom>
        </p:spPr>
        <p:txBody>
          <a:bodyPr anchor="t" rtlCol="false" tIns="0" lIns="0" bIns="0" rIns="0">
            <a:spAutoFit/>
          </a:bodyPr>
          <a:lstStyle/>
          <a:p>
            <a:pPr algn="l">
              <a:lnSpc>
                <a:spcPts val="6719"/>
              </a:lnSpc>
            </a:pPr>
            <a:r>
              <a:rPr lang="en-US" sz="5599" b="true">
                <a:solidFill>
                  <a:srgbClr val="FFFFFF"/>
                </a:solidFill>
                <a:latin typeface="Poppins Bold"/>
                <a:ea typeface="Poppins Bold"/>
                <a:cs typeface="Poppins Bold"/>
                <a:sym typeface="Poppins Bold"/>
              </a:rPr>
              <a:t>SMART Question 4</a:t>
            </a:r>
          </a:p>
        </p:txBody>
      </p:sp>
      <p:sp>
        <p:nvSpPr>
          <p:cNvPr name="TextBox 11" id="11"/>
          <p:cNvSpPr txBox="true"/>
          <p:nvPr/>
        </p:nvSpPr>
        <p:spPr>
          <a:xfrm rot="0">
            <a:off x="1544727" y="6368415"/>
            <a:ext cx="7083247" cy="718185"/>
          </a:xfrm>
          <a:prstGeom prst="rect">
            <a:avLst/>
          </a:prstGeom>
        </p:spPr>
        <p:txBody>
          <a:bodyPr anchor="t" rtlCol="false" tIns="0" lIns="0" bIns="0" rIns="0">
            <a:spAutoFit/>
          </a:bodyPr>
          <a:lstStyle/>
          <a:p>
            <a:pPr algn="l">
              <a:lnSpc>
                <a:spcPts val="2880"/>
              </a:lnSpc>
            </a:pPr>
            <a:r>
              <a:rPr lang="en-US" sz="1800">
                <a:solidFill>
                  <a:srgbClr val="545454"/>
                </a:solidFill>
                <a:latin typeface="Poppins"/>
                <a:ea typeface="Poppins"/>
                <a:cs typeface="Poppins"/>
                <a:sym typeface="Poppins"/>
              </a:rPr>
              <a:t>description of what u did and results-- i can move results to another slide but just explain everything here</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4544475"/>
            <a:chOff x="0" y="0"/>
            <a:chExt cx="4816593" cy="1196899"/>
          </a:xfrm>
        </p:grpSpPr>
        <p:sp>
          <p:nvSpPr>
            <p:cNvPr name="Freeform 3" id="3"/>
            <p:cNvSpPr/>
            <p:nvPr/>
          </p:nvSpPr>
          <p:spPr>
            <a:xfrm flipH="false" flipV="false" rot="0">
              <a:off x="0" y="0"/>
              <a:ext cx="4816592" cy="1196899"/>
            </a:xfrm>
            <a:custGeom>
              <a:avLst/>
              <a:gdLst/>
              <a:ahLst/>
              <a:cxnLst/>
              <a:rect r="r" b="b" t="t" l="l"/>
              <a:pathLst>
                <a:path h="1196899" w="4816592">
                  <a:moveTo>
                    <a:pt x="0" y="0"/>
                  </a:moveTo>
                  <a:lnTo>
                    <a:pt x="4816592" y="0"/>
                  </a:lnTo>
                  <a:lnTo>
                    <a:pt x="4816592" y="1196899"/>
                  </a:lnTo>
                  <a:lnTo>
                    <a:pt x="0" y="1196899"/>
                  </a:lnTo>
                  <a:close/>
                </a:path>
              </a:pathLst>
            </a:custGeom>
            <a:solidFill>
              <a:srgbClr val="071C42"/>
            </a:solidFill>
          </p:spPr>
        </p:sp>
        <p:sp>
          <p:nvSpPr>
            <p:cNvPr name="TextBox 4" id="4"/>
            <p:cNvSpPr txBox="true"/>
            <p:nvPr/>
          </p:nvSpPr>
          <p:spPr>
            <a:xfrm>
              <a:off x="0" y="-57150"/>
              <a:ext cx="4816593" cy="1254049"/>
            </a:xfrm>
            <a:prstGeom prst="rect">
              <a:avLst/>
            </a:prstGeom>
          </p:spPr>
          <p:txBody>
            <a:bodyPr anchor="ctr" rtlCol="false" tIns="50800" lIns="50800" bIns="50800" rIns="50800"/>
            <a:lstStyle/>
            <a:p>
              <a:pPr algn="ctr">
                <a:lnSpc>
                  <a:spcPts val="2659"/>
                </a:lnSpc>
                <a:spcBef>
                  <a:spcPct val="0"/>
                </a:spcBef>
              </a:pPr>
            </a:p>
          </p:txBody>
        </p:sp>
      </p:grpSp>
      <p:sp>
        <p:nvSpPr>
          <p:cNvPr name="AutoShape 5" id="5"/>
          <p:cNvSpPr/>
          <p:nvPr/>
        </p:nvSpPr>
        <p:spPr>
          <a:xfrm rot="0">
            <a:off x="1028700" y="601417"/>
            <a:ext cx="16230600" cy="0"/>
          </a:xfrm>
          <a:prstGeom prst="line">
            <a:avLst/>
          </a:prstGeom>
          <a:ln cap="flat" w="19050">
            <a:solidFill>
              <a:srgbClr val="D9D9D9"/>
            </a:solidFill>
            <a:prstDash val="solid"/>
            <a:headEnd type="none" len="sm" w="sm"/>
            <a:tailEnd type="none" len="sm" w="sm"/>
          </a:ln>
        </p:spPr>
      </p:sp>
      <p:grpSp>
        <p:nvGrpSpPr>
          <p:cNvPr name="Group 6" id="6"/>
          <p:cNvGrpSpPr/>
          <p:nvPr/>
        </p:nvGrpSpPr>
        <p:grpSpPr>
          <a:xfrm rot="0">
            <a:off x="0" y="4200988"/>
            <a:ext cx="9144000" cy="343487"/>
            <a:chOff x="0" y="0"/>
            <a:chExt cx="2408296" cy="90466"/>
          </a:xfrm>
        </p:grpSpPr>
        <p:sp>
          <p:nvSpPr>
            <p:cNvPr name="Freeform 7" id="7"/>
            <p:cNvSpPr/>
            <p:nvPr/>
          </p:nvSpPr>
          <p:spPr>
            <a:xfrm flipH="false" flipV="false" rot="0">
              <a:off x="0" y="0"/>
              <a:ext cx="2408296" cy="90466"/>
            </a:xfrm>
            <a:custGeom>
              <a:avLst/>
              <a:gdLst/>
              <a:ahLst/>
              <a:cxnLst/>
              <a:rect r="r" b="b" t="t" l="l"/>
              <a:pathLst>
                <a:path h="90466" w="2408296">
                  <a:moveTo>
                    <a:pt x="0" y="0"/>
                  </a:moveTo>
                  <a:lnTo>
                    <a:pt x="2408296" y="0"/>
                  </a:lnTo>
                  <a:lnTo>
                    <a:pt x="2408296" y="90466"/>
                  </a:lnTo>
                  <a:lnTo>
                    <a:pt x="0" y="90466"/>
                  </a:lnTo>
                  <a:close/>
                </a:path>
              </a:pathLst>
            </a:custGeom>
            <a:solidFill>
              <a:srgbClr val="4DE1C7"/>
            </a:solidFill>
          </p:spPr>
        </p:sp>
        <p:sp>
          <p:nvSpPr>
            <p:cNvPr name="TextBox 8" id="8"/>
            <p:cNvSpPr txBox="true"/>
            <p:nvPr/>
          </p:nvSpPr>
          <p:spPr>
            <a:xfrm>
              <a:off x="0" y="-57150"/>
              <a:ext cx="2408296" cy="147616"/>
            </a:xfrm>
            <a:prstGeom prst="rect">
              <a:avLst/>
            </a:prstGeom>
          </p:spPr>
          <p:txBody>
            <a:bodyPr anchor="ctr" rtlCol="false" tIns="50800" lIns="50800" bIns="50800" rIns="50800"/>
            <a:lstStyle/>
            <a:p>
              <a:pPr algn="ctr">
                <a:lnSpc>
                  <a:spcPts val="2659"/>
                </a:lnSpc>
              </a:pPr>
            </a:p>
          </p:txBody>
        </p:sp>
      </p:grpSp>
      <p:sp>
        <p:nvSpPr>
          <p:cNvPr name="Freeform 9" id="9"/>
          <p:cNvSpPr/>
          <p:nvPr/>
        </p:nvSpPr>
        <p:spPr>
          <a:xfrm flipH="false" flipV="false" rot="4689992">
            <a:off x="10289729" y="-1421921"/>
            <a:ext cx="13969695" cy="5395795"/>
          </a:xfrm>
          <a:custGeom>
            <a:avLst/>
            <a:gdLst/>
            <a:ahLst/>
            <a:cxnLst/>
            <a:rect r="r" b="b" t="t" l="l"/>
            <a:pathLst>
              <a:path h="5395795" w="13969695">
                <a:moveTo>
                  <a:pt x="0" y="0"/>
                </a:moveTo>
                <a:lnTo>
                  <a:pt x="13969695" y="0"/>
                </a:lnTo>
                <a:lnTo>
                  <a:pt x="13969695" y="5395795"/>
                </a:lnTo>
                <a:lnTo>
                  <a:pt x="0" y="539579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TextBox 10" id="10"/>
          <p:cNvSpPr txBox="true"/>
          <p:nvPr/>
        </p:nvSpPr>
        <p:spPr>
          <a:xfrm rot="0">
            <a:off x="1544727" y="2546276"/>
            <a:ext cx="11071494" cy="904875"/>
          </a:xfrm>
          <a:prstGeom prst="rect">
            <a:avLst/>
          </a:prstGeom>
        </p:spPr>
        <p:txBody>
          <a:bodyPr anchor="t" rtlCol="false" tIns="0" lIns="0" bIns="0" rIns="0">
            <a:spAutoFit/>
          </a:bodyPr>
          <a:lstStyle/>
          <a:p>
            <a:pPr algn="l">
              <a:lnSpc>
                <a:spcPts val="6719"/>
              </a:lnSpc>
            </a:pPr>
            <a:r>
              <a:rPr lang="en-US" sz="5599" b="true">
                <a:solidFill>
                  <a:srgbClr val="FFFFFF"/>
                </a:solidFill>
                <a:latin typeface="Poppins Bold"/>
                <a:ea typeface="Poppins Bold"/>
                <a:cs typeface="Poppins Bold"/>
                <a:sym typeface="Poppins Bold"/>
              </a:rPr>
              <a:t>SMART Question 5</a:t>
            </a:r>
          </a:p>
        </p:txBody>
      </p:sp>
      <p:sp>
        <p:nvSpPr>
          <p:cNvPr name="TextBox 11" id="11"/>
          <p:cNvSpPr txBox="true"/>
          <p:nvPr/>
        </p:nvSpPr>
        <p:spPr>
          <a:xfrm rot="0">
            <a:off x="1544727" y="6368415"/>
            <a:ext cx="7083247" cy="718185"/>
          </a:xfrm>
          <a:prstGeom prst="rect">
            <a:avLst/>
          </a:prstGeom>
        </p:spPr>
        <p:txBody>
          <a:bodyPr anchor="t" rtlCol="false" tIns="0" lIns="0" bIns="0" rIns="0">
            <a:spAutoFit/>
          </a:bodyPr>
          <a:lstStyle/>
          <a:p>
            <a:pPr algn="l">
              <a:lnSpc>
                <a:spcPts val="2880"/>
              </a:lnSpc>
            </a:pPr>
            <a:r>
              <a:rPr lang="en-US" sz="1800">
                <a:solidFill>
                  <a:srgbClr val="545454"/>
                </a:solidFill>
                <a:latin typeface="Poppins"/>
                <a:ea typeface="Poppins"/>
                <a:cs typeface="Poppins"/>
                <a:sym typeface="Poppins"/>
              </a:rPr>
              <a:t>description of what u did and results-- i can move results to another slide but just explain everything here</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694360" y="0"/>
            <a:ext cx="8593640" cy="10287000"/>
            <a:chOff x="0" y="0"/>
            <a:chExt cx="2037011" cy="2438400"/>
          </a:xfrm>
        </p:grpSpPr>
        <p:sp>
          <p:nvSpPr>
            <p:cNvPr name="Freeform 3" id="3"/>
            <p:cNvSpPr/>
            <p:nvPr/>
          </p:nvSpPr>
          <p:spPr>
            <a:xfrm flipH="false" flipV="false" rot="0">
              <a:off x="0" y="0"/>
              <a:ext cx="2037011" cy="2438400"/>
            </a:xfrm>
            <a:custGeom>
              <a:avLst/>
              <a:gdLst/>
              <a:ahLst/>
              <a:cxnLst/>
              <a:rect r="r" b="b" t="t" l="l"/>
              <a:pathLst>
                <a:path h="2438400" w="2037011">
                  <a:moveTo>
                    <a:pt x="0" y="0"/>
                  </a:moveTo>
                  <a:lnTo>
                    <a:pt x="2037011" y="0"/>
                  </a:lnTo>
                  <a:lnTo>
                    <a:pt x="2037011" y="2438400"/>
                  </a:lnTo>
                  <a:lnTo>
                    <a:pt x="0" y="2438400"/>
                  </a:lnTo>
                  <a:close/>
                </a:path>
              </a:pathLst>
            </a:custGeom>
            <a:solidFill>
              <a:srgbClr val="071C42"/>
            </a:solidFill>
          </p:spPr>
        </p:sp>
        <p:sp>
          <p:nvSpPr>
            <p:cNvPr name="TextBox 4" id="4"/>
            <p:cNvSpPr txBox="true"/>
            <p:nvPr/>
          </p:nvSpPr>
          <p:spPr>
            <a:xfrm>
              <a:off x="0" y="-57150"/>
              <a:ext cx="2037011" cy="2495550"/>
            </a:xfrm>
            <a:prstGeom prst="rect">
              <a:avLst/>
            </a:prstGeom>
          </p:spPr>
          <p:txBody>
            <a:bodyPr anchor="ctr" rtlCol="false" tIns="50800" lIns="50800" bIns="50800" rIns="50800"/>
            <a:lstStyle/>
            <a:p>
              <a:pPr algn="ctr">
                <a:lnSpc>
                  <a:spcPts val="2659"/>
                </a:lnSpc>
                <a:spcBef>
                  <a:spcPct val="0"/>
                </a:spcBef>
              </a:pPr>
            </a:p>
          </p:txBody>
        </p:sp>
      </p:grpSp>
      <p:sp>
        <p:nvSpPr>
          <p:cNvPr name="TextBox 5" id="5"/>
          <p:cNvSpPr txBox="true"/>
          <p:nvPr/>
        </p:nvSpPr>
        <p:spPr>
          <a:xfrm rot="0">
            <a:off x="11067384" y="1982089"/>
            <a:ext cx="3627020" cy="904875"/>
          </a:xfrm>
          <a:prstGeom prst="rect">
            <a:avLst/>
          </a:prstGeom>
        </p:spPr>
        <p:txBody>
          <a:bodyPr anchor="t" rtlCol="false" tIns="0" lIns="0" bIns="0" rIns="0">
            <a:spAutoFit/>
          </a:bodyPr>
          <a:lstStyle/>
          <a:p>
            <a:pPr algn="l">
              <a:lnSpc>
                <a:spcPts val="6719"/>
              </a:lnSpc>
            </a:pPr>
            <a:r>
              <a:rPr lang="en-US" sz="5599" b="true">
                <a:solidFill>
                  <a:srgbClr val="FFFFFF"/>
                </a:solidFill>
                <a:latin typeface="Poppins Bold"/>
                <a:ea typeface="Poppins Bold"/>
                <a:cs typeface="Poppins Bold"/>
                <a:sym typeface="Poppins Bold"/>
              </a:rPr>
              <a:t>Setbacks</a:t>
            </a:r>
          </a:p>
        </p:txBody>
      </p:sp>
      <p:sp>
        <p:nvSpPr>
          <p:cNvPr name="TextBox 6" id="6"/>
          <p:cNvSpPr txBox="true"/>
          <p:nvPr/>
        </p:nvSpPr>
        <p:spPr>
          <a:xfrm rot="0">
            <a:off x="11067384" y="3158410"/>
            <a:ext cx="5756467" cy="1080135"/>
          </a:xfrm>
          <a:prstGeom prst="rect">
            <a:avLst/>
          </a:prstGeom>
        </p:spPr>
        <p:txBody>
          <a:bodyPr anchor="t" rtlCol="false" tIns="0" lIns="0" bIns="0" rIns="0">
            <a:spAutoFit/>
          </a:bodyPr>
          <a:lstStyle/>
          <a:p>
            <a:pPr algn="l">
              <a:lnSpc>
                <a:spcPts val="2880"/>
              </a:lnSpc>
            </a:pPr>
            <a:r>
              <a:rPr lang="en-US" sz="1800">
                <a:solidFill>
                  <a:srgbClr val="EEF2F5"/>
                </a:solidFill>
                <a:latin typeface="Poppins"/>
                <a:ea typeface="Poppins"/>
                <a:cs typeface="Poppins"/>
                <a:sym typeface="Poppins"/>
              </a:rPr>
              <a:t>talk about how models all have 20% accuracy and no significant correlation due to evenly spread data</a:t>
            </a:r>
          </a:p>
        </p:txBody>
      </p:sp>
      <p:sp>
        <p:nvSpPr>
          <p:cNvPr name="AutoShape 7" id="7"/>
          <p:cNvSpPr/>
          <p:nvPr/>
        </p:nvSpPr>
        <p:spPr>
          <a:xfrm rot="0">
            <a:off x="1028700" y="601417"/>
            <a:ext cx="16230600" cy="0"/>
          </a:xfrm>
          <a:prstGeom prst="line">
            <a:avLst/>
          </a:prstGeom>
          <a:ln cap="flat" w="19050">
            <a:solidFill>
              <a:srgbClr val="D9D9D9"/>
            </a:solidFill>
            <a:prstDash val="solid"/>
            <a:headEnd type="none" len="sm" w="sm"/>
            <a:tailEnd type="none" len="sm" w="sm"/>
          </a:ln>
        </p:spPr>
      </p:sp>
      <p:sp>
        <p:nvSpPr>
          <p:cNvPr name="Freeform 8" id="8"/>
          <p:cNvSpPr/>
          <p:nvPr/>
        </p:nvSpPr>
        <p:spPr>
          <a:xfrm flipH="false" flipV="false" rot="9321573">
            <a:off x="9994397" y="5129577"/>
            <a:ext cx="13969695" cy="5395795"/>
          </a:xfrm>
          <a:custGeom>
            <a:avLst/>
            <a:gdLst/>
            <a:ahLst/>
            <a:cxnLst/>
            <a:rect r="r" b="b" t="t" l="l"/>
            <a:pathLst>
              <a:path h="5395795" w="13969695">
                <a:moveTo>
                  <a:pt x="0" y="0"/>
                </a:moveTo>
                <a:lnTo>
                  <a:pt x="13969695" y="0"/>
                </a:lnTo>
                <a:lnTo>
                  <a:pt x="13969695" y="5395794"/>
                </a:lnTo>
                <a:lnTo>
                  <a:pt x="0" y="539579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071C42"/>
        </a:solidFill>
      </p:bgPr>
    </p:bg>
    <p:spTree>
      <p:nvGrpSpPr>
        <p:cNvPr id="1" name=""/>
        <p:cNvGrpSpPr/>
        <p:nvPr/>
      </p:nvGrpSpPr>
      <p:grpSpPr>
        <a:xfrm>
          <a:off x="0" y="0"/>
          <a:ext cx="0" cy="0"/>
          <a:chOff x="0" y="0"/>
          <a:chExt cx="0" cy="0"/>
        </a:xfrm>
      </p:grpSpPr>
      <p:grpSp>
        <p:nvGrpSpPr>
          <p:cNvPr name="Group 2" id="2"/>
          <p:cNvGrpSpPr/>
          <p:nvPr/>
        </p:nvGrpSpPr>
        <p:grpSpPr>
          <a:xfrm rot="0">
            <a:off x="8111545" y="1028700"/>
            <a:ext cx="9147755" cy="8229600"/>
            <a:chOff x="0" y="0"/>
            <a:chExt cx="2168357" cy="1950720"/>
          </a:xfrm>
        </p:grpSpPr>
        <p:sp>
          <p:nvSpPr>
            <p:cNvPr name="Freeform 3" id="3"/>
            <p:cNvSpPr/>
            <p:nvPr/>
          </p:nvSpPr>
          <p:spPr>
            <a:xfrm flipH="false" flipV="false" rot="0">
              <a:off x="0" y="0"/>
              <a:ext cx="2168357" cy="1950720"/>
            </a:xfrm>
            <a:custGeom>
              <a:avLst/>
              <a:gdLst/>
              <a:ahLst/>
              <a:cxnLst/>
              <a:rect r="r" b="b" t="t" l="l"/>
              <a:pathLst>
                <a:path h="1950720" w="2168357">
                  <a:moveTo>
                    <a:pt x="0" y="0"/>
                  </a:moveTo>
                  <a:lnTo>
                    <a:pt x="2168357" y="0"/>
                  </a:lnTo>
                  <a:lnTo>
                    <a:pt x="2168357" y="1950720"/>
                  </a:lnTo>
                  <a:lnTo>
                    <a:pt x="0" y="1950720"/>
                  </a:lnTo>
                  <a:close/>
                </a:path>
              </a:pathLst>
            </a:custGeom>
            <a:solidFill>
              <a:srgbClr val="FFFFFF"/>
            </a:solidFill>
          </p:spPr>
        </p:sp>
        <p:sp>
          <p:nvSpPr>
            <p:cNvPr name="TextBox 4" id="4"/>
            <p:cNvSpPr txBox="true"/>
            <p:nvPr/>
          </p:nvSpPr>
          <p:spPr>
            <a:xfrm>
              <a:off x="0" y="-57150"/>
              <a:ext cx="2168357" cy="2007870"/>
            </a:xfrm>
            <a:prstGeom prst="rect">
              <a:avLst/>
            </a:prstGeom>
          </p:spPr>
          <p:txBody>
            <a:bodyPr anchor="ctr" rtlCol="false" tIns="50800" lIns="50800" bIns="50800" rIns="50800"/>
            <a:lstStyle/>
            <a:p>
              <a:pPr algn="ctr">
                <a:lnSpc>
                  <a:spcPts val="2659"/>
                </a:lnSpc>
                <a:spcBef>
                  <a:spcPct val="0"/>
                </a:spcBef>
              </a:pPr>
            </a:p>
          </p:txBody>
        </p:sp>
      </p:grpSp>
      <p:pic>
        <p:nvPicPr>
          <p:cNvPr name="Picture 5" id="5"/>
          <p:cNvPicPr>
            <a:picLocks noChangeAspect="true"/>
          </p:cNvPicPr>
          <p:nvPr/>
        </p:nvPicPr>
        <p:blipFill>
          <a:blip r:embed="rId2"/>
          <a:stretch>
            <a:fillRect/>
          </a:stretch>
        </p:blipFill>
        <p:spPr>
          <a:xfrm rot="0">
            <a:off x="7975157" y="763050"/>
            <a:ext cx="9386064" cy="8760899"/>
          </a:xfrm>
          <a:prstGeom prst="rect">
            <a:avLst/>
          </a:prstGeom>
        </p:spPr>
      </p:pic>
      <p:sp>
        <p:nvSpPr>
          <p:cNvPr name="TextBox 6" id="6"/>
          <p:cNvSpPr txBox="true"/>
          <p:nvPr/>
        </p:nvSpPr>
        <p:spPr>
          <a:xfrm rot="0">
            <a:off x="1712082" y="2062122"/>
            <a:ext cx="5562601" cy="1752600"/>
          </a:xfrm>
          <a:prstGeom prst="rect">
            <a:avLst/>
          </a:prstGeom>
        </p:spPr>
        <p:txBody>
          <a:bodyPr anchor="t" rtlCol="false" tIns="0" lIns="0" bIns="0" rIns="0">
            <a:spAutoFit/>
          </a:bodyPr>
          <a:lstStyle/>
          <a:p>
            <a:pPr algn="l">
              <a:lnSpc>
                <a:spcPts val="6719"/>
              </a:lnSpc>
            </a:pPr>
            <a:r>
              <a:rPr lang="en-US" sz="5599" b="true">
                <a:solidFill>
                  <a:srgbClr val="FFFFFF"/>
                </a:solidFill>
                <a:latin typeface="Poppins Bold"/>
                <a:ea typeface="Poppins Bold"/>
                <a:cs typeface="Poppins Bold"/>
                <a:sym typeface="Poppins Bold"/>
              </a:rPr>
              <a:t>Results / Conclusions</a:t>
            </a:r>
          </a:p>
        </p:txBody>
      </p:sp>
      <p:sp>
        <p:nvSpPr>
          <p:cNvPr name="TextBox 7" id="7"/>
          <p:cNvSpPr txBox="true"/>
          <p:nvPr/>
        </p:nvSpPr>
        <p:spPr>
          <a:xfrm rot="0">
            <a:off x="1712082" y="4553344"/>
            <a:ext cx="4643986" cy="1080135"/>
          </a:xfrm>
          <a:prstGeom prst="rect">
            <a:avLst/>
          </a:prstGeom>
        </p:spPr>
        <p:txBody>
          <a:bodyPr anchor="t" rtlCol="false" tIns="0" lIns="0" bIns="0" rIns="0">
            <a:spAutoFit/>
          </a:bodyPr>
          <a:lstStyle/>
          <a:p>
            <a:pPr algn="l">
              <a:lnSpc>
                <a:spcPts val="2880"/>
              </a:lnSpc>
            </a:pPr>
            <a:r>
              <a:rPr lang="en-US" sz="1800">
                <a:solidFill>
                  <a:srgbClr val="D9D9D9"/>
                </a:solidFill>
                <a:latin typeface="Poppins"/>
                <a:ea typeface="Poppins"/>
                <a:cs typeface="Poppins"/>
                <a:sym typeface="Poppins"/>
              </a:rPr>
              <a:t>general summary of what we did - maybe include some visuals from output html</a:t>
            </a:r>
          </a:p>
        </p:txBody>
      </p:sp>
      <p:sp>
        <p:nvSpPr>
          <p:cNvPr name="AutoShape 8" id="8"/>
          <p:cNvSpPr/>
          <p:nvPr/>
        </p:nvSpPr>
        <p:spPr>
          <a:xfrm rot="0">
            <a:off x="1028700" y="601417"/>
            <a:ext cx="16230600" cy="0"/>
          </a:xfrm>
          <a:prstGeom prst="line">
            <a:avLst/>
          </a:prstGeom>
          <a:ln cap="flat" w="19050">
            <a:solidFill>
              <a:srgbClr val="D9D9D9"/>
            </a:solidFill>
            <a:prstDash val="solid"/>
            <a:headEnd type="none" len="sm" w="sm"/>
            <a:tailEnd type="none" len="sm" w="sm"/>
          </a:ln>
        </p:spPr>
      </p:sp>
      <p:grpSp>
        <p:nvGrpSpPr>
          <p:cNvPr name="Group 9" id="9"/>
          <p:cNvGrpSpPr/>
          <p:nvPr/>
        </p:nvGrpSpPr>
        <p:grpSpPr>
          <a:xfrm rot="5400000">
            <a:off x="-1947529" y="1947529"/>
            <a:ext cx="4238545" cy="343487"/>
            <a:chOff x="0" y="0"/>
            <a:chExt cx="1116325" cy="90466"/>
          </a:xfrm>
        </p:grpSpPr>
        <p:sp>
          <p:nvSpPr>
            <p:cNvPr name="Freeform 10" id="10"/>
            <p:cNvSpPr/>
            <p:nvPr/>
          </p:nvSpPr>
          <p:spPr>
            <a:xfrm flipH="false" flipV="false" rot="0">
              <a:off x="0" y="0"/>
              <a:ext cx="1116324" cy="90466"/>
            </a:xfrm>
            <a:custGeom>
              <a:avLst/>
              <a:gdLst/>
              <a:ahLst/>
              <a:cxnLst/>
              <a:rect r="r" b="b" t="t" l="l"/>
              <a:pathLst>
                <a:path h="90466" w="1116324">
                  <a:moveTo>
                    <a:pt x="0" y="0"/>
                  </a:moveTo>
                  <a:lnTo>
                    <a:pt x="1116324" y="0"/>
                  </a:lnTo>
                  <a:lnTo>
                    <a:pt x="1116324" y="90466"/>
                  </a:lnTo>
                  <a:lnTo>
                    <a:pt x="0" y="90466"/>
                  </a:lnTo>
                  <a:close/>
                </a:path>
              </a:pathLst>
            </a:custGeom>
            <a:solidFill>
              <a:srgbClr val="4DE1C7"/>
            </a:solidFill>
          </p:spPr>
        </p:sp>
        <p:sp>
          <p:nvSpPr>
            <p:cNvPr name="TextBox 11" id="11"/>
            <p:cNvSpPr txBox="true"/>
            <p:nvPr/>
          </p:nvSpPr>
          <p:spPr>
            <a:xfrm>
              <a:off x="0" y="-57150"/>
              <a:ext cx="1116325" cy="147616"/>
            </a:xfrm>
            <a:prstGeom prst="rect">
              <a:avLst/>
            </a:prstGeom>
          </p:spPr>
          <p:txBody>
            <a:bodyPr anchor="ctr" rtlCol="false" tIns="50800" lIns="50800" bIns="50800" rIns="50800"/>
            <a:lstStyle/>
            <a:p>
              <a:pPr algn="ctr">
                <a:lnSpc>
                  <a:spcPts val="2659"/>
                </a:lnSpc>
              </a:pPr>
            </a:p>
          </p:txBody>
        </p:sp>
      </p:grpSp>
      <p:sp>
        <p:nvSpPr>
          <p:cNvPr name="Freeform 12" id="12"/>
          <p:cNvSpPr/>
          <p:nvPr/>
        </p:nvSpPr>
        <p:spPr>
          <a:xfrm flipH="false" flipV="false" rot="2089252">
            <a:off x="-6984847" y="4534055"/>
            <a:ext cx="13969695" cy="5395795"/>
          </a:xfrm>
          <a:custGeom>
            <a:avLst/>
            <a:gdLst/>
            <a:ahLst/>
            <a:cxnLst/>
            <a:rect r="r" b="b" t="t" l="l"/>
            <a:pathLst>
              <a:path h="5395795" w="13969695">
                <a:moveTo>
                  <a:pt x="0" y="0"/>
                </a:moveTo>
                <a:lnTo>
                  <a:pt x="13969694" y="0"/>
                </a:lnTo>
                <a:lnTo>
                  <a:pt x="13969694" y="5395794"/>
                </a:lnTo>
                <a:lnTo>
                  <a:pt x="0" y="539579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071C42"/>
        </a:solidFill>
      </p:bgPr>
    </p:bg>
    <p:spTree>
      <p:nvGrpSpPr>
        <p:cNvPr id="1" name=""/>
        <p:cNvGrpSpPr/>
        <p:nvPr/>
      </p:nvGrpSpPr>
      <p:grpSpPr>
        <a:xfrm>
          <a:off x="0" y="0"/>
          <a:ext cx="0" cy="0"/>
          <a:chOff x="0" y="0"/>
          <a:chExt cx="0" cy="0"/>
        </a:xfrm>
      </p:grpSpPr>
      <p:grpSp>
        <p:nvGrpSpPr>
          <p:cNvPr name="Group 2" id="2"/>
          <p:cNvGrpSpPr/>
          <p:nvPr/>
        </p:nvGrpSpPr>
        <p:grpSpPr>
          <a:xfrm rot="0">
            <a:off x="8111545" y="1028700"/>
            <a:ext cx="9147755" cy="8229600"/>
            <a:chOff x="0" y="0"/>
            <a:chExt cx="2168357" cy="1950720"/>
          </a:xfrm>
        </p:grpSpPr>
        <p:sp>
          <p:nvSpPr>
            <p:cNvPr name="Freeform 3" id="3"/>
            <p:cNvSpPr/>
            <p:nvPr/>
          </p:nvSpPr>
          <p:spPr>
            <a:xfrm flipH="false" flipV="false" rot="0">
              <a:off x="0" y="0"/>
              <a:ext cx="2168357" cy="1950720"/>
            </a:xfrm>
            <a:custGeom>
              <a:avLst/>
              <a:gdLst/>
              <a:ahLst/>
              <a:cxnLst/>
              <a:rect r="r" b="b" t="t" l="l"/>
              <a:pathLst>
                <a:path h="1950720" w="2168357">
                  <a:moveTo>
                    <a:pt x="0" y="0"/>
                  </a:moveTo>
                  <a:lnTo>
                    <a:pt x="2168357" y="0"/>
                  </a:lnTo>
                  <a:lnTo>
                    <a:pt x="2168357" y="1950720"/>
                  </a:lnTo>
                  <a:lnTo>
                    <a:pt x="0" y="1950720"/>
                  </a:lnTo>
                  <a:close/>
                </a:path>
              </a:pathLst>
            </a:custGeom>
            <a:solidFill>
              <a:srgbClr val="FFFFFF"/>
            </a:solidFill>
          </p:spPr>
        </p:sp>
        <p:sp>
          <p:nvSpPr>
            <p:cNvPr name="TextBox 4" id="4"/>
            <p:cNvSpPr txBox="true"/>
            <p:nvPr/>
          </p:nvSpPr>
          <p:spPr>
            <a:xfrm>
              <a:off x="0" y="-57150"/>
              <a:ext cx="2168357" cy="2007870"/>
            </a:xfrm>
            <a:prstGeom prst="rect">
              <a:avLst/>
            </a:prstGeom>
          </p:spPr>
          <p:txBody>
            <a:bodyPr anchor="ctr" rtlCol="false" tIns="50800" lIns="50800" bIns="50800" rIns="50800"/>
            <a:lstStyle/>
            <a:p>
              <a:pPr algn="ctr">
                <a:lnSpc>
                  <a:spcPts val="2659"/>
                </a:lnSpc>
                <a:spcBef>
                  <a:spcPct val="0"/>
                </a:spcBef>
              </a:pPr>
            </a:p>
          </p:txBody>
        </p:sp>
      </p:grpSp>
      <p:pic>
        <p:nvPicPr>
          <p:cNvPr name="Picture 5" id="5"/>
          <p:cNvPicPr>
            <a:picLocks noChangeAspect="true"/>
          </p:cNvPicPr>
          <p:nvPr/>
        </p:nvPicPr>
        <p:blipFill>
          <a:blip r:embed="rId2"/>
          <a:stretch>
            <a:fillRect/>
          </a:stretch>
        </p:blipFill>
        <p:spPr>
          <a:xfrm rot="0">
            <a:off x="7975157" y="763050"/>
            <a:ext cx="9386064" cy="8760899"/>
          </a:xfrm>
          <a:prstGeom prst="rect">
            <a:avLst/>
          </a:prstGeom>
        </p:spPr>
      </p:pic>
      <p:sp>
        <p:nvSpPr>
          <p:cNvPr name="TextBox 6" id="6"/>
          <p:cNvSpPr txBox="true"/>
          <p:nvPr/>
        </p:nvSpPr>
        <p:spPr>
          <a:xfrm rot="0">
            <a:off x="1712082" y="2062122"/>
            <a:ext cx="5562601" cy="904875"/>
          </a:xfrm>
          <a:prstGeom prst="rect">
            <a:avLst/>
          </a:prstGeom>
        </p:spPr>
        <p:txBody>
          <a:bodyPr anchor="t" rtlCol="false" tIns="0" lIns="0" bIns="0" rIns="0">
            <a:spAutoFit/>
          </a:bodyPr>
          <a:lstStyle/>
          <a:p>
            <a:pPr algn="l">
              <a:lnSpc>
                <a:spcPts val="6719"/>
              </a:lnSpc>
            </a:pPr>
            <a:r>
              <a:rPr lang="en-US" sz="5599" b="true">
                <a:solidFill>
                  <a:srgbClr val="FFFFFF"/>
                </a:solidFill>
                <a:latin typeface="Poppins Bold"/>
                <a:ea typeface="Poppins Bold"/>
                <a:cs typeface="Poppins Bold"/>
                <a:sym typeface="Poppins Bold"/>
              </a:rPr>
              <a:t>Future Usage...</a:t>
            </a:r>
          </a:p>
        </p:txBody>
      </p:sp>
      <p:sp>
        <p:nvSpPr>
          <p:cNvPr name="TextBox 7" id="7"/>
          <p:cNvSpPr txBox="true"/>
          <p:nvPr/>
        </p:nvSpPr>
        <p:spPr>
          <a:xfrm rot="0">
            <a:off x="1712082" y="4553344"/>
            <a:ext cx="4643986" cy="1080135"/>
          </a:xfrm>
          <a:prstGeom prst="rect">
            <a:avLst/>
          </a:prstGeom>
        </p:spPr>
        <p:txBody>
          <a:bodyPr anchor="t" rtlCol="false" tIns="0" lIns="0" bIns="0" rIns="0">
            <a:spAutoFit/>
          </a:bodyPr>
          <a:lstStyle/>
          <a:p>
            <a:pPr algn="l">
              <a:lnSpc>
                <a:spcPts val="2880"/>
              </a:lnSpc>
            </a:pPr>
            <a:r>
              <a:rPr lang="en-US" sz="1800">
                <a:solidFill>
                  <a:srgbClr val="D9D9D9"/>
                </a:solidFill>
                <a:latin typeface="Poppins"/>
                <a:ea typeface="Poppins"/>
                <a:cs typeface="Poppins"/>
                <a:sym typeface="Poppins"/>
              </a:rPr>
              <a:t>general summary of what we did again but apply to health concerns, address bad data again</a:t>
            </a:r>
          </a:p>
        </p:txBody>
      </p:sp>
      <p:sp>
        <p:nvSpPr>
          <p:cNvPr name="AutoShape 8" id="8"/>
          <p:cNvSpPr/>
          <p:nvPr/>
        </p:nvSpPr>
        <p:spPr>
          <a:xfrm rot="0">
            <a:off x="1028700" y="601417"/>
            <a:ext cx="16230600" cy="0"/>
          </a:xfrm>
          <a:prstGeom prst="line">
            <a:avLst/>
          </a:prstGeom>
          <a:ln cap="flat" w="19050">
            <a:solidFill>
              <a:srgbClr val="D9D9D9"/>
            </a:solidFill>
            <a:prstDash val="solid"/>
            <a:headEnd type="none" len="sm" w="sm"/>
            <a:tailEnd type="none" len="sm" w="sm"/>
          </a:ln>
        </p:spPr>
      </p:sp>
      <p:grpSp>
        <p:nvGrpSpPr>
          <p:cNvPr name="Group 9" id="9"/>
          <p:cNvGrpSpPr/>
          <p:nvPr/>
        </p:nvGrpSpPr>
        <p:grpSpPr>
          <a:xfrm rot="5400000">
            <a:off x="-1947529" y="1947529"/>
            <a:ext cx="4238545" cy="343487"/>
            <a:chOff x="0" y="0"/>
            <a:chExt cx="1116325" cy="90466"/>
          </a:xfrm>
        </p:grpSpPr>
        <p:sp>
          <p:nvSpPr>
            <p:cNvPr name="Freeform 10" id="10"/>
            <p:cNvSpPr/>
            <p:nvPr/>
          </p:nvSpPr>
          <p:spPr>
            <a:xfrm flipH="false" flipV="false" rot="0">
              <a:off x="0" y="0"/>
              <a:ext cx="1116324" cy="90466"/>
            </a:xfrm>
            <a:custGeom>
              <a:avLst/>
              <a:gdLst/>
              <a:ahLst/>
              <a:cxnLst/>
              <a:rect r="r" b="b" t="t" l="l"/>
              <a:pathLst>
                <a:path h="90466" w="1116324">
                  <a:moveTo>
                    <a:pt x="0" y="0"/>
                  </a:moveTo>
                  <a:lnTo>
                    <a:pt x="1116324" y="0"/>
                  </a:lnTo>
                  <a:lnTo>
                    <a:pt x="1116324" y="90466"/>
                  </a:lnTo>
                  <a:lnTo>
                    <a:pt x="0" y="90466"/>
                  </a:lnTo>
                  <a:close/>
                </a:path>
              </a:pathLst>
            </a:custGeom>
            <a:solidFill>
              <a:srgbClr val="4DE1C7"/>
            </a:solidFill>
          </p:spPr>
        </p:sp>
        <p:sp>
          <p:nvSpPr>
            <p:cNvPr name="TextBox 11" id="11"/>
            <p:cNvSpPr txBox="true"/>
            <p:nvPr/>
          </p:nvSpPr>
          <p:spPr>
            <a:xfrm>
              <a:off x="0" y="-57150"/>
              <a:ext cx="1116325" cy="147616"/>
            </a:xfrm>
            <a:prstGeom prst="rect">
              <a:avLst/>
            </a:prstGeom>
          </p:spPr>
          <p:txBody>
            <a:bodyPr anchor="ctr" rtlCol="false" tIns="50800" lIns="50800" bIns="50800" rIns="50800"/>
            <a:lstStyle/>
            <a:p>
              <a:pPr algn="ctr">
                <a:lnSpc>
                  <a:spcPts val="2659"/>
                </a:lnSpc>
              </a:pPr>
            </a:p>
          </p:txBody>
        </p:sp>
      </p:grpSp>
      <p:sp>
        <p:nvSpPr>
          <p:cNvPr name="Freeform 12" id="12"/>
          <p:cNvSpPr/>
          <p:nvPr/>
        </p:nvSpPr>
        <p:spPr>
          <a:xfrm flipH="false" flipV="false" rot="2089252">
            <a:off x="-6984847" y="4534055"/>
            <a:ext cx="13969695" cy="5395795"/>
          </a:xfrm>
          <a:custGeom>
            <a:avLst/>
            <a:gdLst/>
            <a:ahLst/>
            <a:cxnLst/>
            <a:rect r="r" b="b" t="t" l="l"/>
            <a:pathLst>
              <a:path h="5395795" w="13969695">
                <a:moveTo>
                  <a:pt x="0" y="0"/>
                </a:moveTo>
                <a:lnTo>
                  <a:pt x="13969694" y="0"/>
                </a:lnTo>
                <a:lnTo>
                  <a:pt x="13969694" y="5395794"/>
                </a:lnTo>
                <a:lnTo>
                  <a:pt x="0" y="539579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071C42"/>
        </a:solidFill>
      </p:bgPr>
    </p:bg>
    <p:spTree>
      <p:nvGrpSpPr>
        <p:cNvPr id="1" name=""/>
        <p:cNvGrpSpPr/>
        <p:nvPr/>
      </p:nvGrpSpPr>
      <p:grpSpPr>
        <a:xfrm>
          <a:off x="0" y="0"/>
          <a:ext cx="0" cy="0"/>
          <a:chOff x="0" y="0"/>
          <a:chExt cx="0" cy="0"/>
        </a:xfrm>
      </p:grpSpPr>
      <p:sp>
        <p:nvSpPr>
          <p:cNvPr name="TextBox 2" id="2"/>
          <p:cNvSpPr txBox="true"/>
          <p:nvPr/>
        </p:nvSpPr>
        <p:spPr>
          <a:xfrm rot="0">
            <a:off x="6993864" y="2632406"/>
            <a:ext cx="7212224" cy="3068514"/>
          </a:xfrm>
          <a:prstGeom prst="rect">
            <a:avLst/>
          </a:prstGeom>
        </p:spPr>
        <p:txBody>
          <a:bodyPr anchor="t" rtlCol="false" tIns="0" lIns="0" bIns="0" rIns="0">
            <a:spAutoFit/>
          </a:bodyPr>
          <a:lstStyle/>
          <a:p>
            <a:pPr algn="l" marL="474011" indent="-237005" lvl="1">
              <a:lnSpc>
                <a:spcPts val="3073"/>
              </a:lnSpc>
              <a:buFont typeface="Arial"/>
              <a:buChar char="•"/>
            </a:pPr>
            <a:r>
              <a:rPr lang="en-US" sz="2195">
                <a:solidFill>
                  <a:srgbClr val="FFFFFF"/>
                </a:solidFill>
                <a:latin typeface="Poppins"/>
                <a:ea typeface="Poppins"/>
                <a:cs typeface="Poppins"/>
                <a:sym typeface="Poppins"/>
              </a:rPr>
              <a:t>https://www.cdc.gov/nchs/products/databriefs/db508.htm#:~:text=The%20prevalence%20of%20severe%20obesity%20in%20adults%20was%209.4%25%20and,from%207.7%25%20to%209.7%25.</a:t>
            </a:r>
          </a:p>
          <a:p>
            <a:pPr algn="l" marL="474011" indent="-237005" lvl="1">
              <a:lnSpc>
                <a:spcPts val="3073"/>
              </a:lnSpc>
              <a:buFont typeface="Arial"/>
              <a:buChar char="•"/>
            </a:pPr>
            <a:r>
              <a:rPr lang="en-US" sz="2195">
                <a:solidFill>
                  <a:srgbClr val="FFFFFF"/>
                </a:solidFill>
                <a:latin typeface="Poppins"/>
                <a:ea typeface="Poppins"/>
                <a:cs typeface="Poppins"/>
                <a:sym typeface="Poppins"/>
              </a:rPr>
              <a:t>https://www.healthdata.org/news-events/newsroom/news-releases/lancet-without-immediate-action-nearly-260-million-people-usa</a:t>
            </a:r>
          </a:p>
        </p:txBody>
      </p:sp>
      <p:sp>
        <p:nvSpPr>
          <p:cNvPr name="TextBox 3" id="3"/>
          <p:cNvSpPr txBox="true"/>
          <p:nvPr/>
        </p:nvSpPr>
        <p:spPr>
          <a:xfrm rot="0">
            <a:off x="12749973" y="1126924"/>
            <a:ext cx="4668112" cy="904875"/>
          </a:xfrm>
          <a:prstGeom prst="rect">
            <a:avLst/>
          </a:prstGeom>
        </p:spPr>
        <p:txBody>
          <a:bodyPr anchor="t" rtlCol="false" tIns="0" lIns="0" bIns="0" rIns="0">
            <a:spAutoFit/>
          </a:bodyPr>
          <a:lstStyle/>
          <a:p>
            <a:pPr algn="l">
              <a:lnSpc>
                <a:spcPts val="6719"/>
              </a:lnSpc>
            </a:pPr>
            <a:r>
              <a:rPr lang="en-US" sz="5599" b="true">
                <a:solidFill>
                  <a:srgbClr val="FFFFFF"/>
                </a:solidFill>
                <a:latin typeface="Poppins Bold"/>
                <a:ea typeface="Poppins Bold"/>
                <a:cs typeface="Poppins Bold"/>
                <a:sym typeface="Poppins Bold"/>
              </a:rPr>
              <a:t>References</a:t>
            </a:r>
          </a:p>
        </p:txBody>
      </p:sp>
      <p:sp>
        <p:nvSpPr>
          <p:cNvPr name="AutoShape 4" id="4"/>
          <p:cNvSpPr/>
          <p:nvPr/>
        </p:nvSpPr>
        <p:spPr>
          <a:xfrm rot="0">
            <a:off x="1028700" y="601417"/>
            <a:ext cx="16230600" cy="0"/>
          </a:xfrm>
          <a:prstGeom prst="line">
            <a:avLst/>
          </a:prstGeom>
          <a:ln cap="flat" w="19050">
            <a:solidFill>
              <a:srgbClr val="D9D9D9"/>
            </a:solidFill>
            <a:prstDash val="solid"/>
            <a:headEnd type="none" len="sm" w="sm"/>
            <a:tailEnd type="none" len="sm" w="sm"/>
          </a:ln>
        </p:spPr>
      </p:sp>
      <p:grpSp>
        <p:nvGrpSpPr>
          <p:cNvPr name="Group 5" id="5"/>
          <p:cNvGrpSpPr/>
          <p:nvPr/>
        </p:nvGrpSpPr>
        <p:grpSpPr>
          <a:xfrm rot="0">
            <a:off x="9144000" y="9943513"/>
            <a:ext cx="9144000" cy="343487"/>
            <a:chOff x="0" y="0"/>
            <a:chExt cx="2408296" cy="90466"/>
          </a:xfrm>
        </p:grpSpPr>
        <p:sp>
          <p:nvSpPr>
            <p:cNvPr name="Freeform 6" id="6"/>
            <p:cNvSpPr/>
            <p:nvPr/>
          </p:nvSpPr>
          <p:spPr>
            <a:xfrm flipH="false" flipV="false" rot="0">
              <a:off x="0" y="0"/>
              <a:ext cx="2408296" cy="90466"/>
            </a:xfrm>
            <a:custGeom>
              <a:avLst/>
              <a:gdLst/>
              <a:ahLst/>
              <a:cxnLst/>
              <a:rect r="r" b="b" t="t" l="l"/>
              <a:pathLst>
                <a:path h="90466" w="2408296">
                  <a:moveTo>
                    <a:pt x="0" y="0"/>
                  </a:moveTo>
                  <a:lnTo>
                    <a:pt x="2408296" y="0"/>
                  </a:lnTo>
                  <a:lnTo>
                    <a:pt x="2408296" y="90466"/>
                  </a:lnTo>
                  <a:lnTo>
                    <a:pt x="0" y="90466"/>
                  </a:lnTo>
                  <a:close/>
                </a:path>
              </a:pathLst>
            </a:custGeom>
            <a:solidFill>
              <a:srgbClr val="4DE1C7"/>
            </a:solidFill>
          </p:spPr>
        </p:sp>
        <p:sp>
          <p:nvSpPr>
            <p:cNvPr name="TextBox 7" id="7"/>
            <p:cNvSpPr txBox="true"/>
            <p:nvPr/>
          </p:nvSpPr>
          <p:spPr>
            <a:xfrm>
              <a:off x="0" y="-57150"/>
              <a:ext cx="2408296" cy="147616"/>
            </a:xfrm>
            <a:prstGeom prst="rect">
              <a:avLst/>
            </a:prstGeom>
          </p:spPr>
          <p:txBody>
            <a:bodyPr anchor="ctr" rtlCol="false" tIns="50800" lIns="50800" bIns="50800" rIns="50800"/>
            <a:lstStyle/>
            <a:p>
              <a:pPr algn="ctr">
                <a:lnSpc>
                  <a:spcPts val="2659"/>
                </a:lnSpc>
              </a:pPr>
            </a:p>
          </p:txBody>
        </p:sp>
      </p:grpSp>
      <p:sp>
        <p:nvSpPr>
          <p:cNvPr name="Freeform 8" id="8"/>
          <p:cNvSpPr/>
          <p:nvPr/>
        </p:nvSpPr>
        <p:spPr>
          <a:xfrm flipH="false" flipV="false" rot="2985664">
            <a:off x="-8029131" y="668768"/>
            <a:ext cx="18115662" cy="6997174"/>
          </a:xfrm>
          <a:custGeom>
            <a:avLst/>
            <a:gdLst/>
            <a:ahLst/>
            <a:cxnLst/>
            <a:rect r="r" b="b" t="t" l="l"/>
            <a:pathLst>
              <a:path h="6997174" w="18115662">
                <a:moveTo>
                  <a:pt x="0" y="0"/>
                </a:moveTo>
                <a:lnTo>
                  <a:pt x="18115662" y="0"/>
                </a:lnTo>
                <a:lnTo>
                  <a:pt x="18115662" y="6997175"/>
                </a:lnTo>
                <a:lnTo>
                  <a:pt x="0" y="699717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DAGiGaRcy3E</dc:identifier>
  <dcterms:modified xsi:type="dcterms:W3CDTF">2011-08-01T06:04:30Z</dcterms:modified>
  <cp:revision>1</cp:revision>
  <dc:title>Data-Driven Personalized Workout Optimization System</dc:title>
</cp:coreProperties>
</file>