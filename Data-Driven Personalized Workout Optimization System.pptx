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Lst>
  <p:sldSz cy="10287000" cx="18288000"/>
  <p:notesSz cx="6858000" cy="9144000"/>
  <p:embeddedFontLst>
    <p:embeddedFont>
      <p:font typeface="Poppins"/>
      <p:regular r:id="rId38"/>
      <p:bold r:id="rId39"/>
      <p:italic r:id="rId40"/>
      <p:boldItalic r:id="rId41"/>
    </p:embeddedFont>
    <p:embeddedFont>
      <p:font typeface="Poppins Medium"/>
      <p:regular r:id="rId42"/>
      <p:bold r:id="rId43"/>
      <p:italic r:id="rId44"/>
      <p:boldItalic r:id="rId4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46" roundtripDataSignature="AMtx7micCH1czaL5iOFVamZFxQai+oT3m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C5F93C3-6B1B-4ACE-B11E-3BA65349ACD2}">
  <a:tblStyle styleId="{2C5F93C3-6B1B-4ACE-B11E-3BA65349ACD2}"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F586E2BA-46AD-47D7-B54C-4D726C516257}"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Poppins-italic.fntdata"/><Relationship Id="rId20" Type="http://schemas.openxmlformats.org/officeDocument/2006/relationships/slide" Target="slides/slide14.xml"/><Relationship Id="rId42" Type="http://schemas.openxmlformats.org/officeDocument/2006/relationships/font" Target="fonts/PoppinsMedium-regular.fntdata"/><Relationship Id="rId41" Type="http://schemas.openxmlformats.org/officeDocument/2006/relationships/font" Target="fonts/Poppins-boldItalic.fntdata"/><Relationship Id="rId22" Type="http://schemas.openxmlformats.org/officeDocument/2006/relationships/slide" Target="slides/slide16.xml"/><Relationship Id="rId44" Type="http://schemas.openxmlformats.org/officeDocument/2006/relationships/font" Target="fonts/PoppinsMedium-italic.fntdata"/><Relationship Id="rId21" Type="http://schemas.openxmlformats.org/officeDocument/2006/relationships/slide" Target="slides/slide15.xml"/><Relationship Id="rId43" Type="http://schemas.openxmlformats.org/officeDocument/2006/relationships/font" Target="fonts/PoppinsMedium-bold.fntdata"/><Relationship Id="rId24" Type="http://schemas.openxmlformats.org/officeDocument/2006/relationships/slide" Target="slides/slide18.xml"/><Relationship Id="rId46" Type="http://customschemas.google.com/relationships/presentationmetadata" Target="metadata"/><Relationship Id="rId23" Type="http://schemas.openxmlformats.org/officeDocument/2006/relationships/slide" Target="slides/slide17.xml"/><Relationship Id="rId45" Type="http://schemas.openxmlformats.org/officeDocument/2006/relationships/font" Target="fonts/PoppinsMedium-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font" Target="fonts/Poppins-bold.fntdata"/><Relationship Id="rId16" Type="http://schemas.openxmlformats.org/officeDocument/2006/relationships/slide" Target="slides/slide10.xml"/><Relationship Id="rId38" Type="http://schemas.openxmlformats.org/officeDocument/2006/relationships/font" Target="fonts/Poppins-regular.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41d387c2eb_2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g341d387c2eb_2_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41d387c2eb_2_2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g341d387c2eb_2_22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341d387c2eb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g341d387c2eb_0_2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341d387c2eb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g341d387c2eb_0_3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341d387c2eb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g341d387c2eb_0_5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341d387c2eb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g341d387c2eb_0_6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341d387c2eb_1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g341d387c2eb_1_3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341d387c2eb_1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g341d387c2eb_1_5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341d387c2eb_1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g341d387c2eb_1_1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g341d387c2eb_1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g341d387c2eb_1_9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g341d387c2eb_2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g341d387c2eb_2_4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g341d387c2eb_2_1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g341d387c2eb_2_16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g341d387c2eb_2_1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g341d387c2eb_2_18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g341d387c2eb_2_2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g341d387c2eb_2_20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g341a6d35792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g341a6d35792_0_2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g341d387c2eb_5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93" name="Google Shape;493;g341d387c2eb_5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g341d387c2e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g341d387c2eb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g341d387c2eb_5_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16" name="Google Shape;516;g341d387c2eb_5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 name="Shape 530"/>
        <p:cNvGrpSpPr/>
        <p:nvPr/>
      </p:nvGrpSpPr>
      <p:grpSpPr>
        <a:xfrm>
          <a:off x="0" y="0"/>
          <a:ext cx="0" cy="0"/>
          <a:chOff x="0" y="0"/>
          <a:chExt cx="0" cy="0"/>
        </a:xfrm>
      </p:grpSpPr>
      <p:sp>
        <p:nvSpPr>
          <p:cNvPr id="531" name="Google Shape;531;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46" name="Google Shape;546;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0"/>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0"/>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2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2"/>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22"/>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23"/>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23"/>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24"/>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24"/>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24"/>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24"/>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26"/>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26"/>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26"/>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7"/>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27"/>
          <p:cNvSpPr/>
          <p:nvPr>
            <p:ph idx="2" type="pic"/>
          </p:nvPr>
        </p:nvSpPr>
        <p:spPr>
          <a:xfrm>
            <a:off x="1792288" y="612775"/>
            <a:ext cx="5486400" cy="4114800"/>
          </a:xfrm>
          <a:prstGeom prst="rect">
            <a:avLst/>
          </a:prstGeom>
          <a:noFill/>
          <a:ln>
            <a:noFill/>
          </a:ln>
        </p:spPr>
      </p:sp>
      <p:sp>
        <p:nvSpPr>
          <p:cNvPr id="64" name="Google Shape;64;p27"/>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8"/>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9"/>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29"/>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hyperlink" Target="https://www.kaggle.com/datasets/adilshamim8/workout-and-fitness-tracker-data" TargetMode="External"/><Relationship Id="rId5" Type="http://schemas.openxmlformats.org/officeDocument/2006/relationships/image" Target="../media/image33.png"/><Relationship Id="rId6" Type="http://schemas.openxmlformats.org/officeDocument/2006/relationships/image" Target="../media/image20.png"/><Relationship Id="rId7" Type="http://schemas.openxmlformats.org/officeDocument/2006/relationships/image" Target="../media/image4.png"/><Relationship Id="rId8"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15.png"/><Relationship Id="rId5" Type="http://schemas.openxmlformats.org/officeDocument/2006/relationships/image" Target="../media/image4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10.png"/><Relationship Id="rId5"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png"/><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png"/><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png"/><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11" Type="http://schemas.openxmlformats.org/officeDocument/2006/relationships/image" Target="../media/image21.png"/><Relationship Id="rId10" Type="http://schemas.openxmlformats.org/officeDocument/2006/relationships/image" Target="../media/image16.png"/><Relationship Id="rId13" Type="http://schemas.openxmlformats.org/officeDocument/2006/relationships/image" Target="../media/image17.png"/><Relationship Id="rId12" Type="http://schemas.openxmlformats.org/officeDocument/2006/relationships/image" Target="../media/image23.png"/><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png"/><Relationship Id="rId4" Type="http://schemas.openxmlformats.org/officeDocument/2006/relationships/image" Target="../media/image18.png"/><Relationship Id="rId9" Type="http://schemas.openxmlformats.org/officeDocument/2006/relationships/image" Target="../media/image14.png"/><Relationship Id="rId14" Type="http://schemas.openxmlformats.org/officeDocument/2006/relationships/image" Target="../media/image30.png"/><Relationship Id="rId5" Type="http://schemas.openxmlformats.org/officeDocument/2006/relationships/image" Target="../media/image22.png"/><Relationship Id="rId6" Type="http://schemas.openxmlformats.org/officeDocument/2006/relationships/image" Target="../media/image28.png"/><Relationship Id="rId7" Type="http://schemas.openxmlformats.org/officeDocument/2006/relationships/image" Target="../media/image11.png"/><Relationship Id="rId8"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png"/><Relationship Id="rId4" Type="http://schemas.openxmlformats.org/officeDocument/2006/relationships/image" Target="../media/image35.png"/><Relationship Id="rId5" Type="http://schemas.openxmlformats.org/officeDocument/2006/relationships/image" Target="../media/image27.png"/><Relationship Id="rId6" Type="http://schemas.openxmlformats.org/officeDocument/2006/relationships/image" Target="../media/image26.png"/><Relationship Id="rId7" Type="http://schemas.openxmlformats.org/officeDocument/2006/relationships/image" Target="../media/image32.png"/><Relationship Id="rId8" Type="http://schemas.openxmlformats.org/officeDocument/2006/relationships/image" Target="../media/image3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png"/><Relationship Id="rId4" Type="http://schemas.openxmlformats.org/officeDocument/2006/relationships/image" Target="../media/image44.png"/><Relationship Id="rId5" Type="http://schemas.openxmlformats.org/officeDocument/2006/relationships/image" Target="../media/image2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png"/><Relationship Id="rId4" Type="http://schemas.openxmlformats.org/officeDocument/2006/relationships/image" Target="../media/image3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png"/><Relationship Id="rId4" Type="http://schemas.openxmlformats.org/officeDocument/2006/relationships/image" Target="../media/image2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png"/><Relationship Id="rId4" Type="http://schemas.openxmlformats.org/officeDocument/2006/relationships/image" Target="../media/image25.png"/><Relationship Id="rId5" Type="http://schemas.openxmlformats.org/officeDocument/2006/relationships/image" Target="../media/image4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2.png"/><Relationship Id="rId4" Type="http://schemas.openxmlformats.org/officeDocument/2006/relationships/image" Target="../media/image4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2.png"/><Relationship Id="rId4" Type="http://schemas.openxmlformats.org/officeDocument/2006/relationships/image" Target="../media/image37.png"/><Relationship Id="rId5" Type="http://schemas.openxmlformats.org/officeDocument/2006/relationships/image" Target="../media/image3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2.png"/><Relationship Id="rId4" Type="http://schemas.openxmlformats.org/officeDocument/2006/relationships/image" Target="../media/image4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3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2.png"/><Relationship Id="rId4" Type="http://schemas.openxmlformats.org/officeDocument/2006/relationships/image" Target="../media/image4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3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hyperlink" Target="https://www.healthdata.org/news-events/newsroom/news-releases/lancet-without-immediate-action-nearly-260-million-people-usa" TargetMode="Externa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71C42"/>
        </a:solidFill>
      </p:bgPr>
    </p:bg>
    <p:spTree>
      <p:nvGrpSpPr>
        <p:cNvPr id="83" name="Shape 83"/>
        <p:cNvGrpSpPr/>
        <p:nvPr/>
      </p:nvGrpSpPr>
      <p:grpSpPr>
        <a:xfrm>
          <a:off x="0" y="0"/>
          <a:ext cx="0" cy="0"/>
          <a:chOff x="0" y="0"/>
          <a:chExt cx="0" cy="0"/>
        </a:xfrm>
      </p:grpSpPr>
      <p:grpSp>
        <p:nvGrpSpPr>
          <p:cNvPr id="84" name="Google Shape;84;p1"/>
          <p:cNvGrpSpPr/>
          <p:nvPr/>
        </p:nvGrpSpPr>
        <p:grpSpPr>
          <a:xfrm>
            <a:off x="0" y="9726522"/>
            <a:ext cx="9144000" cy="560478"/>
            <a:chOff x="0" y="-57150"/>
            <a:chExt cx="2408296" cy="147616"/>
          </a:xfrm>
        </p:grpSpPr>
        <p:sp>
          <p:nvSpPr>
            <p:cNvPr id="85" name="Google Shape;85;p1"/>
            <p:cNvSpPr/>
            <p:nvPr/>
          </p:nvSpPr>
          <p:spPr>
            <a:xfrm>
              <a:off x="0" y="0"/>
              <a:ext cx="2408296" cy="90466"/>
            </a:xfrm>
            <a:custGeom>
              <a:rect b="b" l="l" r="r" t="t"/>
              <a:pathLst>
                <a:path extrusionOk="0" h="90466" w="2408296">
                  <a:moveTo>
                    <a:pt x="0" y="0"/>
                  </a:moveTo>
                  <a:lnTo>
                    <a:pt x="2408296" y="0"/>
                  </a:lnTo>
                  <a:lnTo>
                    <a:pt x="2408296" y="90466"/>
                  </a:lnTo>
                  <a:lnTo>
                    <a:pt x="0" y="90466"/>
                  </a:lnTo>
                  <a:close/>
                </a:path>
              </a:pathLst>
            </a:custGeom>
            <a:solidFill>
              <a:srgbClr val="4DE1C7"/>
            </a:solidFill>
            <a:ln>
              <a:noFill/>
            </a:ln>
          </p:spPr>
        </p:sp>
        <p:sp>
          <p:nvSpPr>
            <p:cNvPr id="86" name="Google Shape;86;p1"/>
            <p:cNvSpPr txBox="1"/>
            <p:nvPr/>
          </p:nvSpPr>
          <p:spPr>
            <a:xfrm>
              <a:off x="0" y="-57150"/>
              <a:ext cx="2408296" cy="147616"/>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87" name="Google Shape;87;p1"/>
          <p:cNvSpPr/>
          <p:nvPr/>
        </p:nvSpPr>
        <p:spPr>
          <a:xfrm rot="7078295">
            <a:off x="8283948" y="3325399"/>
            <a:ext cx="13998478" cy="5406912"/>
          </a:xfrm>
          <a:custGeom>
            <a:rect b="b" l="l" r="r" t="t"/>
            <a:pathLst>
              <a:path extrusionOk="0" h="5395795" w="13969695">
                <a:moveTo>
                  <a:pt x="13969695" y="5395794"/>
                </a:moveTo>
                <a:lnTo>
                  <a:pt x="0" y="5395794"/>
                </a:lnTo>
                <a:lnTo>
                  <a:pt x="0" y="0"/>
                </a:lnTo>
                <a:lnTo>
                  <a:pt x="13969695" y="0"/>
                </a:lnTo>
                <a:lnTo>
                  <a:pt x="13969695" y="5395794"/>
                </a:lnTo>
                <a:close/>
              </a:path>
            </a:pathLst>
          </a:custGeom>
          <a:blipFill rotWithShape="1">
            <a:blip r:embed="rId3">
              <a:alphaModFix/>
            </a:blip>
            <a:stretch>
              <a:fillRect b="0" l="0" r="0" t="0"/>
            </a:stretch>
          </a:blipFill>
          <a:ln>
            <a:noFill/>
          </a:ln>
        </p:spPr>
      </p:sp>
      <p:sp>
        <p:nvSpPr>
          <p:cNvPr id="88" name="Google Shape;88;p1"/>
          <p:cNvSpPr/>
          <p:nvPr/>
        </p:nvSpPr>
        <p:spPr>
          <a:xfrm rot="-2088241">
            <a:off x="-1318414" y="385775"/>
            <a:ext cx="7305318" cy="1963304"/>
          </a:xfrm>
          <a:custGeom>
            <a:rect b="b" l="l" r="r" t="t"/>
            <a:pathLst>
              <a:path extrusionOk="0" h="1965960" w="7315200">
                <a:moveTo>
                  <a:pt x="0" y="0"/>
                </a:moveTo>
                <a:lnTo>
                  <a:pt x="7315200" y="0"/>
                </a:lnTo>
                <a:lnTo>
                  <a:pt x="7315200" y="1965960"/>
                </a:lnTo>
                <a:lnTo>
                  <a:pt x="0" y="1965960"/>
                </a:lnTo>
                <a:lnTo>
                  <a:pt x="0" y="0"/>
                </a:lnTo>
                <a:close/>
              </a:path>
            </a:pathLst>
          </a:custGeom>
          <a:blipFill rotWithShape="1">
            <a:blip r:embed="rId4">
              <a:alphaModFix/>
            </a:blip>
            <a:stretch>
              <a:fillRect b="0" l="0" r="0" t="0"/>
            </a:stretch>
          </a:blipFill>
          <a:ln>
            <a:noFill/>
          </a:ln>
        </p:spPr>
      </p:sp>
      <p:sp>
        <p:nvSpPr>
          <p:cNvPr id="89" name="Google Shape;89;p1"/>
          <p:cNvSpPr txBox="1"/>
          <p:nvPr/>
        </p:nvSpPr>
        <p:spPr>
          <a:xfrm>
            <a:off x="2481369" y="1542186"/>
            <a:ext cx="12461700" cy="6913500"/>
          </a:xfrm>
          <a:prstGeom prst="rect">
            <a:avLst/>
          </a:prstGeom>
          <a:noFill/>
          <a:ln>
            <a:noFill/>
          </a:ln>
        </p:spPr>
        <p:txBody>
          <a:bodyPr anchorCtr="0" anchor="t" bIns="0" lIns="0" spcFirstLastPara="1" rIns="0" wrap="square" tIns="0">
            <a:spAutoFit/>
          </a:bodyPr>
          <a:lstStyle/>
          <a:p>
            <a:pPr indent="0" lvl="0" marL="0" marR="0" rtl="0" algn="l">
              <a:lnSpc>
                <a:spcPct val="140004"/>
              </a:lnSpc>
              <a:spcBef>
                <a:spcPts val="0"/>
              </a:spcBef>
              <a:spcAft>
                <a:spcPts val="0"/>
              </a:spcAft>
              <a:buNone/>
            </a:pPr>
            <a:r>
              <a:rPr b="1" i="0" lang="en-US" sz="8599" u="none" cap="none" strike="noStrike">
                <a:solidFill>
                  <a:srgbClr val="FFFFFF"/>
                </a:solidFill>
                <a:latin typeface="Poppins Medium"/>
                <a:ea typeface="Poppins Medium"/>
                <a:cs typeface="Poppins Medium"/>
                <a:sym typeface="Poppins Medium"/>
              </a:rPr>
              <a:t>Data-Driven Personalized Workout Optimization System</a:t>
            </a:r>
            <a:endParaRPr sz="1200"/>
          </a:p>
          <a:p>
            <a:pPr indent="0" lvl="0" marL="0" marR="0" rtl="0" algn="l">
              <a:lnSpc>
                <a:spcPct val="140004"/>
              </a:lnSpc>
              <a:spcBef>
                <a:spcPts val="0"/>
              </a:spcBef>
              <a:spcAft>
                <a:spcPts val="0"/>
              </a:spcAft>
              <a:buNone/>
            </a:pPr>
            <a:r>
              <a:t/>
            </a:r>
            <a:endParaRPr b="1" i="0" sz="8799" u="none" cap="none" strike="noStrike">
              <a:solidFill>
                <a:srgbClr val="FFFFFF"/>
              </a:solidFill>
              <a:latin typeface="Poppins Medium"/>
              <a:ea typeface="Poppins Medium"/>
              <a:cs typeface="Poppins Medium"/>
              <a:sym typeface="Poppins Medium"/>
            </a:endParaRPr>
          </a:p>
        </p:txBody>
      </p:sp>
      <p:sp>
        <p:nvSpPr>
          <p:cNvPr id="90" name="Google Shape;90;p1"/>
          <p:cNvSpPr txBox="1"/>
          <p:nvPr/>
        </p:nvSpPr>
        <p:spPr>
          <a:xfrm>
            <a:off x="1570275" y="7754525"/>
            <a:ext cx="6394800" cy="11637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800" u="none" cap="none" strike="noStrike">
                <a:solidFill>
                  <a:srgbClr val="D9D9D9"/>
                </a:solidFill>
                <a:latin typeface="Poppins"/>
                <a:ea typeface="Poppins"/>
                <a:cs typeface="Poppins"/>
                <a:sym typeface="Poppins"/>
              </a:rPr>
              <a:t>Venkatesh Nagarjuna, Diluni Peiris, Manoj Kodihalli Venkatesh, Jose Luis Garcia Montero, Ella Brown</a:t>
            </a:r>
            <a:endParaRPr/>
          </a:p>
          <a:p>
            <a:pPr indent="0" lvl="0" marL="0" marR="0" rtl="0" algn="l">
              <a:lnSpc>
                <a:spcPct val="160000"/>
              </a:lnSpc>
              <a:spcBef>
                <a:spcPts val="0"/>
              </a:spcBef>
              <a:spcAft>
                <a:spcPts val="0"/>
              </a:spcAft>
              <a:buNone/>
            </a:pPr>
            <a:r>
              <a:t/>
            </a:r>
            <a:endParaRPr b="0" i="0" sz="1800" u="none" cap="none" strike="noStrike">
              <a:solidFill>
                <a:srgbClr val="D9D9D9"/>
              </a:solidFill>
              <a:latin typeface="Poppins"/>
              <a:ea typeface="Poppins"/>
              <a:cs typeface="Poppins"/>
              <a:sym typeface="Poppi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grpSp>
        <p:nvGrpSpPr>
          <p:cNvPr id="95" name="Google Shape;95;p2"/>
          <p:cNvGrpSpPr/>
          <p:nvPr/>
        </p:nvGrpSpPr>
        <p:grpSpPr>
          <a:xfrm>
            <a:off x="0" y="-216991"/>
            <a:ext cx="18288000" cy="4761466"/>
            <a:chOff x="0" y="-57150"/>
            <a:chExt cx="4816593" cy="1254049"/>
          </a:xfrm>
        </p:grpSpPr>
        <p:sp>
          <p:nvSpPr>
            <p:cNvPr id="96" name="Google Shape;96;p2"/>
            <p:cNvSpPr/>
            <p:nvPr/>
          </p:nvSpPr>
          <p:spPr>
            <a:xfrm>
              <a:off x="0" y="0"/>
              <a:ext cx="4816592" cy="1196899"/>
            </a:xfrm>
            <a:custGeom>
              <a:rect b="b" l="l" r="r" t="t"/>
              <a:pathLst>
                <a:path extrusionOk="0" h="1196899" w="4816592">
                  <a:moveTo>
                    <a:pt x="0" y="0"/>
                  </a:moveTo>
                  <a:lnTo>
                    <a:pt x="4816592" y="0"/>
                  </a:lnTo>
                  <a:lnTo>
                    <a:pt x="4816592" y="1196899"/>
                  </a:lnTo>
                  <a:lnTo>
                    <a:pt x="0" y="1196899"/>
                  </a:lnTo>
                  <a:close/>
                </a:path>
              </a:pathLst>
            </a:custGeom>
            <a:solidFill>
              <a:srgbClr val="071C42"/>
            </a:solidFill>
            <a:ln>
              <a:noFill/>
            </a:ln>
          </p:spPr>
        </p:sp>
        <p:sp>
          <p:nvSpPr>
            <p:cNvPr id="97" name="Google Shape;97;p2"/>
            <p:cNvSpPr txBox="1"/>
            <p:nvPr/>
          </p:nvSpPr>
          <p:spPr>
            <a:xfrm>
              <a:off x="0" y="-57150"/>
              <a:ext cx="4816593" cy="1254049"/>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cxnSp>
        <p:nvCxnSpPr>
          <p:cNvPr id="98" name="Google Shape;98;p2"/>
          <p:cNvCxnSpPr/>
          <p:nvPr/>
        </p:nvCxnSpPr>
        <p:spPr>
          <a:xfrm>
            <a:off x="1028700" y="601417"/>
            <a:ext cx="16230600" cy="0"/>
          </a:xfrm>
          <a:prstGeom prst="straightConnector1">
            <a:avLst/>
          </a:prstGeom>
          <a:noFill/>
          <a:ln cap="flat" cmpd="sng" w="19050">
            <a:solidFill>
              <a:srgbClr val="D9D9D9"/>
            </a:solidFill>
            <a:prstDash val="solid"/>
            <a:round/>
            <a:headEnd len="sm" w="sm" type="none"/>
            <a:tailEnd len="sm" w="sm" type="none"/>
          </a:ln>
        </p:spPr>
      </p:cxnSp>
      <p:grpSp>
        <p:nvGrpSpPr>
          <p:cNvPr id="99" name="Google Shape;99;p2"/>
          <p:cNvGrpSpPr/>
          <p:nvPr/>
        </p:nvGrpSpPr>
        <p:grpSpPr>
          <a:xfrm>
            <a:off x="0" y="3983997"/>
            <a:ext cx="9144000" cy="560478"/>
            <a:chOff x="0" y="-57150"/>
            <a:chExt cx="2408296" cy="147616"/>
          </a:xfrm>
        </p:grpSpPr>
        <p:sp>
          <p:nvSpPr>
            <p:cNvPr id="100" name="Google Shape;100;p2"/>
            <p:cNvSpPr/>
            <p:nvPr/>
          </p:nvSpPr>
          <p:spPr>
            <a:xfrm>
              <a:off x="0" y="0"/>
              <a:ext cx="2408296" cy="90466"/>
            </a:xfrm>
            <a:custGeom>
              <a:rect b="b" l="l" r="r" t="t"/>
              <a:pathLst>
                <a:path extrusionOk="0" h="90466" w="2408296">
                  <a:moveTo>
                    <a:pt x="0" y="0"/>
                  </a:moveTo>
                  <a:lnTo>
                    <a:pt x="2408296" y="0"/>
                  </a:lnTo>
                  <a:lnTo>
                    <a:pt x="2408296" y="90466"/>
                  </a:lnTo>
                  <a:lnTo>
                    <a:pt x="0" y="90466"/>
                  </a:lnTo>
                  <a:close/>
                </a:path>
              </a:pathLst>
            </a:custGeom>
            <a:solidFill>
              <a:srgbClr val="4DE1C7"/>
            </a:solidFill>
            <a:ln>
              <a:noFill/>
            </a:ln>
          </p:spPr>
        </p:sp>
        <p:sp>
          <p:nvSpPr>
            <p:cNvPr id="101" name="Google Shape;101;p2"/>
            <p:cNvSpPr txBox="1"/>
            <p:nvPr/>
          </p:nvSpPr>
          <p:spPr>
            <a:xfrm>
              <a:off x="0" y="-57150"/>
              <a:ext cx="2408296" cy="147616"/>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02" name="Google Shape;102;p2"/>
          <p:cNvSpPr/>
          <p:nvPr/>
        </p:nvSpPr>
        <p:spPr>
          <a:xfrm rot="4689340">
            <a:off x="9319399" y="-1137412"/>
            <a:ext cx="13952441" cy="5389130"/>
          </a:xfrm>
          <a:custGeom>
            <a:rect b="b" l="l" r="r" t="t"/>
            <a:pathLst>
              <a:path extrusionOk="0" h="5395795" w="13969695">
                <a:moveTo>
                  <a:pt x="0" y="0"/>
                </a:moveTo>
                <a:lnTo>
                  <a:pt x="13969695" y="0"/>
                </a:lnTo>
                <a:lnTo>
                  <a:pt x="13969695" y="5395795"/>
                </a:lnTo>
                <a:lnTo>
                  <a:pt x="0" y="5395795"/>
                </a:lnTo>
                <a:lnTo>
                  <a:pt x="0" y="0"/>
                </a:lnTo>
                <a:close/>
              </a:path>
            </a:pathLst>
          </a:custGeom>
          <a:blipFill rotWithShape="1">
            <a:blip r:embed="rId3">
              <a:alphaModFix/>
            </a:blip>
            <a:stretch>
              <a:fillRect b="0" l="0" r="0" t="0"/>
            </a:stretch>
          </a:blipFill>
          <a:ln>
            <a:noFill/>
          </a:ln>
        </p:spPr>
      </p:sp>
      <p:sp>
        <p:nvSpPr>
          <p:cNvPr id="103" name="Google Shape;103;p2"/>
          <p:cNvSpPr txBox="1"/>
          <p:nvPr/>
        </p:nvSpPr>
        <p:spPr>
          <a:xfrm>
            <a:off x="1028700" y="4991292"/>
            <a:ext cx="15232800" cy="5350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200"/>
              </a:spcBef>
              <a:spcAft>
                <a:spcPts val="0"/>
              </a:spcAft>
              <a:buClr>
                <a:schemeClr val="dk1"/>
              </a:buClr>
              <a:buSzPts val="1100"/>
              <a:buFont typeface="Arial"/>
              <a:buNone/>
            </a:pPr>
            <a:r>
              <a:rPr b="1" lang="en-US" sz="2100">
                <a:solidFill>
                  <a:schemeClr val="dk1"/>
                </a:solidFill>
              </a:rPr>
              <a:t>Rising Obesity Rates in the U.S.:</a:t>
            </a:r>
            <a:endParaRPr b="1" sz="2100">
              <a:solidFill>
                <a:schemeClr val="dk1"/>
              </a:solidFill>
            </a:endParaRPr>
          </a:p>
          <a:p>
            <a:pPr indent="-361950" lvl="0" marL="457200" rtl="0" algn="l">
              <a:lnSpc>
                <a:spcPct val="115000"/>
              </a:lnSpc>
              <a:spcBef>
                <a:spcPts val="1200"/>
              </a:spcBef>
              <a:spcAft>
                <a:spcPts val="0"/>
              </a:spcAft>
              <a:buClr>
                <a:schemeClr val="dk1"/>
              </a:buClr>
              <a:buSzPts val="2100"/>
              <a:buChar char="●"/>
            </a:pPr>
            <a:r>
              <a:rPr lang="en-US" sz="2100">
                <a:solidFill>
                  <a:schemeClr val="dk1"/>
                </a:solidFill>
              </a:rPr>
              <a:t>Severe obesity in adults increased from </a:t>
            </a:r>
            <a:r>
              <a:rPr b="1" lang="en-US" sz="2100">
                <a:solidFill>
                  <a:schemeClr val="dk1"/>
                </a:solidFill>
              </a:rPr>
              <a:t>4.7% (1999–2000)</a:t>
            </a:r>
            <a:r>
              <a:rPr lang="en-US" sz="2100">
                <a:solidFill>
                  <a:schemeClr val="dk1"/>
                </a:solidFill>
              </a:rPr>
              <a:t> to </a:t>
            </a:r>
            <a:r>
              <a:rPr b="1" lang="en-US" sz="2100">
                <a:solidFill>
                  <a:schemeClr val="dk1"/>
                </a:solidFill>
              </a:rPr>
              <a:t>9.2% (2017–2020)</a:t>
            </a:r>
            <a:r>
              <a:rPr lang="en-US" sz="2100">
                <a:solidFill>
                  <a:schemeClr val="dk1"/>
                </a:solidFill>
              </a:rPr>
              <a:t>.</a:t>
            </a:r>
            <a:endParaRPr sz="2100">
              <a:solidFill>
                <a:schemeClr val="dk1"/>
              </a:solidFill>
            </a:endParaRPr>
          </a:p>
          <a:p>
            <a:pPr indent="-361950" lvl="0" marL="457200" rtl="0" algn="l">
              <a:lnSpc>
                <a:spcPct val="115000"/>
              </a:lnSpc>
              <a:spcBef>
                <a:spcPts val="0"/>
              </a:spcBef>
              <a:spcAft>
                <a:spcPts val="0"/>
              </a:spcAft>
              <a:buClr>
                <a:schemeClr val="dk1"/>
              </a:buClr>
              <a:buSzPts val="2100"/>
              <a:buChar char="●"/>
            </a:pPr>
            <a:r>
              <a:rPr lang="en-US" sz="2100">
                <a:solidFill>
                  <a:schemeClr val="dk1"/>
                </a:solidFill>
              </a:rPr>
              <a:t>Among children/adolescents, rates rose from </a:t>
            </a:r>
            <a:r>
              <a:rPr b="1" lang="en-US" sz="2100">
                <a:solidFill>
                  <a:schemeClr val="dk1"/>
                </a:solidFill>
              </a:rPr>
              <a:t>7.7%</a:t>
            </a:r>
            <a:r>
              <a:rPr lang="en-US" sz="2100">
                <a:solidFill>
                  <a:schemeClr val="dk1"/>
                </a:solidFill>
              </a:rPr>
              <a:t> to </a:t>
            </a:r>
            <a:r>
              <a:rPr b="1" lang="en-US" sz="2100">
                <a:solidFill>
                  <a:schemeClr val="dk1"/>
                </a:solidFill>
              </a:rPr>
              <a:t>9.7%</a:t>
            </a:r>
            <a:r>
              <a:rPr lang="en-US" sz="2100">
                <a:solidFill>
                  <a:schemeClr val="dk1"/>
                </a:solidFill>
              </a:rPr>
              <a:t>.</a:t>
            </a:r>
            <a:endParaRPr sz="2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2100">
                <a:solidFill>
                  <a:schemeClr val="dk1"/>
                </a:solidFill>
              </a:rPr>
              <a:t>Importance of Physical Activity:</a:t>
            </a:r>
            <a:endParaRPr b="1" sz="2100">
              <a:solidFill>
                <a:schemeClr val="dk1"/>
              </a:solidFill>
            </a:endParaRPr>
          </a:p>
          <a:p>
            <a:pPr indent="-361950" lvl="0" marL="457200" rtl="0" algn="l">
              <a:lnSpc>
                <a:spcPct val="115000"/>
              </a:lnSpc>
              <a:spcBef>
                <a:spcPts val="1200"/>
              </a:spcBef>
              <a:spcAft>
                <a:spcPts val="0"/>
              </a:spcAft>
              <a:buClr>
                <a:schemeClr val="dk1"/>
              </a:buClr>
              <a:buSzPts val="2100"/>
              <a:buChar char="●"/>
            </a:pPr>
            <a:r>
              <a:rPr lang="en-US" sz="2100">
                <a:solidFill>
                  <a:schemeClr val="dk1"/>
                </a:solidFill>
              </a:rPr>
              <a:t>Essential for maintaining healthy weight and cardiovascular health.</a:t>
            </a:r>
            <a:endParaRPr sz="2100">
              <a:solidFill>
                <a:schemeClr val="dk1"/>
              </a:solidFill>
            </a:endParaRPr>
          </a:p>
          <a:p>
            <a:pPr indent="-361950" lvl="0" marL="457200" rtl="0" algn="l">
              <a:lnSpc>
                <a:spcPct val="115000"/>
              </a:lnSpc>
              <a:spcBef>
                <a:spcPts val="0"/>
              </a:spcBef>
              <a:spcAft>
                <a:spcPts val="0"/>
              </a:spcAft>
              <a:buClr>
                <a:schemeClr val="dk1"/>
              </a:buClr>
              <a:buSzPts val="2100"/>
              <a:buChar char="●"/>
            </a:pPr>
            <a:r>
              <a:rPr lang="en-US" sz="2100">
                <a:solidFill>
                  <a:schemeClr val="dk1"/>
                </a:solidFill>
              </a:rPr>
              <a:t>Reduces risk of obesity-related conditions (e.g., diabetes, hypertension).</a:t>
            </a:r>
            <a:endParaRPr sz="2100">
              <a:solidFill>
                <a:schemeClr val="dk1"/>
              </a:solidFill>
            </a:endParaRPr>
          </a:p>
          <a:p>
            <a:pPr indent="-361950" lvl="0" marL="457200" rtl="0" algn="l">
              <a:lnSpc>
                <a:spcPct val="115000"/>
              </a:lnSpc>
              <a:spcBef>
                <a:spcPts val="0"/>
              </a:spcBef>
              <a:spcAft>
                <a:spcPts val="0"/>
              </a:spcAft>
              <a:buClr>
                <a:schemeClr val="dk1"/>
              </a:buClr>
              <a:buSzPts val="2100"/>
              <a:buChar char="●"/>
            </a:pPr>
            <a:r>
              <a:rPr lang="en-US" sz="2100">
                <a:solidFill>
                  <a:schemeClr val="dk1"/>
                </a:solidFill>
              </a:rPr>
              <a:t>Regular movement is critical, from structured workouts to everyday activities.</a:t>
            </a:r>
            <a:endParaRPr sz="2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2100">
                <a:solidFill>
                  <a:schemeClr val="dk1"/>
                </a:solidFill>
              </a:rPr>
              <a:t>Project Objectives:</a:t>
            </a:r>
            <a:endParaRPr b="1" sz="2100">
              <a:solidFill>
                <a:schemeClr val="dk1"/>
              </a:solidFill>
            </a:endParaRPr>
          </a:p>
          <a:p>
            <a:pPr indent="-361950" lvl="0" marL="457200" rtl="0" algn="l">
              <a:lnSpc>
                <a:spcPct val="115000"/>
              </a:lnSpc>
              <a:spcBef>
                <a:spcPts val="1200"/>
              </a:spcBef>
              <a:spcAft>
                <a:spcPts val="0"/>
              </a:spcAft>
              <a:buClr>
                <a:schemeClr val="dk1"/>
              </a:buClr>
              <a:buSzPts val="2100"/>
              <a:buChar char="●"/>
            </a:pPr>
            <a:r>
              <a:rPr lang="en-US" sz="2100">
                <a:solidFill>
                  <a:schemeClr val="dk1"/>
                </a:solidFill>
              </a:rPr>
              <a:t>Analyze </a:t>
            </a:r>
            <a:r>
              <a:rPr b="1" lang="en-US" sz="2100">
                <a:solidFill>
                  <a:schemeClr val="dk1"/>
                </a:solidFill>
              </a:rPr>
              <a:t>10,000+ fitness records</a:t>
            </a:r>
            <a:r>
              <a:rPr lang="en-US" sz="2100">
                <a:solidFill>
                  <a:schemeClr val="dk1"/>
                </a:solidFill>
              </a:rPr>
              <a:t> covering workouts, health metrics, and lifestyle factors.</a:t>
            </a:r>
            <a:endParaRPr sz="2100">
              <a:solidFill>
                <a:schemeClr val="dk1"/>
              </a:solidFill>
            </a:endParaRPr>
          </a:p>
          <a:p>
            <a:pPr indent="-361950" lvl="0" marL="457200" rtl="0" algn="l">
              <a:lnSpc>
                <a:spcPct val="115000"/>
              </a:lnSpc>
              <a:spcBef>
                <a:spcPts val="0"/>
              </a:spcBef>
              <a:spcAft>
                <a:spcPts val="0"/>
              </a:spcAft>
              <a:buClr>
                <a:schemeClr val="dk1"/>
              </a:buClr>
              <a:buSzPts val="2100"/>
              <a:buChar char="●"/>
            </a:pPr>
            <a:r>
              <a:rPr lang="en-US" sz="2100">
                <a:solidFill>
                  <a:schemeClr val="dk1"/>
                </a:solidFill>
              </a:rPr>
              <a:t>Predict workout efficiency based on user-specific activity data.</a:t>
            </a:r>
            <a:endParaRPr sz="2100">
              <a:solidFill>
                <a:schemeClr val="dk1"/>
              </a:solidFill>
            </a:endParaRPr>
          </a:p>
          <a:p>
            <a:pPr indent="-361950" lvl="0" marL="457200" rtl="0" algn="l">
              <a:lnSpc>
                <a:spcPct val="115000"/>
              </a:lnSpc>
              <a:spcBef>
                <a:spcPts val="0"/>
              </a:spcBef>
              <a:spcAft>
                <a:spcPts val="0"/>
              </a:spcAft>
              <a:buClr>
                <a:schemeClr val="dk1"/>
              </a:buClr>
              <a:buSzPts val="2100"/>
              <a:buChar char="●"/>
            </a:pPr>
            <a:r>
              <a:rPr lang="en-US" sz="2100">
                <a:solidFill>
                  <a:schemeClr val="dk1"/>
                </a:solidFill>
              </a:rPr>
              <a:t>Create personalized fitness plans tailored to individual physical traits, fitness goals, and mood enhancement.</a:t>
            </a:r>
            <a:endParaRPr sz="2100">
              <a:solidFill>
                <a:schemeClr val="dk1"/>
              </a:solidFill>
            </a:endParaRPr>
          </a:p>
          <a:p>
            <a:pPr indent="0" lvl="0" marL="0" marR="0" rtl="0" algn="l">
              <a:lnSpc>
                <a:spcPct val="159990"/>
              </a:lnSpc>
              <a:spcBef>
                <a:spcPts val="1200"/>
              </a:spcBef>
              <a:spcAft>
                <a:spcPts val="0"/>
              </a:spcAft>
              <a:buNone/>
            </a:pPr>
            <a:r>
              <a:t/>
            </a:r>
            <a:endParaRPr sz="2197">
              <a:solidFill>
                <a:srgbClr val="545454"/>
              </a:solidFill>
              <a:latin typeface="Poppins"/>
              <a:ea typeface="Poppins"/>
              <a:cs typeface="Poppins"/>
              <a:sym typeface="Poppins"/>
            </a:endParaRPr>
          </a:p>
        </p:txBody>
      </p:sp>
      <p:sp>
        <p:nvSpPr>
          <p:cNvPr id="104" name="Google Shape;104;p2"/>
          <p:cNvSpPr txBox="1"/>
          <p:nvPr/>
        </p:nvSpPr>
        <p:spPr>
          <a:xfrm>
            <a:off x="1522427" y="2099976"/>
            <a:ext cx="11071500" cy="861900"/>
          </a:xfrm>
          <a:prstGeom prst="rect">
            <a:avLst/>
          </a:prstGeom>
          <a:noFill/>
          <a:ln>
            <a:noFill/>
          </a:ln>
        </p:spPr>
        <p:txBody>
          <a:bodyPr anchorCtr="0" anchor="t" bIns="0" lIns="0" spcFirstLastPara="1" rIns="0" wrap="square" tIns="0">
            <a:spAutoFit/>
          </a:bodyPr>
          <a:lstStyle/>
          <a:p>
            <a:pPr indent="0" lvl="0" marL="0" marR="0" rtl="0" algn="l">
              <a:lnSpc>
                <a:spcPct val="120003"/>
              </a:lnSpc>
              <a:spcBef>
                <a:spcPts val="0"/>
              </a:spcBef>
              <a:spcAft>
                <a:spcPts val="0"/>
              </a:spcAft>
              <a:buNone/>
            </a:pPr>
            <a:r>
              <a:rPr b="1" i="0" lang="en-US" sz="5599" u="none" cap="none" strike="noStrike">
                <a:solidFill>
                  <a:srgbClr val="FFFFFF"/>
                </a:solidFill>
                <a:latin typeface="Poppins"/>
                <a:ea typeface="Poppins"/>
                <a:cs typeface="Poppins"/>
                <a:sym typeface="Poppins"/>
              </a:rPr>
              <a:t>Introduction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cxnSp>
        <p:nvCxnSpPr>
          <p:cNvPr id="109" name="Google Shape;109;g341d387c2eb_2_6"/>
          <p:cNvCxnSpPr/>
          <p:nvPr/>
        </p:nvCxnSpPr>
        <p:spPr>
          <a:xfrm>
            <a:off x="1028700" y="601417"/>
            <a:ext cx="16230600" cy="0"/>
          </a:xfrm>
          <a:prstGeom prst="straightConnector1">
            <a:avLst/>
          </a:prstGeom>
          <a:noFill/>
          <a:ln cap="flat" cmpd="sng" w="19050">
            <a:solidFill>
              <a:srgbClr val="D9D9D9"/>
            </a:solidFill>
            <a:prstDash val="solid"/>
            <a:round/>
            <a:headEnd len="sm" w="sm" type="none"/>
            <a:tailEnd len="sm" w="sm" type="none"/>
          </a:ln>
        </p:spPr>
      </p:cxnSp>
      <p:grpSp>
        <p:nvGrpSpPr>
          <p:cNvPr id="110" name="Google Shape;110;g341d387c2eb_2_6"/>
          <p:cNvGrpSpPr/>
          <p:nvPr/>
        </p:nvGrpSpPr>
        <p:grpSpPr>
          <a:xfrm>
            <a:off x="3176705" y="1394134"/>
            <a:ext cx="5047244" cy="5047244"/>
            <a:chOff x="0" y="0"/>
            <a:chExt cx="812800" cy="812800"/>
          </a:xfrm>
        </p:grpSpPr>
        <p:sp>
          <p:nvSpPr>
            <p:cNvPr id="111" name="Google Shape;111;g341d387c2eb_2_6"/>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71C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g341d387c2eb_2_6"/>
            <p:cNvSpPr txBox="1"/>
            <p:nvPr/>
          </p:nvSpPr>
          <p:spPr>
            <a:xfrm>
              <a:off x="76200" y="19050"/>
              <a:ext cx="660300" cy="7176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13" name="Google Shape;113;g341d387c2eb_2_6"/>
          <p:cNvGrpSpPr/>
          <p:nvPr/>
        </p:nvGrpSpPr>
        <p:grpSpPr>
          <a:xfrm>
            <a:off x="7640206" y="2073729"/>
            <a:ext cx="4367662" cy="4367662"/>
            <a:chOff x="0" y="0"/>
            <a:chExt cx="812800" cy="812800"/>
          </a:xfrm>
        </p:grpSpPr>
        <p:sp>
          <p:nvSpPr>
            <p:cNvPr id="114" name="Google Shape;114;g341d387c2eb_2_6"/>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DE1C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g341d387c2eb_2_6"/>
            <p:cNvSpPr txBox="1"/>
            <p:nvPr/>
          </p:nvSpPr>
          <p:spPr>
            <a:xfrm>
              <a:off x="76200" y="19050"/>
              <a:ext cx="660300" cy="7176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16" name="Google Shape;116;g341d387c2eb_2_6"/>
          <p:cNvGrpSpPr/>
          <p:nvPr/>
        </p:nvGrpSpPr>
        <p:grpSpPr>
          <a:xfrm>
            <a:off x="11604791" y="2934898"/>
            <a:ext cx="3506500" cy="3506500"/>
            <a:chOff x="0" y="0"/>
            <a:chExt cx="812800" cy="812800"/>
          </a:xfrm>
        </p:grpSpPr>
        <p:sp>
          <p:nvSpPr>
            <p:cNvPr id="117" name="Google Shape;117;g341d387c2eb_2_6"/>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8B6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g341d387c2eb_2_6"/>
            <p:cNvSpPr txBox="1"/>
            <p:nvPr/>
          </p:nvSpPr>
          <p:spPr>
            <a:xfrm>
              <a:off x="76200" y="19050"/>
              <a:ext cx="660300" cy="7176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19" name="Google Shape;119;g341d387c2eb_2_6"/>
          <p:cNvSpPr txBox="1"/>
          <p:nvPr/>
        </p:nvSpPr>
        <p:spPr>
          <a:xfrm>
            <a:off x="3768986" y="2706298"/>
            <a:ext cx="3862800" cy="1186800"/>
          </a:xfrm>
          <a:prstGeom prst="rect">
            <a:avLst/>
          </a:prstGeom>
          <a:noFill/>
          <a:ln>
            <a:noFill/>
          </a:ln>
        </p:spPr>
        <p:txBody>
          <a:bodyPr anchorCtr="0" anchor="t" bIns="0" lIns="0" spcFirstLastPara="1" rIns="0" wrap="square" tIns="0">
            <a:spAutoFit/>
          </a:bodyPr>
          <a:lstStyle/>
          <a:p>
            <a:pPr indent="0" lvl="0" marL="0" marR="0" rtl="0" algn="ctr">
              <a:lnSpc>
                <a:spcPct val="139994"/>
              </a:lnSpc>
              <a:spcBef>
                <a:spcPts val="0"/>
              </a:spcBef>
              <a:spcAft>
                <a:spcPts val="0"/>
              </a:spcAft>
              <a:buNone/>
            </a:pPr>
            <a:r>
              <a:rPr b="1" i="0" lang="en-US" sz="7711" u="none" cap="none" strike="noStrike">
                <a:solidFill>
                  <a:srgbClr val="FFFFFF"/>
                </a:solidFill>
                <a:latin typeface="Poppins"/>
                <a:ea typeface="Poppins"/>
                <a:cs typeface="Poppins"/>
                <a:sym typeface="Poppins"/>
              </a:rPr>
              <a:t>40.3 %</a:t>
            </a:r>
            <a:endParaRPr/>
          </a:p>
        </p:txBody>
      </p:sp>
      <p:sp>
        <p:nvSpPr>
          <p:cNvPr id="120" name="Google Shape;120;g341d387c2eb_2_6"/>
          <p:cNvSpPr txBox="1"/>
          <p:nvPr/>
        </p:nvSpPr>
        <p:spPr>
          <a:xfrm>
            <a:off x="4648817" y="4223559"/>
            <a:ext cx="2103000" cy="1551000"/>
          </a:xfrm>
          <a:prstGeom prst="rect">
            <a:avLst/>
          </a:prstGeom>
          <a:noFill/>
          <a:ln>
            <a:noFill/>
          </a:ln>
        </p:spPr>
        <p:txBody>
          <a:bodyPr anchorCtr="0" anchor="t" bIns="0" lIns="0" spcFirstLastPara="1" rIns="0" wrap="square" tIns="0">
            <a:spAutoFit/>
          </a:bodyPr>
          <a:lstStyle/>
          <a:p>
            <a:pPr indent="0" lvl="0" marL="0" marR="0" rtl="0" algn="ctr">
              <a:lnSpc>
                <a:spcPct val="160025"/>
              </a:lnSpc>
              <a:spcBef>
                <a:spcPts val="0"/>
              </a:spcBef>
              <a:spcAft>
                <a:spcPts val="0"/>
              </a:spcAft>
              <a:buNone/>
            </a:pPr>
            <a:r>
              <a:rPr b="0" i="0" lang="en-US" sz="2399" u="none" cap="none" strike="noStrike">
                <a:solidFill>
                  <a:srgbClr val="EEF2F5"/>
                </a:solidFill>
                <a:latin typeface="Poppins"/>
                <a:ea typeface="Poppins"/>
                <a:cs typeface="Poppins"/>
                <a:sym typeface="Poppins"/>
              </a:rPr>
              <a:t>U.S. adults considered obese</a:t>
            </a:r>
            <a:endParaRPr/>
          </a:p>
        </p:txBody>
      </p:sp>
      <p:sp>
        <p:nvSpPr>
          <p:cNvPr id="121" name="Google Shape;121;g341d387c2eb_2_6"/>
          <p:cNvSpPr txBox="1"/>
          <p:nvPr/>
        </p:nvSpPr>
        <p:spPr>
          <a:xfrm>
            <a:off x="8398914" y="3441238"/>
            <a:ext cx="3205800" cy="8619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5600" u="none" cap="none" strike="noStrike">
                <a:solidFill>
                  <a:srgbClr val="000000"/>
                </a:solidFill>
                <a:latin typeface="Poppins"/>
                <a:ea typeface="Poppins"/>
                <a:cs typeface="Poppins"/>
                <a:sym typeface="Poppins"/>
              </a:rPr>
              <a:t>31.6 %</a:t>
            </a:r>
            <a:endParaRPr/>
          </a:p>
        </p:txBody>
      </p:sp>
      <p:sp>
        <p:nvSpPr>
          <p:cNvPr id="122" name="Google Shape;122;g341d387c2eb_2_6"/>
          <p:cNvSpPr txBox="1"/>
          <p:nvPr/>
        </p:nvSpPr>
        <p:spPr>
          <a:xfrm>
            <a:off x="8899663" y="4409169"/>
            <a:ext cx="1848900" cy="1793700"/>
          </a:xfrm>
          <a:prstGeom prst="rect">
            <a:avLst/>
          </a:prstGeom>
          <a:noFill/>
          <a:ln>
            <a:noFill/>
          </a:ln>
        </p:spPr>
        <p:txBody>
          <a:bodyPr anchorCtr="0" anchor="t" bIns="0" lIns="0" spcFirstLastPara="1" rIns="0" wrap="square" tIns="0">
            <a:spAutoFit/>
          </a:bodyPr>
          <a:lstStyle/>
          <a:p>
            <a:pPr indent="0" lvl="0" marL="0" marR="0" rtl="0" algn="ctr">
              <a:lnSpc>
                <a:spcPct val="160028"/>
              </a:lnSpc>
              <a:spcBef>
                <a:spcPts val="0"/>
              </a:spcBef>
              <a:spcAft>
                <a:spcPts val="0"/>
              </a:spcAft>
              <a:buNone/>
            </a:pPr>
            <a:r>
              <a:rPr b="0" i="0" lang="en-US" sz="2009" u="none" cap="none" strike="noStrike">
                <a:solidFill>
                  <a:srgbClr val="000000"/>
                </a:solidFill>
                <a:latin typeface="Poppins"/>
                <a:ea typeface="Poppins"/>
                <a:cs typeface="Poppins"/>
                <a:sym typeface="Poppins"/>
              </a:rPr>
              <a:t>lower in adults with a bachelor’s or more</a:t>
            </a:r>
            <a:endParaRPr sz="1300"/>
          </a:p>
        </p:txBody>
      </p:sp>
      <p:sp>
        <p:nvSpPr>
          <p:cNvPr id="123" name="Google Shape;123;g341d387c2eb_2_6"/>
          <p:cNvSpPr txBox="1"/>
          <p:nvPr/>
        </p:nvSpPr>
        <p:spPr>
          <a:xfrm>
            <a:off x="12292349" y="3884468"/>
            <a:ext cx="2174700" cy="738900"/>
          </a:xfrm>
          <a:prstGeom prst="rect">
            <a:avLst/>
          </a:prstGeom>
          <a:noFill/>
          <a:ln>
            <a:noFill/>
          </a:ln>
        </p:spPr>
        <p:txBody>
          <a:bodyPr anchorCtr="0" anchor="t" bIns="0" lIns="0" spcFirstLastPara="1" rIns="0" wrap="square" tIns="0">
            <a:spAutoFit/>
          </a:bodyPr>
          <a:lstStyle/>
          <a:p>
            <a:pPr indent="0" lvl="0" marL="0" marR="0" rtl="0" algn="ctr">
              <a:lnSpc>
                <a:spcPct val="139979"/>
              </a:lnSpc>
              <a:spcBef>
                <a:spcPts val="0"/>
              </a:spcBef>
              <a:spcAft>
                <a:spcPts val="0"/>
              </a:spcAft>
              <a:buNone/>
            </a:pPr>
            <a:r>
              <a:rPr b="1" i="0" lang="en-US" sz="4800" u="none" cap="none" strike="noStrike">
                <a:solidFill>
                  <a:srgbClr val="000000"/>
                </a:solidFill>
                <a:latin typeface="Poppins"/>
                <a:ea typeface="Poppins"/>
                <a:cs typeface="Poppins"/>
                <a:sym typeface="Poppins"/>
              </a:rPr>
              <a:t>260M</a:t>
            </a:r>
            <a:endParaRPr/>
          </a:p>
        </p:txBody>
      </p:sp>
      <p:sp>
        <p:nvSpPr>
          <p:cNvPr id="124" name="Google Shape;124;g341d387c2eb_2_6"/>
          <p:cNvSpPr txBox="1"/>
          <p:nvPr/>
        </p:nvSpPr>
        <p:spPr>
          <a:xfrm>
            <a:off x="12639548" y="4880197"/>
            <a:ext cx="1437000" cy="1059900"/>
          </a:xfrm>
          <a:prstGeom prst="rect">
            <a:avLst/>
          </a:prstGeom>
          <a:noFill/>
          <a:ln>
            <a:noFill/>
          </a:ln>
        </p:spPr>
        <p:txBody>
          <a:bodyPr anchorCtr="0" anchor="t" bIns="0" lIns="0" spcFirstLastPara="1" rIns="0" wrap="square" tIns="0">
            <a:spAutoFit/>
          </a:bodyPr>
          <a:lstStyle/>
          <a:p>
            <a:pPr indent="0" lvl="0" marL="0" marR="0" rtl="0" algn="ctr">
              <a:lnSpc>
                <a:spcPct val="160036"/>
              </a:lnSpc>
              <a:spcBef>
                <a:spcPts val="0"/>
              </a:spcBef>
              <a:spcAft>
                <a:spcPts val="0"/>
              </a:spcAft>
              <a:buNone/>
            </a:pPr>
            <a:r>
              <a:rPr b="0" i="0" lang="en-US" sz="1639" u="none" cap="none" strike="noStrike">
                <a:solidFill>
                  <a:srgbClr val="000000"/>
                </a:solidFill>
                <a:latin typeface="Poppins"/>
                <a:ea typeface="Poppins"/>
                <a:cs typeface="Poppins"/>
                <a:sym typeface="Poppins"/>
              </a:rPr>
              <a:t>estimated to be obese in U.S. by 2050</a:t>
            </a:r>
            <a:endParaRPr/>
          </a:p>
        </p:txBody>
      </p:sp>
      <p:grpSp>
        <p:nvGrpSpPr>
          <p:cNvPr id="125" name="Google Shape;125;g341d387c2eb_2_6"/>
          <p:cNvGrpSpPr/>
          <p:nvPr/>
        </p:nvGrpSpPr>
        <p:grpSpPr>
          <a:xfrm>
            <a:off x="0" y="9726520"/>
            <a:ext cx="4849021" cy="560483"/>
            <a:chOff x="0" y="-57150"/>
            <a:chExt cx="1277100" cy="147616"/>
          </a:xfrm>
        </p:grpSpPr>
        <p:sp>
          <p:nvSpPr>
            <p:cNvPr id="126" name="Google Shape;126;g341d387c2eb_2_6"/>
            <p:cNvSpPr/>
            <p:nvPr/>
          </p:nvSpPr>
          <p:spPr>
            <a:xfrm>
              <a:off x="0" y="0"/>
              <a:ext cx="1277015" cy="90466"/>
            </a:xfrm>
            <a:custGeom>
              <a:rect b="b" l="l" r="r" t="t"/>
              <a:pathLst>
                <a:path extrusionOk="0" h="90466" w="1277015">
                  <a:moveTo>
                    <a:pt x="0" y="0"/>
                  </a:moveTo>
                  <a:lnTo>
                    <a:pt x="1277015" y="0"/>
                  </a:lnTo>
                  <a:lnTo>
                    <a:pt x="1277015" y="90466"/>
                  </a:lnTo>
                  <a:lnTo>
                    <a:pt x="0" y="90466"/>
                  </a:lnTo>
                  <a:close/>
                </a:path>
              </a:pathLst>
            </a:custGeom>
            <a:solidFill>
              <a:srgbClr val="4DE1C7"/>
            </a:solidFill>
            <a:ln>
              <a:noFill/>
            </a:ln>
          </p:spPr>
        </p:sp>
        <p:sp>
          <p:nvSpPr>
            <p:cNvPr id="127" name="Google Shape;127;g341d387c2eb_2_6"/>
            <p:cNvSpPr txBox="1"/>
            <p:nvPr/>
          </p:nvSpPr>
          <p:spPr>
            <a:xfrm>
              <a:off x="0" y="-57150"/>
              <a:ext cx="1277100" cy="1476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28" name="Google Shape;128;g341d387c2eb_2_6"/>
          <p:cNvGrpSpPr/>
          <p:nvPr/>
        </p:nvGrpSpPr>
        <p:grpSpPr>
          <a:xfrm>
            <a:off x="0" y="4627188"/>
            <a:ext cx="21517654" cy="11764928"/>
            <a:chOff x="0" y="4627188"/>
            <a:chExt cx="21517654" cy="11764928"/>
          </a:xfrm>
        </p:grpSpPr>
        <p:grpSp>
          <p:nvGrpSpPr>
            <p:cNvPr id="129" name="Google Shape;129;g341d387c2eb_2_6"/>
            <p:cNvGrpSpPr/>
            <p:nvPr/>
          </p:nvGrpSpPr>
          <p:grpSpPr>
            <a:xfrm>
              <a:off x="0" y="6998077"/>
              <a:ext cx="18288118" cy="3290192"/>
              <a:chOff x="0" y="6998077"/>
              <a:chExt cx="18288118" cy="3290192"/>
            </a:xfrm>
          </p:grpSpPr>
          <p:grpSp>
            <p:nvGrpSpPr>
              <p:cNvPr id="130" name="Google Shape;130;g341d387c2eb_2_6"/>
              <p:cNvGrpSpPr/>
              <p:nvPr/>
            </p:nvGrpSpPr>
            <p:grpSpPr>
              <a:xfrm>
                <a:off x="0" y="6998077"/>
                <a:ext cx="18288118" cy="3290192"/>
                <a:chOff x="0" y="-57150"/>
                <a:chExt cx="4816592" cy="866547"/>
              </a:xfrm>
            </p:grpSpPr>
            <p:sp>
              <p:nvSpPr>
                <p:cNvPr id="131" name="Google Shape;131;g341d387c2eb_2_6"/>
                <p:cNvSpPr/>
                <p:nvPr/>
              </p:nvSpPr>
              <p:spPr>
                <a:xfrm>
                  <a:off x="0" y="0"/>
                  <a:ext cx="4816592" cy="809397"/>
                </a:xfrm>
                <a:custGeom>
                  <a:rect b="b" l="l" r="r" t="t"/>
                  <a:pathLst>
                    <a:path extrusionOk="0" h="809397" w="4816592">
                      <a:moveTo>
                        <a:pt x="0" y="0"/>
                      </a:moveTo>
                      <a:lnTo>
                        <a:pt x="4816592" y="0"/>
                      </a:lnTo>
                      <a:lnTo>
                        <a:pt x="4816592" y="809397"/>
                      </a:lnTo>
                      <a:lnTo>
                        <a:pt x="0" y="809397"/>
                      </a:lnTo>
                      <a:close/>
                    </a:path>
                  </a:pathLst>
                </a:custGeom>
                <a:solidFill>
                  <a:srgbClr val="071C42"/>
                </a:solidFill>
                <a:ln>
                  <a:noFill/>
                </a:ln>
              </p:spPr>
            </p:sp>
            <p:sp>
              <p:nvSpPr>
                <p:cNvPr id="132" name="Google Shape;132;g341d387c2eb_2_6"/>
                <p:cNvSpPr txBox="1"/>
                <p:nvPr/>
              </p:nvSpPr>
              <p:spPr>
                <a:xfrm>
                  <a:off x="0" y="-57150"/>
                  <a:ext cx="4816500" cy="866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33" name="Google Shape;133;g341d387c2eb_2_6"/>
              <p:cNvSpPr txBox="1"/>
              <p:nvPr/>
            </p:nvSpPr>
            <p:spPr>
              <a:xfrm>
                <a:off x="1313558" y="8270647"/>
                <a:ext cx="11533800" cy="861900"/>
              </a:xfrm>
              <a:prstGeom prst="rect">
                <a:avLst/>
              </a:prstGeom>
              <a:noFill/>
              <a:ln>
                <a:noFill/>
              </a:ln>
            </p:spPr>
            <p:txBody>
              <a:bodyPr anchorCtr="0" anchor="t" bIns="0" lIns="0" spcFirstLastPara="1" rIns="0" wrap="square" tIns="0">
                <a:spAutoFit/>
              </a:bodyPr>
              <a:lstStyle/>
              <a:p>
                <a:pPr indent="0" lvl="0" marL="0" marR="0" rtl="0" algn="l">
                  <a:lnSpc>
                    <a:spcPct val="120003"/>
                  </a:lnSpc>
                  <a:spcBef>
                    <a:spcPts val="0"/>
                  </a:spcBef>
                  <a:spcAft>
                    <a:spcPts val="0"/>
                  </a:spcAft>
                  <a:buNone/>
                </a:pPr>
                <a:r>
                  <a:rPr b="1" i="0" lang="en-US" sz="5599" u="none" cap="none" strike="noStrike">
                    <a:solidFill>
                      <a:srgbClr val="FFFFFF"/>
                    </a:solidFill>
                    <a:latin typeface="Poppins"/>
                    <a:ea typeface="Poppins"/>
                    <a:cs typeface="Poppins"/>
                    <a:sym typeface="Poppins"/>
                  </a:rPr>
                  <a:t>Some Statistics on Obesity</a:t>
                </a:r>
                <a:endParaRPr/>
              </a:p>
            </p:txBody>
          </p:sp>
        </p:grpSp>
        <p:sp>
          <p:nvSpPr>
            <p:cNvPr id="134" name="Google Shape;134;g341d387c2eb_2_6"/>
            <p:cNvSpPr/>
            <p:nvPr/>
          </p:nvSpPr>
          <p:spPr>
            <a:xfrm rot="-1840136">
              <a:off x="7150957" y="7812160"/>
              <a:ext cx="13967599" cy="5394986"/>
            </a:xfrm>
            <a:custGeom>
              <a:rect b="b" l="l" r="r" t="t"/>
              <a:pathLst>
                <a:path extrusionOk="0" h="5395795" w="13969695">
                  <a:moveTo>
                    <a:pt x="0" y="0"/>
                  </a:moveTo>
                  <a:lnTo>
                    <a:pt x="13969695" y="0"/>
                  </a:lnTo>
                  <a:lnTo>
                    <a:pt x="13969695" y="5395794"/>
                  </a:lnTo>
                  <a:lnTo>
                    <a:pt x="0" y="5395794"/>
                  </a:lnTo>
                  <a:lnTo>
                    <a:pt x="0" y="0"/>
                  </a:lnTo>
                  <a:close/>
                </a:path>
              </a:pathLst>
            </a:custGeom>
            <a:blipFill rotWithShape="1">
              <a:blip r:embed="rId3">
                <a:alphaModFix/>
              </a:blip>
              <a:stretch>
                <a:fillRect b="0" l="0" r="0" t="0"/>
              </a:stretch>
            </a:blipFill>
            <a:ln>
              <a:noFill/>
            </a:ln>
          </p:spPr>
        </p:sp>
      </p:grpSp>
      <p:sp>
        <p:nvSpPr>
          <p:cNvPr id="135" name="Google Shape;135;g341d387c2eb_2_6"/>
          <p:cNvSpPr txBox="1"/>
          <p:nvPr/>
        </p:nvSpPr>
        <p:spPr>
          <a:xfrm>
            <a:off x="8899663" y="2531222"/>
            <a:ext cx="1848900" cy="804000"/>
          </a:xfrm>
          <a:prstGeom prst="rect">
            <a:avLst/>
          </a:prstGeom>
          <a:noFill/>
          <a:ln>
            <a:noFill/>
          </a:ln>
        </p:spPr>
        <p:txBody>
          <a:bodyPr anchorCtr="0" anchor="t" bIns="0" lIns="0" spcFirstLastPara="1" rIns="0" wrap="square" tIns="0">
            <a:spAutoFit/>
          </a:bodyPr>
          <a:lstStyle/>
          <a:p>
            <a:pPr indent="0" lvl="0" marL="0" marR="0" rtl="0" algn="ctr">
              <a:lnSpc>
                <a:spcPct val="160028"/>
              </a:lnSpc>
              <a:spcBef>
                <a:spcPts val="0"/>
              </a:spcBef>
              <a:spcAft>
                <a:spcPts val="0"/>
              </a:spcAft>
              <a:buNone/>
            </a:pPr>
            <a:r>
              <a:rPr b="0" i="0" lang="en-US" sz="2009" u="none" cap="none" strike="noStrike">
                <a:solidFill>
                  <a:srgbClr val="000000"/>
                </a:solidFill>
                <a:latin typeface="Poppins"/>
                <a:ea typeface="Poppins"/>
                <a:cs typeface="Poppins"/>
                <a:sym typeface="Poppins"/>
              </a:rPr>
              <a:t>prevalence of obesity</a:t>
            </a:r>
            <a:endParaRPr sz="13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3"/>
          <p:cNvSpPr/>
          <p:nvPr/>
        </p:nvSpPr>
        <p:spPr>
          <a:xfrm rot="2088241">
            <a:off x="-5806258" y="5041287"/>
            <a:ext cx="13950823" cy="5388506"/>
          </a:xfrm>
          <a:custGeom>
            <a:rect b="b" l="l" r="r" t="t"/>
            <a:pathLst>
              <a:path extrusionOk="0" h="5395795" w="13969695">
                <a:moveTo>
                  <a:pt x="0" y="0"/>
                </a:moveTo>
                <a:lnTo>
                  <a:pt x="13969694" y="0"/>
                </a:lnTo>
                <a:lnTo>
                  <a:pt x="13969694" y="5395794"/>
                </a:lnTo>
                <a:lnTo>
                  <a:pt x="0" y="5395794"/>
                </a:lnTo>
                <a:lnTo>
                  <a:pt x="0" y="0"/>
                </a:lnTo>
                <a:close/>
              </a:path>
            </a:pathLst>
          </a:custGeom>
          <a:blipFill rotWithShape="1">
            <a:blip r:embed="rId3">
              <a:alphaModFix/>
            </a:blip>
            <a:stretch>
              <a:fillRect b="0" l="0" r="0" t="0"/>
            </a:stretch>
          </a:blipFill>
          <a:ln>
            <a:noFill/>
          </a:ln>
        </p:spPr>
      </p:sp>
      <p:cxnSp>
        <p:nvCxnSpPr>
          <p:cNvPr id="141" name="Google Shape;141;p3"/>
          <p:cNvCxnSpPr/>
          <p:nvPr/>
        </p:nvCxnSpPr>
        <p:spPr>
          <a:xfrm>
            <a:off x="1028700" y="601417"/>
            <a:ext cx="16230600" cy="0"/>
          </a:xfrm>
          <a:prstGeom prst="straightConnector1">
            <a:avLst/>
          </a:prstGeom>
          <a:noFill/>
          <a:ln cap="flat" cmpd="sng" w="19050">
            <a:solidFill>
              <a:srgbClr val="D9D9D9"/>
            </a:solidFill>
            <a:prstDash val="solid"/>
            <a:round/>
            <a:headEnd len="sm" w="sm" type="none"/>
            <a:tailEnd len="sm" w="sm" type="none"/>
          </a:ln>
        </p:spPr>
      </p:cxnSp>
      <p:grpSp>
        <p:nvGrpSpPr>
          <p:cNvPr id="142" name="Google Shape;142;p3"/>
          <p:cNvGrpSpPr/>
          <p:nvPr/>
        </p:nvGrpSpPr>
        <p:grpSpPr>
          <a:xfrm>
            <a:off x="7401128" y="-241102"/>
            <a:ext cx="5443436" cy="5384602"/>
            <a:chOff x="0" y="-57150"/>
            <a:chExt cx="1290296" cy="1276350"/>
          </a:xfrm>
        </p:grpSpPr>
        <p:sp>
          <p:nvSpPr>
            <p:cNvPr id="143" name="Google Shape;143;p3"/>
            <p:cNvSpPr/>
            <p:nvPr/>
          </p:nvSpPr>
          <p:spPr>
            <a:xfrm>
              <a:off x="0" y="0"/>
              <a:ext cx="1290296" cy="1219200"/>
            </a:xfrm>
            <a:custGeom>
              <a:rect b="b" l="l" r="r" t="t"/>
              <a:pathLst>
                <a:path extrusionOk="0" h="1219200" w="1290296">
                  <a:moveTo>
                    <a:pt x="0" y="0"/>
                  </a:moveTo>
                  <a:lnTo>
                    <a:pt x="1290296" y="0"/>
                  </a:lnTo>
                  <a:lnTo>
                    <a:pt x="1290296" y="1219200"/>
                  </a:lnTo>
                  <a:lnTo>
                    <a:pt x="0" y="1219200"/>
                  </a:lnTo>
                  <a:close/>
                </a:path>
              </a:pathLst>
            </a:custGeom>
            <a:solidFill>
              <a:srgbClr val="071C42"/>
            </a:solidFill>
            <a:ln>
              <a:noFill/>
            </a:ln>
          </p:spPr>
        </p:sp>
        <p:sp>
          <p:nvSpPr>
            <p:cNvPr id="144" name="Google Shape;144;p3"/>
            <p:cNvSpPr txBox="1"/>
            <p:nvPr/>
          </p:nvSpPr>
          <p:spPr>
            <a:xfrm>
              <a:off x="0" y="-57150"/>
              <a:ext cx="1290296" cy="127635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45" name="Google Shape;145;p3"/>
          <p:cNvGrpSpPr/>
          <p:nvPr/>
        </p:nvGrpSpPr>
        <p:grpSpPr>
          <a:xfrm>
            <a:off x="12844564" y="-241102"/>
            <a:ext cx="5443436" cy="5384602"/>
            <a:chOff x="0" y="-57150"/>
            <a:chExt cx="1290296" cy="1276350"/>
          </a:xfrm>
        </p:grpSpPr>
        <p:sp>
          <p:nvSpPr>
            <p:cNvPr id="146" name="Google Shape;146;p3"/>
            <p:cNvSpPr/>
            <p:nvPr/>
          </p:nvSpPr>
          <p:spPr>
            <a:xfrm>
              <a:off x="0" y="0"/>
              <a:ext cx="1290296" cy="1219200"/>
            </a:xfrm>
            <a:custGeom>
              <a:rect b="b" l="l" r="r" t="t"/>
              <a:pathLst>
                <a:path extrusionOk="0" h="1219200" w="1290296">
                  <a:moveTo>
                    <a:pt x="0" y="0"/>
                  </a:moveTo>
                  <a:lnTo>
                    <a:pt x="1290296" y="0"/>
                  </a:lnTo>
                  <a:lnTo>
                    <a:pt x="1290296" y="1219200"/>
                  </a:lnTo>
                  <a:lnTo>
                    <a:pt x="0" y="1219200"/>
                  </a:lnTo>
                  <a:close/>
                </a:path>
              </a:pathLst>
            </a:custGeom>
            <a:solidFill>
              <a:srgbClr val="4DE1C7"/>
            </a:solidFill>
            <a:ln>
              <a:noFill/>
            </a:ln>
          </p:spPr>
        </p:sp>
        <p:sp>
          <p:nvSpPr>
            <p:cNvPr id="147" name="Google Shape;147;p3"/>
            <p:cNvSpPr txBox="1"/>
            <p:nvPr/>
          </p:nvSpPr>
          <p:spPr>
            <a:xfrm>
              <a:off x="0" y="-57150"/>
              <a:ext cx="1290296" cy="127635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48" name="Google Shape;148;p3"/>
          <p:cNvGrpSpPr/>
          <p:nvPr/>
        </p:nvGrpSpPr>
        <p:grpSpPr>
          <a:xfrm>
            <a:off x="7401128" y="4902398"/>
            <a:ext cx="5443436" cy="5384602"/>
            <a:chOff x="0" y="-57150"/>
            <a:chExt cx="1290296" cy="1276350"/>
          </a:xfrm>
        </p:grpSpPr>
        <p:sp>
          <p:nvSpPr>
            <p:cNvPr id="149" name="Google Shape;149;p3"/>
            <p:cNvSpPr/>
            <p:nvPr/>
          </p:nvSpPr>
          <p:spPr>
            <a:xfrm>
              <a:off x="0" y="0"/>
              <a:ext cx="1290296" cy="1219200"/>
            </a:xfrm>
            <a:custGeom>
              <a:rect b="b" l="l" r="r" t="t"/>
              <a:pathLst>
                <a:path extrusionOk="0" h="1219200" w="1290296">
                  <a:moveTo>
                    <a:pt x="0" y="0"/>
                  </a:moveTo>
                  <a:lnTo>
                    <a:pt x="1290296" y="0"/>
                  </a:lnTo>
                  <a:lnTo>
                    <a:pt x="1290296" y="1219200"/>
                  </a:lnTo>
                  <a:lnTo>
                    <a:pt x="0" y="1219200"/>
                  </a:lnTo>
                  <a:close/>
                </a:path>
              </a:pathLst>
            </a:custGeom>
            <a:solidFill>
              <a:srgbClr val="4DE1C7"/>
            </a:solidFill>
            <a:ln>
              <a:noFill/>
            </a:ln>
          </p:spPr>
        </p:sp>
        <p:sp>
          <p:nvSpPr>
            <p:cNvPr id="150" name="Google Shape;150;p3"/>
            <p:cNvSpPr txBox="1"/>
            <p:nvPr/>
          </p:nvSpPr>
          <p:spPr>
            <a:xfrm>
              <a:off x="0" y="-57150"/>
              <a:ext cx="1290296" cy="127635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51" name="Google Shape;151;p3"/>
          <p:cNvGrpSpPr/>
          <p:nvPr/>
        </p:nvGrpSpPr>
        <p:grpSpPr>
          <a:xfrm>
            <a:off x="12844564" y="4902398"/>
            <a:ext cx="5443436" cy="5384602"/>
            <a:chOff x="0" y="-57150"/>
            <a:chExt cx="1290296" cy="1276350"/>
          </a:xfrm>
        </p:grpSpPr>
        <p:sp>
          <p:nvSpPr>
            <p:cNvPr id="152" name="Google Shape;152;p3"/>
            <p:cNvSpPr/>
            <p:nvPr/>
          </p:nvSpPr>
          <p:spPr>
            <a:xfrm>
              <a:off x="0" y="0"/>
              <a:ext cx="1290296" cy="1219200"/>
            </a:xfrm>
            <a:custGeom>
              <a:rect b="b" l="l" r="r" t="t"/>
              <a:pathLst>
                <a:path extrusionOk="0" h="1219200" w="1290296">
                  <a:moveTo>
                    <a:pt x="0" y="0"/>
                  </a:moveTo>
                  <a:lnTo>
                    <a:pt x="1290296" y="0"/>
                  </a:lnTo>
                  <a:lnTo>
                    <a:pt x="1290296" y="1219200"/>
                  </a:lnTo>
                  <a:lnTo>
                    <a:pt x="0" y="1219200"/>
                  </a:lnTo>
                  <a:close/>
                </a:path>
              </a:pathLst>
            </a:custGeom>
            <a:solidFill>
              <a:srgbClr val="071C42"/>
            </a:solidFill>
            <a:ln>
              <a:noFill/>
            </a:ln>
          </p:spPr>
        </p:sp>
        <p:sp>
          <p:nvSpPr>
            <p:cNvPr id="153" name="Google Shape;153;p3"/>
            <p:cNvSpPr txBox="1"/>
            <p:nvPr/>
          </p:nvSpPr>
          <p:spPr>
            <a:xfrm>
              <a:off x="0" y="-57150"/>
              <a:ext cx="1290296" cy="127635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54" name="Google Shape;154;p3"/>
          <p:cNvSpPr txBox="1"/>
          <p:nvPr/>
        </p:nvSpPr>
        <p:spPr>
          <a:xfrm>
            <a:off x="1221496" y="3924348"/>
            <a:ext cx="4694700" cy="4978500"/>
          </a:xfrm>
          <a:prstGeom prst="rect">
            <a:avLst/>
          </a:prstGeom>
          <a:noFill/>
          <a:ln>
            <a:noFill/>
          </a:ln>
        </p:spPr>
        <p:txBody>
          <a:bodyPr anchorCtr="0" anchor="t" bIns="0" lIns="0" spcFirstLastPara="1" rIns="0" wrap="square" tIns="0">
            <a:spAutoFit/>
          </a:bodyPr>
          <a:lstStyle/>
          <a:p>
            <a:pPr indent="0" lvl="0" marL="0" marR="0" rtl="0" algn="l">
              <a:lnSpc>
                <a:spcPct val="160025"/>
              </a:lnSpc>
              <a:spcBef>
                <a:spcPts val="0"/>
              </a:spcBef>
              <a:spcAft>
                <a:spcPts val="0"/>
              </a:spcAft>
              <a:buNone/>
            </a:pPr>
            <a:r>
              <a:rPr b="0" i="0" lang="en-US" sz="2100" u="none" cap="none" strike="noStrike">
                <a:solidFill>
                  <a:schemeClr val="dk1"/>
                </a:solidFill>
                <a:latin typeface="Poppins"/>
                <a:ea typeface="Poppins"/>
                <a:cs typeface="Poppins"/>
                <a:sym typeface="Poppins"/>
              </a:rPr>
              <a:t>This dataset from Kaggle contains 10,000+ records of workout and fitness-related data collected from various fitness apps and devices. It is designed to help analyze and predict workout efficiency based on user activity, health metrics, and lifestyle factors.</a:t>
            </a:r>
            <a:endParaRPr sz="2100">
              <a:solidFill>
                <a:schemeClr val="dk1"/>
              </a:solidFill>
            </a:endParaRPr>
          </a:p>
          <a:p>
            <a:pPr indent="0" lvl="0" marL="0" marR="0" rtl="0" algn="l">
              <a:lnSpc>
                <a:spcPct val="160025"/>
              </a:lnSpc>
              <a:spcBef>
                <a:spcPts val="0"/>
              </a:spcBef>
              <a:spcAft>
                <a:spcPts val="0"/>
              </a:spcAft>
              <a:buNone/>
            </a:pPr>
            <a:r>
              <a:rPr lang="en-US" sz="2100" u="sng">
                <a:solidFill>
                  <a:schemeClr val="hlink"/>
                </a:solidFill>
                <a:latin typeface="Poppins"/>
                <a:ea typeface="Poppins"/>
                <a:cs typeface="Poppins"/>
                <a:sym typeface="Poppins"/>
                <a:hlinkClick r:id="rId4"/>
              </a:rPr>
              <a:t>Dataset link </a:t>
            </a:r>
            <a:endParaRPr b="0" i="0" sz="2100" u="none" cap="none" strike="noStrike">
              <a:solidFill>
                <a:schemeClr val="dk1"/>
              </a:solidFill>
              <a:latin typeface="Poppins"/>
              <a:ea typeface="Poppins"/>
              <a:cs typeface="Poppins"/>
              <a:sym typeface="Poppins"/>
            </a:endParaRPr>
          </a:p>
          <a:p>
            <a:pPr indent="0" lvl="0" marL="0" marR="0" rtl="0" algn="l">
              <a:lnSpc>
                <a:spcPct val="160025"/>
              </a:lnSpc>
              <a:spcBef>
                <a:spcPts val="0"/>
              </a:spcBef>
              <a:spcAft>
                <a:spcPts val="0"/>
              </a:spcAft>
              <a:buNone/>
            </a:pPr>
            <a:r>
              <a:t/>
            </a:r>
            <a:endParaRPr b="0" i="0" sz="2100" u="none" cap="none" strike="noStrike">
              <a:solidFill>
                <a:schemeClr val="dk1"/>
              </a:solidFill>
              <a:latin typeface="Poppins"/>
              <a:ea typeface="Poppins"/>
              <a:cs typeface="Poppins"/>
              <a:sym typeface="Poppins"/>
            </a:endParaRPr>
          </a:p>
        </p:txBody>
      </p:sp>
      <p:sp>
        <p:nvSpPr>
          <p:cNvPr id="155" name="Google Shape;155;p3"/>
          <p:cNvSpPr/>
          <p:nvPr/>
        </p:nvSpPr>
        <p:spPr>
          <a:xfrm>
            <a:off x="7572820" y="523228"/>
            <a:ext cx="5100053" cy="2895970"/>
          </a:xfrm>
          <a:custGeom>
            <a:rect b="b" l="l" r="r" t="t"/>
            <a:pathLst>
              <a:path extrusionOk="0" h="2895970" w="5100053">
                <a:moveTo>
                  <a:pt x="0" y="0"/>
                </a:moveTo>
                <a:lnTo>
                  <a:pt x="5100053" y="0"/>
                </a:lnTo>
                <a:lnTo>
                  <a:pt x="5100053" y="2895970"/>
                </a:lnTo>
                <a:lnTo>
                  <a:pt x="0" y="2895970"/>
                </a:lnTo>
                <a:lnTo>
                  <a:pt x="0" y="0"/>
                </a:lnTo>
                <a:close/>
              </a:path>
            </a:pathLst>
          </a:custGeom>
          <a:blipFill rotWithShape="1">
            <a:blip r:embed="rId5">
              <a:alphaModFix/>
            </a:blip>
            <a:stretch>
              <a:fillRect b="0" l="0" r="-38073" t="0"/>
            </a:stretch>
          </a:blipFill>
          <a:ln>
            <a:noFill/>
          </a:ln>
        </p:spPr>
      </p:sp>
      <p:sp>
        <p:nvSpPr>
          <p:cNvPr id="156" name="Google Shape;156;p3"/>
          <p:cNvSpPr/>
          <p:nvPr/>
        </p:nvSpPr>
        <p:spPr>
          <a:xfrm>
            <a:off x="9972418" y="7360789"/>
            <a:ext cx="6284627" cy="2560986"/>
          </a:xfrm>
          <a:custGeom>
            <a:rect b="b" l="l" r="r" t="t"/>
            <a:pathLst>
              <a:path extrusionOk="0" h="2560986" w="6284627">
                <a:moveTo>
                  <a:pt x="0" y="0"/>
                </a:moveTo>
                <a:lnTo>
                  <a:pt x="6284627" y="0"/>
                </a:lnTo>
                <a:lnTo>
                  <a:pt x="6284627" y="2560985"/>
                </a:lnTo>
                <a:lnTo>
                  <a:pt x="0" y="2560985"/>
                </a:lnTo>
                <a:lnTo>
                  <a:pt x="0" y="0"/>
                </a:lnTo>
                <a:close/>
              </a:path>
            </a:pathLst>
          </a:custGeom>
          <a:blipFill rotWithShape="1">
            <a:blip r:embed="rId6">
              <a:alphaModFix/>
            </a:blip>
            <a:stretch>
              <a:fillRect b="0" l="0" r="0" t="0"/>
            </a:stretch>
          </a:blipFill>
          <a:ln>
            <a:noFill/>
          </a:ln>
        </p:spPr>
      </p:sp>
      <p:sp>
        <p:nvSpPr>
          <p:cNvPr id="157" name="Google Shape;157;p3"/>
          <p:cNvSpPr/>
          <p:nvPr/>
        </p:nvSpPr>
        <p:spPr>
          <a:xfrm>
            <a:off x="13114732" y="523228"/>
            <a:ext cx="4903101" cy="2695152"/>
          </a:xfrm>
          <a:custGeom>
            <a:rect b="b" l="l" r="r" t="t"/>
            <a:pathLst>
              <a:path extrusionOk="0" h="2695152" w="4903101">
                <a:moveTo>
                  <a:pt x="0" y="0"/>
                </a:moveTo>
                <a:lnTo>
                  <a:pt x="4903101" y="0"/>
                </a:lnTo>
                <a:lnTo>
                  <a:pt x="4903101" y="2695152"/>
                </a:lnTo>
                <a:lnTo>
                  <a:pt x="0" y="2695152"/>
                </a:lnTo>
                <a:lnTo>
                  <a:pt x="0" y="0"/>
                </a:lnTo>
                <a:close/>
              </a:path>
            </a:pathLst>
          </a:custGeom>
          <a:blipFill rotWithShape="1">
            <a:blip r:embed="rId7">
              <a:alphaModFix/>
            </a:blip>
            <a:stretch>
              <a:fillRect b="0" l="0" r="-32851" t="0"/>
            </a:stretch>
          </a:blipFill>
          <a:ln>
            <a:noFill/>
          </a:ln>
        </p:spPr>
      </p:sp>
      <p:sp>
        <p:nvSpPr>
          <p:cNvPr id="158" name="Google Shape;158;p3"/>
          <p:cNvSpPr/>
          <p:nvPr/>
        </p:nvSpPr>
        <p:spPr>
          <a:xfrm>
            <a:off x="9280682" y="3924347"/>
            <a:ext cx="7127764" cy="2931293"/>
          </a:xfrm>
          <a:custGeom>
            <a:rect b="b" l="l" r="r" t="t"/>
            <a:pathLst>
              <a:path extrusionOk="0" h="2931293" w="7127764">
                <a:moveTo>
                  <a:pt x="0" y="0"/>
                </a:moveTo>
                <a:lnTo>
                  <a:pt x="7127764" y="0"/>
                </a:lnTo>
                <a:lnTo>
                  <a:pt x="7127764" y="2931293"/>
                </a:lnTo>
                <a:lnTo>
                  <a:pt x="0" y="2931293"/>
                </a:lnTo>
                <a:lnTo>
                  <a:pt x="0" y="0"/>
                </a:lnTo>
                <a:close/>
              </a:path>
            </a:pathLst>
          </a:custGeom>
          <a:blipFill rotWithShape="1">
            <a:blip r:embed="rId8">
              <a:alphaModFix/>
            </a:blip>
            <a:stretch>
              <a:fillRect b="0" l="0" r="0" t="0"/>
            </a:stretch>
          </a:blipFill>
          <a:ln>
            <a:noFill/>
          </a:ln>
        </p:spPr>
      </p:sp>
      <p:sp>
        <p:nvSpPr>
          <p:cNvPr id="159" name="Google Shape;159;p3"/>
          <p:cNvSpPr txBox="1"/>
          <p:nvPr/>
        </p:nvSpPr>
        <p:spPr>
          <a:xfrm>
            <a:off x="1221496" y="1298920"/>
            <a:ext cx="3627020" cy="1752600"/>
          </a:xfrm>
          <a:prstGeom prst="rect">
            <a:avLst/>
          </a:prstGeom>
          <a:noFill/>
          <a:ln>
            <a:noFill/>
          </a:ln>
        </p:spPr>
        <p:txBody>
          <a:bodyPr anchorCtr="0" anchor="t" bIns="0" lIns="0" spcFirstLastPara="1" rIns="0" wrap="square" tIns="0">
            <a:spAutoFit/>
          </a:bodyPr>
          <a:lstStyle/>
          <a:p>
            <a:pPr indent="0" lvl="0" marL="0" marR="0" rtl="0" algn="l">
              <a:lnSpc>
                <a:spcPct val="120003"/>
              </a:lnSpc>
              <a:spcBef>
                <a:spcPts val="0"/>
              </a:spcBef>
              <a:spcAft>
                <a:spcPts val="0"/>
              </a:spcAft>
              <a:buNone/>
            </a:pPr>
            <a:r>
              <a:rPr b="1" i="0" lang="en-US" sz="5599" u="none" cap="none" strike="noStrike">
                <a:solidFill>
                  <a:srgbClr val="101010"/>
                </a:solidFill>
                <a:latin typeface="Poppins"/>
                <a:ea typeface="Poppins"/>
                <a:cs typeface="Poppins"/>
                <a:sym typeface="Poppins"/>
              </a:rPr>
              <a:t>Our Dataset</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cxnSp>
        <p:nvCxnSpPr>
          <p:cNvPr id="164" name="Google Shape;164;p4"/>
          <p:cNvCxnSpPr/>
          <p:nvPr/>
        </p:nvCxnSpPr>
        <p:spPr>
          <a:xfrm>
            <a:off x="1028700" y="601417"/>
            <a:ext cx="16230600" cy="0"/>
          </a:xfrm>
          <a:prstGeom prst="straightConnector1">
            <a:avLst/>
          </a:prstGeom>
          <a:noFill/>
          <a:ln cap="flat" cmpd="sng" w="19050">
            <a:solidFill>
              <a:srgbClr val="D9D9D9"/>
            </a:solidFill>
            <a:prstDash val="solid"/>
            <a:round/>
            <a:headEnd len="sm" w="sm" type="none"/>
            <a:tailEnd len="sm" w="sm" type="none"/>
          </a:ln>
        </p:spPr>
      </p:cxnSp>
      <p:grpSp>
        <p:nvGrpSpPr>
          <p:cNvPr id="165" name="Google Shape;165;p4"/>
          <p:cNvGrpSpPr/>
          <p:nvPr/>
        </p:nvGrpSpPr>
        <p:grpSpPr>
          <a:xfrm>
            <a:off x="0" y="-216991"/>
            <a:ext cx="4506284" cy="560478"/>
            <a:chOff x="0" y="-57150"/>
            <a:chExt cx="1186840" cy="147616"/>
          </a:xfrm>
        </p:grpSpPr>
        <p:sp>
          <p:nvSpPr>
            <p:cNvPr id="166" name="Google Shape;166;p4"/>
            <p:cNvSpPr/>
            <p:nvPr/>
          </p:nvSpPr>
          <p:spPr>
            <a:xfrm>
              <a:off x="0" y="0"/>
              <a:ext cx="1186840" cy="90466"/>
            </a:xfrm>
            <a:custGeom>
              <a:rect b="b" l="l" r="r" t="t"/>
              <a:pathLst>
                <a:path extrusionOk="0" h="90466" w="1186840">
                  <a:moveTo>
                    <a:pt x="0" y="0"/>
                  </a:moveTo>
                  <a:lnTo>
                    <a:pt x="1186840" y="0"/>
                  </a:lnTo>
                  <a:lnTo>
                    <a:pt x="1186840" y="90466"/>
                  </a:lnTo>
                  <a:lnTo>
                    <a:pt x="0" y="90466"/>
                  </a:lnTo>
                  <a:close/>
                </a:path>
              </a:pathLst>
            </a:custGeom>
            <a:solidFill>
              <a:srgbClr val="4DE1C7"/>
            </a:solidFill>
            <a:ln>
              <a:noFill/>
            </a:ln>
          </p:spPr>
        </p:sp>
        <p:sp>
          <p:nvSpPr>
            <p:cNvPr id="167" name="Google Shape;167;p4"/>
            <p:cNvSpPr txBox="1"/>
            <p:nvPr/>
          </p:nvSpPr>
          <p:spPr>
            <a:xfrm>
              <a:off x="0" y="-57150"/>
              <a:ext cx="1186840" cy="147616"/>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68" name="Google Shape;168;p4"/>
          <p:cNvGrpSpPr/>
          <p:nvPr/>
        </p:nvGrpSpPr>
        <p:grpSpPr>
          <a:xfrm>
            <a:off x="0" y="-216993"/>
            <a:ext cx="7352720" cy="10504504"/>
            <a:chOff x="0" y="-57150"/>
            <a:chExt cx="1936506" cy="2766600"/>
          </a:xfrm>
        </p:grpSpPr>
        <p:sp>
          <p:nvSpPr>
            <p:cNvPr id="169" name="Google Shape;169;p4"/>
            <p:cNvSpPr/>
            <p:nvPr/>
          </p:nvSpPr>
          <p:spPr>
            <a:xfrm>
              <a:off x="0" y="0"/>
              <a:ext cx="1936506" cy="2709333"/>
            </a:xfrm>
            <a:custGeom>
              <a:rect b="b" l="l" r="r" t="t"/>
              <a:pathLst>
                <a:path extrusionOk="0" h="2709333" w="1936506">
                  <a:moveTo>
                    <a:pt x="0" y="0"/>
                  </a:moveTo>
                  <a:lnTo>
                    <a:pt x="1936506" y="0"/>
                  </a:lnTo>
                  <a:lnTo>
                    <a:pt x="1936506" y="2709333"/>
                  </a:lnTo>
                  <a:lnTo>
                    <a:pt x="0" y="2709333"/>
                  </a:lnTo>
                  <a:close/>
                </a:path>
              </a:pathLst>
            </a:custGeom>
            <a:solidFill>
              <a:srgbClr val="071C42"/>
            </a:solidFill>
            <a:ln>
              <a:noFill/>
            </a:ln>
          </p:spPr>
        </p:sp>
        <p:sp>
          <p:nvSpPr>
            <p:cNvPr id="170" name="Google Shape;170;p4"/>
            <p:cNvSpPr txBox="1"/>
            <p:nvPr/>
          </p:nvSpPr>
          <p:spPr>
            <a:xfrm>
              <a:off x="0" y="-57150"/>
              <a:ext cx="1936500" cy="27666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71" name="Google Shape;171;p4"/>
          <p:cNvSpPr txBox="1"/>
          <p:nvPr/>
        </p:nvSpPr>
        <p:spPr>
          <a:xfrm>
            <a:off x="850200" y="1568544"/>
            <a:ext cx="5179200" cy="1896000"/>
          </a:xfrm>
          <a:prstGeom prst="rect">
            <a:avLst/>
          </a:prstGeom>
          <a:noFill/>
          <a:ln>
            <a:noFill/>
          </a:ln>
        </p:spPr>
        <p:txBody>
          <a:bodyPr anchorCtr="0" anchor="t" bIns="0" lIns="0" spcFirstLastPara="1" rIns="0" wrap="square" tIns="0">
            <a:spAutoFit/>
          </a:bodyPr>
          <a:lstStyle/>
          <a:p>
            <a:pPr indent="0" lvl="0" marL="0" marR="0" rtl="0" algn="l">
              <a:lnSpc>
                <a:spcPct val="120003"/>
              </a:lnSpc>
              <a:spcBef>
                <a:spcPts val="0"/>
              </a:spcBef>
              <a:spcAft>
                <a:spcPts val="0"/>
              </a:spcAft>
              <a:buNone/>
            </a:pPr>
            <a:r>
              <a:rPr b="1" i="0" lang="en-US" sz="5599" u="none" cap="none" strike="noStrike">
                <a:solidFill>
                  <a:srgbClr val="FFFFFF"/>
                </a:solidFill>
                <a:latin typeface="Poppins"/>
                <a:ea typeface="Poppins"/>
                <a:cs typeface="Poppins"/>
                <a:sym typeface="Poppins"/>
              </a:rPr>
              <a:t>Why this dataset?</a:t>
            </a:r>
            <a:endParaRPr/>
          </a:p>
        </p:txBody>
      </p:sp>
      <p:sp>
        <p:nvSpPr>
          <p:cNvPr id="172" name="Google Shape;172;p4"/>
          <p:cNvSpPr txBox="1"/>
          <p:nvPr/>
        </p:nvSpPr>
        <p:spPr>
          <a:xfrm>
            <a:off x="8456100" y="1568550"/>
            <a:ext cx="8803200" cy="7149900"/>
          </a:xfrm>
          <a:prstGeom prst="rect">
            <a:avLst/>
          </a:prstGeom>
          <a:noFill/>
          <a:ln>
            <a:noFill/>
          </a:ln>
        </p:spPr>
        <p:txBody>
          <a:bodyPr anchorCtr="0" anchor="t" bIns="0" lIns="0" spcFirstLastPara="1" rIns="0" wrap="square" tIns="0">
            <a:spAutoFit/>
          </a:bodyPr>
          <a:lstStyle/>
          <a:p>
            <a:pPr indent="-406336" lvl="0" marL="457200" marR="0" rtl="0" algn="l">
              <a:lnSpc>
                <a:spcPct val="150000"/>
              </a:lnSpc>
              <a:spcBef>
                <a:spcPts val="1000"/>
              </a:spcBef>
              <a:spcAft>
                <a:spcPts val="0"/>
              </a:spcAft>
              <a:buClr>
                <a:schemeClr val="dk2"/>
              </a:buClr>
              <a:buSzPts val="2799"/>
              <a:buFont typeface="Poppins"/>
              <a:buChar char="●"/>
            </a:pPr>
            <a:r>
              <a:rPr lang="en-US" sz="2799">
                <a:solidFill>
                  <a:schemeClr val="dk2"/>
                </a:solidFill>
                <a:latin typeface="Poppins"/>
                <a:ea typeface="Poppins"/>
                <a:cs typeface="Poppins"/>
                <a:sym typeface="Poppins"/>
              </a:rPr>
              <a:t>With obesity and severe obesity on the rise, it’s crucial to implement effective exercise programs that encourage healthier lifestyles</a:t>
            </a:r>
            <a:endParaRPr sz="2799">
              <a:solidFill>
                <a:schemeClr val="dk2"/>
              </a:solidFill>
              <a:latin typeface="Poppins"/>
              <a:ea typeface="Poppins"/>
              <a:cs typeface="Poppins"/>
              <a:sym typeface="Poppins"/>
            </a:endParaRPr>
          </a:p>
          <a:p>
            <a:pPr indent="-406336" lvl="0" marL="457200" marR="0" rtl="0" algn="l">
              <a:lnSpc>
                <a:spcPct val="150000"/>
              </a:lnSpc>
              <a:spcBef>
                <a:spcPts val="1000"/>
              </a:spcBef>
              <a:spcAft>
                <a:spcPts val="0"/>
              </a:spcAft>
              <a:buClr>
                <a:schemeClr val="dk2"/>
              </a:buClr>
              <a:buSzPts val="2799"/>
              <a:buFont typeface="Poppins"/>
              <a:buChar char="●"/>
            </a:pPr>
            <a:r>
              <a:rPr lang="en-US" sz="2799">
                <a:solidFill>
                  <a:schemeClr val="dk2"/>
                </a:solidFill>
                <a:latin typeface="Poppins"/>
                <a:ea typeface="Poppins"/>
                <a:cs typeface="Poppins"/>
                <a:sym typeface="Poppins"/>
              </a:rPr>
              <a:t>Alarming statistics can discourage people from starting; exercise programs should focus on accessibility, not just weight loss</a:t>
            </a:r>
            <a:endParaRPr sz="2799">
              <a:solidFill>
                <a:schemeClr val="dk2"/>
              </a:solidFill>
              <a:latin typeface="Poppins"/>
              <a:ea typeface="Poppins"/>
              <a:cs typeface="Poppins"/>
              <a:sym typeface="Poppins"/>
            </a:endParaRPr>
          </a:p>
          <a:p>
            <a:pPr indent="-406336" lvl="0" marL="457200" marR="0" rtl="0" algn="l">
              <a:lnSpc>
                <a:spcPct val="150000"/>
              </a:lnSpc>
              <a:spcBef>
                <a:spcPts val="1000"/>
              </a:spcBef>
              <a:spcAft>
                <a:spcPts val="0"/>
              </a:spcAft>
              <a:buClr>
                <a:schemeClr val="dk2"/>
              </a:buClr>
              <a:buSzPts val="2799"/>
              <a:buFont typeface="Poppins"/>
              <a:buChar char="●"/>
            </a:pPr>
            <a:r>
              <a:rPr lang="en-US" sz="2799">
                <a:solidFill>
                  <a:schemeClr val="dk2"/>
                </a:solidFill>
                <a:latin typeface="Poppins"/>
                <a:ea typeface="Poppins"/>
                <a:cs typeface="Poppins"/>
                <a:sym typeface="Poppins"/>
              </a:rPr>
              <a:t>By using data from fitness apps and devices it allows us to examine what people in real life are doing and tailor workouts based on individual fitness levels, goals, physical health, and habits</a:t>
            </a:r>
            <a:endParaRPr sz="2799">
              <a:solidFill>
                <a:schemeClr val="dk2"/>
              </a:solidFill>
              <a:latin typeface="Poppins"/>
              <a:ea typeface="Poppins"/>
              <a:cs typeface="Poppins"/>
              <a:sym typeface="Poppins"/>
            </a:endParaRPr>
          </a:p>
        </p:txBody>
      </p:sp>
      <p:sp>
        <p:nvSpPr>
          <p:cNvPr id="173" name="Google Shape;173;p4"/>
          <p:cNvSpPr/>
          <p:nvPr/>
        </p:nvSpPr>
        <p:spPr>
          <a:xfrm rot="2088241">
            <a:off x="-5437316" y="4358729"/>
            <a:ext cx="13950823" cy="5388506"/>
          </a:xfrm>
          <a:custGeom>
            <a:rect b="b" l="l" r="r" t="t"/>
            <a:pathLst>
              <a:path extrusionOk="0" h="5395795" w="13969695">
                <a:moveTo>
                  <a:pt x="0" y="0"/>
                </a:moveTo>
                <a:lnTo>
                  <a:pt x="13969695" y="0"/>
                </a:lnTo>
                <a:lnTo>
                  <a:pt x="13969695" y="5395794"/>
                </a:lnTo>
                <a:lnTo>
                  <a:pt x="0" y="5395794"/>
                </a:lnTo>
                <a:lnTo>
                  <a:pt x="0" y="0"/>
                </a:lnTo>
                <a:close/>
              </a:path>
            </a:pathLst>
          </a:custGeom>
          <a:blipFill rotWithShape="1">
            <a:blip r:embed="rId3">
              <a:alphaModFix/>
            </a:blip>
            <a:stretch>
              <a:fillRect b="0" l="0" r="0" t="0"/>
            </a:stretch>
          </a:blipFill>
          <a:ln>
            <a:noFill/>
          </a:ln>
        </p:spPr>
      </p:sp>
      <p:sp>
        <p:nvSpPr>
          <p:cNvPr id="174" name="Google Shape;174;p4"/>
          <p:cNvSpPr txBox="1"/>
          <p:nvPr/>
        </p:nvSpPr>
        <p:spPr>
          <a:xfrm>
            <a:off x="850200" y="3637275"/>
            <a:ext cx="128532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200">
                <a:solidFill>
                  <a:schemeClr val="lt1"/>
                </a:solidFill>
                <a:latin typeface="Calibri"/>
                <a:ea typeface="Calibri"/>
                <a:cs typeface="Calibri"/>
                <a:sym typeface="Calibri"/>
              </a:rPr>
              <a:t>What makes it relevant to this important issue?</a:t>
            </a:r>
            <a:endParaRPr sz="2200">
              <a:solidFill>
                <a:schemeClr val="lt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grpSp>
        <p:nvGrpSpPr>
          <p:cNvPr id="179" name="Google Shape;179;g341d387c2eb_2_220"/>
          <p:cNvGrpSpPr/>
          <p:nvPr/>
        </p:nvGrpSpPr>
        <p:grpSpPr>
          <a:xfrm>
            <a:off x="0" y="-216993"/>
            <a:ext cx="18288118" cy="4761499"/>
            <a:chOff x="0" y="-57150"/>
            <a:chExt cx="4816592" cy="1254049"/>
          </a:xfrm>
        </p:grpSpPr>
        <p:sp>
          <p:nvSpPr>
            <p:cNvPr id="180" name="Google Shape;180;g341d387c2eb_2_220"/>
            <p:cNvSpPr/>
            <p:nvPr/>
          </p:nvSpPr>
          <p:spPr>
            <a:xfrm>
              <a:off x="0" y="0"/>
              <a:ext cx="4816592" cy="1196899"/>
            </a:xfrm>
            <a:custGeom>
              <a:rect b="b" l="l" r="r" t="t"/>
              <a:pathLst>
                <a:path extrusionOk="0" h="1196899" w="4816592">
                  <a:moveTo>
                    <a:pt x="0" y="0"/>
                  </a:moveTo>
                  <a:lnTo>
                    <a:pt x="4816592" y="0"/>
                  </a:lnTo>
                  <a:lnTo>
                    <a:pt x="4816592" y="1196899"/>
                  </a:lnTo>
                  <a:lnTo>
                    <a:pt x="0" y="1196899"/>
                  </a:lnTo>
                  <a:close/>
                </a:path>
              </a:pathLst>
            </a:custGeom>
            <a:solidFill>
              <a:srgbClr val="071C42"/>
            </a:solidFill>
            <a:ln>
              <a:noFill/>
            </a:ln>
          </p:spPr>
        </p:sp>
        <p:sp>
          <p:nvSpPr>
            <p:cNvPr id="181" name="Google Shape;181;g341d387c2eb_2_220"/>
            <p:cNvSpPr txBox="1"/>
            <p:nvPr/>
          </p:nvSpPr>
          <p:spPr>
            <a:xfrm>
              <a:off x="0" y="-57150"/>
              <a:ext cx="4816500" cy="12540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cxnSp>
        <p:nvCxnSpPr>
          <p:cNvPr id="182" name="Google Shape;182;g341d387c2eb_2_220"/>
          <p:cNvCxnSpPr/>
          <p:nvPr/>
        </p:nvCxnSpPr>
        <p:spPr>
          <a:xfrm>
            <a:off x="1028700" y="601417"/>
            <a:ext cx="16230600" cy="0"/>
          </a:xfrm>
          <a:prstGeom prst="straightConnector1">
            <a:avLst/>
          </a:prstGeom>
          <a:noFill/>
          <a:ln cap="flat" cmpd="sng" w="19050">
            <a:solidFill>
              <a:srgbClr val="D9D9D9"/>
            </a:solidFill>
            <a:prstDash val="solid"/>
            <a:round/>
            <a:headEnd len="sm" w="sm" type="none"/>
            <a:tailEnd len="sm" w="sm" type="none"/>
          </a:ln>
        </p:spPr>
      </p:cxnSp>
      <p:grpSp>
        <p:nvGrpSpPr>
          <p:cNvPr id="183" name="Google Shape;183;g341d387c2eb_2_220"/>
          <p:cNvGrpSpPr/>
          <p:nvPr/>
        </p:nvGrpSpPr>
        <p:grpSpPr>
          <a:xfrm>
            <a:off x="0" y="3983995"/>
            <a:ext cx="9144454" cy="560483"/>
            <a:chOff x="0" y="-57150"/>
            <a:chExt cx="2408400" cy="147616"/>
          </a:xfrm>
        </p:grpSpPr>
        <p:sp>
          <p:nvSpPr>
            <p:cNvPr id="184" name="Google Shape;184;g341d387c2eb_2_220"/>
            <p:cNvSpPr/>
            <p:nvPr/>
          </p:nvSpPr>
          <p:spPr>
            <a:xfrm>
              <a:off x="0" y="0"/>
              <a:ext cx="2408296" cy="90466"/>
            </a:xfrm>
            <a:custGeom>
              <a:rect b="b" l="l" r="r" t="t"/>
              <a:pathLst>
                <a:path extrusionOk="0" h="90466" w="2408296">
                  <a:moveTo>
                    <a:pt x="0" y="0"/>
                  </a:moveTo>
                  <a:lnTo>
                    <a:pt x="2408296" y="0"/>
                  </a:lnTo>
                  <a:lnTo>
                    <a:pt x="2408296" y="90466"/>
                  </a:lnTo>
                  <a:lnTo>
                    <a:pt x="0" y="90466"/>
                  </a:lnTo>
                  <a:close/>
                </a:path>
              </a:pathLst>
            </a:custGeom>
            <a:solidFill>
              <a:srgbClr val="4DE1C7"/>
            </a:solidFill>
            <a:ln>
              <a:noFill/>
            </a:ln>
          </p:spPr>
        </p:sp>
        <p:sp>
          <p:nvSpPr>
            <p:cNvPr id="185" name="Google Shape;185;g341d387c2eb_2_220"/>
            <p:cNvSpPr txBox="1"/>
            <p:nvPr/>
          </p:nvSpPr>
          <p:spPr>
            <a:xfrm>
              <a:off x="0" y="-57150"/>
              <a:ext cx="2408400" cy="1476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86" name="Google Shape;186;g341d387c2eb_2_220"/>
          <p:cNvSpPr/>
          <p:nvPr/>
        </p:nvSpPr>
        <p:spPr>
          <a:xfrm rot="4689340">
            <a:off x="8471474" y="1569675"/>
            <a:ext cx="13952441" cy="5389130"/>
          </a:xfrm>
          <a:custGeom>
            <a:rect b="b" l="l" r="r" t="t"/>
            <a:pathLst>
              <a:path extrusionOk="0" h="5395795" w="13969695">
                <a:moveTo>
                  <a:pt x="0" y="0"/>
                </a:moveTo>
                <a:lnTo>
                  <a:pt x="13969695" y="0"/>
                </a:lnTo>
                <a:lnTo>
                  <a:pt x="13969695" y="5395795"/>
                </a:lnTo>
                <a:lnTo>
                  <a:pt x="0" y="5395795"/>
                </a:lnTo>
                <a:lnTo>
                  <a:pt x="0" y="0"/>
                </a:lnTo>
                <a:close/>
              </a:path>
            </a:pathLst>
          </a:custGeom>
          <a:blipFill rotWithShape="1">
            <a:blip r:embed="rId3">
              <a:alphaModFix/>
            </a:blip>
            <a:stretch>
              <a:fillRect b="0" l="0" r="0" t="0"/>
            </a:stretch>
          </a:blipFill>
          <a:ln>
            <a:noFill/>
          </a:ln>
        </p:spPr>
      </p:sp>
      <p:sp>
        <p:nvSpPr>
          <p:cNvPr id="187" name="Google Shape;187;g341d387c2eb_2_220"/>
          <p:cNvSpPr txBox="1"/>
          <p:nvPr/>
        </p:nvSpPr>
        <p:spPr>
          <a:xfrm>
            <a:off x="403875" y="4701975"/>
            <a:ext cx="17168400" cy="5833200"/>
          </a:xfrm>
          <a:prstGeom prst="rect">
            <a:avLst/>
          </a:prstGeom>
          <a:noFill/>
          <a:ln>
            <a:noFill/>
          </a:ln>
        </p:spPr>
        <p:txBody>
          <a:bodyPr anchorCtr="0" anchor="t" bIns="0" lIns="0" spcFirstLastPara="1" rIns="0" wrap="square" tIns="0">
            <a:spAutoFit/>
          </a:bodyPr>
          <a:lstStyle/>
          <a:p>
            <a:pPr indent="-349250" lvl="0" marL="457200" rtl="0" algn="l">
              <a:lnSpc>
                <a:spcPct val="100000"/>
              </a:lnSpc>
              <a:spcBef>
                <a:spcPts val="1200"/>
              </a:spcBef>
              <a:spcAft>
                <a:spcPts val="0"/>
              </a:spcAft>
              <a:buClr>
                <a:schemeClr val="dk1"/>
              </a:buClr>
              <a:buSzPts val="1900"/>
              <a:buAutoNum type="arabicPeriod"/>
            </a:pPr>
            <a:r>
              <a:rPr b="1" lang="en-US" sz="1900">
                <a:solidFill>
                  <a:schemeClr val="dk1"/>
                </a:solidFill>
              </a:rPr>
              <a:t>What combination of workout types and durations maximizes calorie burn efficiency for different user profiles (clustered by age, BMI, and fitness level)?</a:t>
            </a:r>
            <a:endParaRPr b="1" sz="1900">
              <a:solidFill>
                <a:schemeClr val="dk1"/>
              </a:solidFill>
            </a:endParaRPr>
          </a:p>
          <a:p>
            <a:pPr indent="0" lvl="0" marL="457200" rtl="0" algn="l">
              <a:lnSpc>
                <a:spcPct val="100000"/>
              </a:lnSpc>
              <a:spcBef>
                <a:spcPts val="1200"/>
              </a:spcBef>
              <a:spcAft>
                <a:spcPts val="0"/>
              </a:spcAft>
              <a:buNone/>
            </a:pPr>
            <a:r>
              <a:t/>
            </a:r>
            <a:endParaRPr b="1" sz="1900">
              <a:solidFill>
                <a:schemeClr val="dk1"/>
              </a:solidFill>
            </a:endParaRPr>
          </a:p>
          <a:p>
            <a:pPr indent="-349250" lvl="0" marL="457200" rtl="0" algn="l">
              <a:lnSpc>
                <a:spcPct val="100000"/>
              </a:lnSpc>
              <a:spcBef>
                <a:spcPts val="1200"/>
              </a:spcBef>
              <a:spcAft>
                <a:spcPts val="0"/>
              </a:spcAft>
              <a:buClr>
                <a:schemeClr val="dk1"/>
              </a:buClr>
              <a:buSzPts val="1900"/>
              <a:buAutoNum type="arabicPeriod"/>
            </a:pPr>
            <a:r>
              <a:rPr b="1" lang="en-US" sz="1900">
                <a:solidFill>
                  <a:schemeClr val="dk1"/>
                </a:solidFill>
              </a:rPr>
              <a:t>How does the relationship between heart rate patterns and calorie burn vary across different workout types, and can this predict optimal workout intensity?</a:t>
            </a:r>
            <a:endParaRPr b="1" sz="1900">
              <a:solidFill>
                <a:schemeClr val="dk1"/>
              </a:solidFill>
            </a:endParaRPr>
          </a:p>
          <a:p>
            <a:pPr indent="0" lvl="0" marL="0" rtl="0" algn="l">
              <a:lnSpc>
                <a:spcPct val="100000"/>
              </a:lnSpc>
              <a:spcBef>
                <a:spcPts val="1200"/>
              </a:spcBef>
              <a:spcAft>
                <a:spcPts val="0"/>
              </a:spcAft>
              <a:buNone/>
            </a:pPr>
            <a:r>
              <a:t/>
            </a:r>
            <a:endParaRPr b="1" sz="1900">
              <a:solidFill>
                <a:schemeClr val="dk1"/>
              </a:solidFill>
            </a:endParaRPr>
          </a:p>
          <a:p>
            <a:pPr indent="-349250" lvl="0" marL="457200" rtl="0" algn="l">
              <a:lnSpc>
                <a:spcPct val="100000"/>
              </a:lnSpc>
              <a:spcBef>
                <a:spcPts val="1200"/>
              </a:spcBef>
              <a:spcAft>
                <a:spcPts val="0"/>
              </a:spcAft>
              <a:buClr>
                <a:schemeClr val="dk1"/>
              </a:buClr>
              <a:buSzPts val="1900"/>
              <a:buAutoNum type="arabicPeriod"/>
            </a:pPr>
            <a:r>
              <a:rPr b="1" lang="en-US" sz="1900">
                <a:solidFill>
                  <a:schemeClr val="dk1"/>
                </a:solidFill>
              </a:rPr>
              <a:t>Can we identify distinct user profiles based on their workout patterns using clustering analysis on workout duration, calorie burn, and heart rate?</a:t>
            </a:r>
            <a:endParaRPr b="1" sz="1900">
              <a:solidFill>
                <a:schemeClr val="dk1"/>
              </a:solidFill>
            </a:endParaRPr>
          </a:p>
          <a:p>
            <a:pPr indent="0" lvl="0" marL="0" rtl="0" algn="l">
              <a:lnSpc>
                <a:spcPct val="100000"/>
              </a:lnSpc>
              <a:spcBef>
                <a:spcPts val="1200"/>
              </a:spcBef>
              <a:spcAft>
                <a:spcPts val="0"/>
              </a:spcAft>
              <a:buNone/>
            </a:pPr>
            <a:r>
              <a:t/>
            </a:r>
            <a:endParaRPr b="1" sz="1900">
              <a:solidFill>
                <a:schemeClr val="dk1"/>
              </a:solidFill>
            </a:endParaRPr>
          </a:p>
          <a:p>
            <a:pPr indent="-349250" lvl="0" marL="457200" rtl="0" algn="l">
              <a:lnSpc>
                <a:spcPct val="100000"/>
              </a:lnSpc>
              <a:spcBef>
                <a:spcPts val="1200"/>
              </a:spcBef>
              <a:spcAft>
                <a:spcPts val="0"/>
              </a:spcAft>
              <a:buClr>
                <a:schemeClr val="dk1"/>
              </a:buClr>
              <a:buSzPts val="1900"/>
              <a:buAutoNum type="arabicPeriod"/>
            </a:pPr>
            <a:r>
              <a:rPr b="1" lang="en-US" sz="1900">
                <a:solidFill>
                  <a:schemeClr val="dk1"/>
                </a:solidFill>
              </a:rPr>
              <a:t>Is there an effect on calorie burn based on your workout type and BMI Category? </a:t>
            </a:r>
            <a:endParaRPr b="1" sz="1900">
              <a:solidFill>
                <a:schemeClr val="dk1"/>
              </a:solidFill>
            </a:endParaRPr>
          </a:p>
          <a:p>
            <a:pPr indent="0" lvl="0" marL="0" rtl="0" algn="l">
              <a:lnSpc>
                <a:spcPct val="100000"/>
              </a:lnSpc>
              <a:spcBef>
                <a:spcPts val="1200"/>
              </a:spcBef>
              <a:spcAft>
                <a:spcPts val="0"/>
              </a:spcAft>
              <a:buNone/>
            </a:pPr>
            <a:r>
              <a:t/>
            </a:r>
            <a:endParaRPr b="1" sz="1900">
              <a:solidFill>
                <a:schemeClr val="dk1"/>
              </a:solidFill>
            </a:endParaRPr>
          </a:p>
          <a:p>
            <a:pPr indent="-349250" lvl="0" marL="457200" rtl="0" algn="l">
              <a:lnSpc>
                <a:spcPct val="100000"/>
              </a:lnSpc>
              <a:spcBef>
                <a:spcPts val="1200"/>
              </a:spcBef>
              <a:spcAft>
                <a:spcPts val="0"/>
              </a:spcAft>
              <a:buClr>
                <a:schemeClr val="dk1"/>
              </a:buClr>
              <a:buSzPts val="1900"/>
              <a:buAutoNum type="arabicPeriod"/>
            </a:pPr>
            <a:r>
              <a:rPr b="1" lang="en-US" sz="1900">
                <a:solidFill>
                  <a:schemeClr val="dk1"/>
                </a:solidFill>
              </a:rPr>
              <a:t>Is there a link between poor sleep and resting heart rate?</a:t>
            </a:r>
            <a:endParaRPr b="1" sz="1900">
              <a:solidFill>
                <a:schemeClr val="dk1"/>
              </a:solidFill>
            </a:endParaRPr>
          </a:p>
          <a:p>
            <a:pPr indent="0" lvl="0" marL="0" rtl="0" algn="l">
              <a:lnSpc>
                <a:spcPct val="100000"/>
              </a:lnSpc>
              <a:spcBef>
                <a:spcPts val="1200"/>
              </a:spcBef>
              <a:spcAft>
                <a:spcPts val="0"/>
              </a:spcAft>
              <a:buNone/>
            </a:pPr>
            <a:r>
              <a:t/>
            </a:r>
            <a:endParaRPr b="1" sz="1900">
              <a:solidFill>
                <a:schemeClr val="dk1"/>
              </a:solidFill>
            </a:endParaRPr>
          </a:p>
          <a:p>
            <a:pPr indent="-349250" lvl="0" marL="457200" rtl="0" algn="l">
              <a:lnSpc>
                <a:spcPct val="100000"/>
              </a:lnSpc>
              <a:spcBef>
                <a:spcPts val="1200"/>
              </a:spcBef>
              <a:spcAft>
                <a:spcPts val="0"/>
              </a:spcAft>
              <a:buClr>
                <a:schemeClr val="dk1"/>
              </a:buClr>
              <a:buSzPts val="1900"/>
              <a:buAutoNum type="arabicPeriod"/>
            </a:pPr>
            <a:r>
              <a:rPr b="1" lang="en-US" sz="1900">
                <a:solidFill>
                  <a:schemeClr val="dk1"/>
                </a:solidFill>
              </a:rPr>
              <a:t>Is there a relationship between mood before and mood after workout?</a:t>
            </a:r>
            <a:endParaRPr b="1" sz="1900">
              <a:solidFill>
                <a:schemeClr val="dk1"/>
              </a:solidFill>
            </a:endParaRPr>
          </a:p>
          <a:p>
            <a:pPr indent="0" lvl="0" marL="0" marR="0" rtl="0" algn="l">
              <a:lnSpc>
                <a:spcPct val="159990"/>
              </a:lnSpc>
              <a:spcBef>
                <a:spcPts val="1200"/>
              </a:spcBef>
              <a:spcAft>
                <a:spcPts val="0"/>
              </a:spcAft>
              <a:buNone/>
            </a:pPr>
            <a:r>
              <a:t/>
            </a:r>
            <a:endParaRPr sz="2197">
              <a:solidFill>
                <a:srgbClr val="545454"/>
              </a:solidFill>
              <a:latin typeface="Poppins"/>
              <a:ea typeface="Poppins"/>
              <a:cs typeface="Poppins"/>
              <a:sym typeface="Poppins"/>
            </a:endParaRPr>
          </a:p>
        </p:txBody>
      </p:sp>
      <p:sp>
        <p:nvSpPr>
          <p:cNvPr id="188" name="Google Shape;188;g341d387c2eb_2_220"/>
          <p:cNvSpPr txBox="1"/>
          <p:nvPr/>
        </p:nvSpPr>
        <p:spPr>
          <a:xfrm>
            <a:off x="1522427" y="2099976"/>
            <a:ext cx="11071500" cy="861900"/>
          </a:xfrm>
          <a:prstGeom prst="rect">
            <a:avLst/>
          </a:prstGeom>
          <a:noFill/>
          <a:ln>
            <a:noFill/>
          </a:ln>
        </p:spPr>
        <p:txBody>
          <a:bodyPr anchorCtr="0" anchor="t" bIns="0" lIns="0" spcFirstLastPara="1" rIns="0" wrap="square" tIns="0">
            <a:spAutoFit/>
          </a:bodyPr>
          <a:lstStyle/>
          <a:p>
            <a:pPr indent="0" lvl="0" marL="0" marR="0" rtl="0" algn="l">
              <a:lnSpc>
                <a:spcPct val="120003"/>
              </a:lnSpc>
              <a:spcBef>
                <a:spcPts val="0"/>
              </a:spcBef>
              <a:spcAft>
                <a:spcPts val="0"/>
              </a:spcAft>
              <a:buNone/>
            </a:pPr>
            <a:r>
              <a:rPr b="1" lang="en-US" sz="5599">
                <a:solidFill>
                  <a:srgbClr val="FFFFFF"/>
                </a:solidFill>
                <a:latin typeface="Poppins"/>
                <a:ea typeface="Poppins"/>
                <a:cs typeface="Poppins"/>
                <a:sym typeface="Poppins"/>
              </a:rPr>
              <a:t>Proposed SMART questions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71C42"/>
        </a:solidFill>
      </p:bgPr>
    </p:bg>
    <p:spTree>
      <p:nvGrpSpPr>
        <p:cNvPr id="192" name="Shape 192"/>
        <p:cNvGrpSpPr/>
        <p:nvPr/>
      </p:nvGrpSpPr>
      <p:grpSpPr>
        <a:xfrm>
          <a:off x="0" y="0"/>
          <a:ext cx="0" cy="0"/>
          <a:chOff x="0" y="0"/>
          <a:chExt cx="0" cy="0"/>
        </a:xfrm>
      </p:grpSpPr>
      <p:grpSp>
        <p:nvGrpSpPr>
          <p:cNvPr id="193" name="Google Shape;193;p7"/>
          <p:cNvGrpSpPr/>
          <p:nvPr/>
        </p:nvGrpSpPr>
        <p:grpSpPr>
          <a:xfrm>
            <a:off x="8758674" y="1627874"/>
            <a:ext cx="8088839" cy="7273509"/>
            <a:chOff x="0" y="-57150"/>
            <a:chExt cx="2168357" cy="2007870"/>
          </a:xfrm>
        </p:grpSpPr>
        <p:sp>
          <p:nvSpPr>
            <p:cNvPr id="194" name="Google Shape;194;p7"/>
            <p:cNvSpPr/>
            <p:nvPr/>
          </p:nvSpPr>
          <p:spPr>
            <a:xfrm>
              <a:off x="0" y="0"/>
              <a:ext cx="2168357" cy="1950720"/>
            </a:xfrm>
            <a:custGeom>
              <a:rect b="b" l="l" r="r" t="t"/>
              <a:pathLst>
                <a:path extrusionOk="0" h="1950720" w="2168357">
                  <a:moveTo>
                    <a:pt x="0" y="0"/>
                  </a:moveTo>
                  <a:lnTo>
                    <a:pt x="2168357" y="0"/>
                  </a:lnTo>
                  <a:lnTo>
                    <a:pt x="2168357" y="1950720"/>
                  </a:lnTo>
                  <a:lnTo>
                    <a:pt x="0" y="1950720"/>
                  </a:lnTo>
                  <a:close/>
                </a:path>
              </a:pathLst>
            </a:custGeom>
            <a:solidFill>
              <a:srgbClr val="FFFFFF"/>
            </a:solidFill>
            <a:ln>
              <a:noFill/>
            </a:ln>
          </p:spPr>
        </p:sp>
        <p:sp>
          <p:nvSpPr>
            <p:cNvPr id="195" name="Google Shape;195;p7"/>
            <p:cNvSpPr txBox="1"/>
            <p:nvPr/>
          </p:nvSpPr>
          <p:spPr>
            <a:xfrm>
              <a:off x="0" y="-57150"/>
              <a:ext cx="2168357" cy="200787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96" name="Google Shape;196;p7"/>
          <p:cNvSpPr txBox="1"/>
          <p:nvPr/>
        </p:nvSpPr>
        <p:spPr>
          <a:xfrm>
            <a:off x="1306232" y="1122999"/>
            <a:ext cx="3627000" cy="861900"/>
          </a:xfrm>
          <a:prstGeom prst="rect">
            <a:avLst/>
          </a:prstGeom>
          <a:noFill/>
          <a:ln>
            <a:noFill/>
          </a:ln>
        </p:spPr>
        <p:txBody>
          <a:bodyPr anchorCtr="0" anchor="t" bIns="0" lIns="0" spcFirstLastPara="1" rIns="0" wrap="square" tIns="0">
            <a:spAutoFit/>
          </a:bodyPr>
          <a:lstStyle/>
          <a:p>
            <a:pPr indent="0" lvl="0" marL="0" marR="0" rtl="0" algn="l">
              <a:lnSpc>
                <a:spcPct val="120003"/>
              </a:lnSpc>
              <a:spcBef>
                <a:spcPts val="0"/>
              </a:spcBef>
              <a:spcAft>
                <a:spcPts val="0"/>
              </a:spcAft>
              <a:buNone/>
            </a:pPr>
            <a:r>
              <a:rPr b="1" i="0" lang="en-US" sz="5599" u="none" cap="none" strike="noStrike">
                <a:solidFill>
                  <a:srgbClr val="FFFFFF"/>
                </a:solidFill>
                <a:latin typeface="Poppins"/>
                <a:ea typeface="Poppins"/>
                <a:cs typeface="Poppins"/>
                <a:sym typeface="Poppins"/>
              </a:rPr>
              <a:t>Coding </a:t>
            </a:r>
            <a:endParaRPr/>
          </a:p>
        </p:txBody>
      </p:sp>
      <p:sp>
        <p:nvSpPr>
          <p:cNvPr id="197" name="Google Shape;197;p7"/>
          <p:cNvSpPr txBox="1"/>
          <p:nvPr/>
        </p:nvSpPr>
        <p:spPr>
          <a:xfrm>
            <a:off x="1207675" y="2232775"/>
            <a:ext cx="6183600" cy="7462200"/>
          </a:xfrm>
          <a:prstGeom prst="rect">
            <a:avLst/>
          </a:prstGeom>
          <a:noFill/>
          <a:ln>
            <a:noFill/>
          </a:ln>
        </p:spPr>
        <p:txBody>
          <a:bodyPr anchorCtr="0" anchor="t" bIns="0" lIns="0" spcFirstLastPara="1" rIns="0" wrap="square" tIns="0">
            <a:spAutoFit/>
          </a:bodyPr>
          <a:lstStyle/>
          <a:p>
            <a:pPr indent="-381000" lvl="0" marL="457200" marR="0" rtl="0" algn="l">
              <a:lnSpc>
                <a:spcPct val="160000"/>
              </a:lnSpc>
              <a:spcBef>
                <a:spcPts val="0"/>
              </a:spcBef>
              <a:spcAft>
                <a:spcPts val="0"/>
              </a:spcAft>
              <a:buClr>
                <a:srgbClr val="D9D9D9"/>
              </a:buClr>
              <a:buSzPts val="2400"/>
              <a:buFont typeface="Poppins"/>
              <a:buAutoNum type="arabicPeriod"/>
            </a:pPr>
            <a:r>
              <a:rPr b="1" lang="en-US" sz="2400">
                <a:solidFill>
                  <a:srgbClr val="D9D9D9"/>
                </a:solidFill>
                <a:latin typeface="Poppins"/>
                <a:ea typeface="Poppins"/>
                <a:cs typeface="Poppins"/>
                <a:sym typeface="Poppins"/>
              </a:rPr>
              <a:t>Data Preparation</a:t>
            </a:r>
            <a:endParaRPr b="1" sz="2400">
              <a:solidFill>
                <a:srgbClr val="D9D9D9"/>
              </a:solidFill>
              <a:latin typeface="Poppins"/>
              <a:ea typeface="Poppins"/>
              <a:cs typeface="Poppins"/>
              <a:sym typeface="Poppins"/>
            </a:endParaRPr>
          </a:p>
          <a:p>
            <a:pPr indent="-381000" lvl="1" marL="914400" rtl="0" algn="l">
              <a:lnSpc>
                <a:spcPct val="160000"/>
              </a:lnSpc>
              <a:spcBef>
                <a:spcPts val="0"/>
              </a:spcBef>
              <a:spcAft>
                <a:spcPts val="0"/>
              </a:spcAft>
              <a:buClr>
                <a:srgbClr val="D9D9D9"/>
              </a:buClr>
              <a:buSzPts val="2400"/>
              <a:buFont typeface="Poppins"/>
              <a:buChar char="○"/>
            </a:pPr>
            <a:r>
              <a:rPr lang="en-US" sz="2400">
                <a:solidFill>
                  <a:srgbClr val="D9D9D9"/>
                </a:solidFill>
                <a:latin typeface="Poppins"/>
                <a:ea typeface="Poppins"/>
                <a:cs typeface="Poppins"/>
                <a:sym typeface="Poppins"/>
              </a:rPr>
              <a:t>Removing Redundant Columns</a:t>
            </a:r>
            <a:endParaRPr sz="2400">
              <a:solidFill>
                <a:srgbClr val="D9D9D9"/>
              </a:solidFill>
              <a:latin typeface="Poppins"/>
              <a:ea typeface="Poppins"/>
              <a:cs typeface="Poppins"/>
              <a:sym typeface="Poppins"/>
            </a:endParaRPr>
          </a:p>
          <a:p>
            <a:pPr indent="-381000" lvl="1" marL="914400" rtl="0" algn="l">
              <a:lnSpc>
                <a:spcPct val="160000"/>
              </a:lnSpc>
              <a:spcBef>
                <a:spcPts val="0"/>
              </a:spcBef>
              <a:spcAft>
                <a:spcPts val="0"/>
              </a:spcAft>
              <a:buClr>
                <a:srgbClr val="D9D9D9"/>
              </a:buClr>
              <a:buSzPts val="2400"/>
              <a:buFont typeface="Poppins"/>
              <a:buChar char="○"/>
            </a:pPr>
            <a:r>
              <a:rPr lang="en-US" sz="2400">
                <a:solidFill>
                  <a:srgbClr val="D9D9D9"/>
                </a:solidFill>
                <a:latin typeface="Poppins"/>
                <a:ea typeface="Poppins"/>
                <a:cs typeface="Poppins"/>
                <a:sym typeface="Poppins"/>
              </a:rPr>
              <a:t> Renaming Columns </a:t>
            </a:r>
            <a:endParaRPr sz="2400">
              <a:solidFill>
                <a:srgbClr val="D9D9D9"/>
              </a:solidFill>
              <a:latin typeface="Poppins"/>
              <a:ea typeface="Poppins"/>
              <a:cs typeface="Poppins"/>
              <a:sym typeface="Poppins"/>
            </a:endParaRPr>
          </a:p>
          <a:p>
            <a:pPr indent="-381000" lvl="1" marL="914400" rtl="0" algn="l">
              <a:lnSpc>
                <a:spcPct val="160000"/>
              </a:lnSpc>
              <a:spcBef>
                <a:spcPts val="0"/>
              </a:spcBef>
              <a:spcAft>
                <a:spcPts val="0"/>
              </a:spcAft>
              <a:buClr>
                <a:srgbClr val="D9D9D9"/>
              </a:buClr>
              <a:buSzPts val="2400"/>
              <a:buFont typeface="Poppins"/>
              <a:buChar char="○"/>
            </a:pPr>
            <a:r>
              <a:rPr lang="en-US" sz="2400">
                <a:solidFill>
                  <a:srgbClr val="D9D9D9"/>
                </a:solidFill>
                <a:latin typeface="Poppins"/>
                <a:ea typeface="Poppins"/>
                <a:cs typeface="Poppins"/>
                <a:sym typeface="Poppins"/>
              </a:rPr>
              <a:t> Updating Data Types </a:t>
            </a:r>
            <a:endParaRPr sz="2400">
              <a:solidFill>
                <a:srgbClr val="D9D9D9"/>
              </a:solidFill>
              <a:latin typeface="Poppins"/>
              <a:ea typeface="Poppins"/>
              <a:cs typeface="Poppins"/>
              <a:sym typeface="Poppins"/>
            </a:endParaRPr>
          </a:p>
          <a:p>
            <a:pPr indent="-381000" lvl="1" marL="914400" rtl="0" algn="l">
              <a:lnSpc>
                <a:spcPct val="160000"/>
              </a:lnSpc>
              <a:spcBef>
                <a:spcPts val="0"/>
              </a:spcBef>
              <a:spcAft>
                <a:spcPts val="0"/>
              </a:spcAft>
              <a:buClr>
                <a:srgbClr val="D9D9D9"/>
              </a:buClr>
              <a:buSzPts val="2400"/>
              <a:buFont typeface="Poppins"/>
              <a:buChar char="○"/>
            </a:pPr>
            <a:r>
              <a:rPr lang="en-US" sz="2400">
                <a:solidFill>
                  <a:srgbClr val="D9D9D9"/>
                </a:solidFill>
                <a:latin typeface="Poppins"/>
                <a:ea typeface="Poppins"/>
                <a:cs typeface="Poppins"/>
                <a:sym typeface="Poppins"/>
              </a:rPr>
              <a:t>Missing data  Imputation </a:t>
            </a:r>
            <a:endParaRPr sz="2400">
              <a:solidFill>
                <a:srgbClr val="D9D9D9"/>
              </a:solidFill>
              <a:latin typeface="Poppins"/>
              <a:ea typeface="Poppins"/>
              <a:cs typeface="Poppins"/>
              <a:sym typeface="Poppins"/>
            </a:endParaRPr>
          </a:p>
          <a:p>
            <a:pPr indent="-381000" lvl="1" marL="914400" rtl="0" algn="l">
              <a:lnSpc>
                <a:spcPct val="160000"/>
              </a:lnSpc>
              <a:spcBef>
                <a:spcPts val="0"/>
              </a:spcBef>
              <a:spcAft>
                <a:spcPts val="0"/>
              </a:spcAft>
              <a:buClr>
                <a:srgbClr val="D9D9D9"/>
              </a:buClr>
              <a:buSzPts val="2400"/>
              <a:buFont typeface="Poppins"/>
              <a:buChar char="○"/>
            </a:pPr>
            <a:r>
              <a:rPr lang="en-US" sz="2400">
                <a:solidFill>
                  <a:srgbClr val="D9D9D9"/>
                </a:solidFill>
                <a:latin typeface="Poppins"/>
                <a:ea typeface="Poppins"/>
                <a:cs typeface="Poppins"/>
                <a:sym typeface="Poppins"/>
              </a:rPr>
              <a:t>Handling Outliers</a:t>
            </a:r>
            <a:endParaRPr sz="2400">
              <a:solidFill>
                <a:srgbClr val="D9D9D9"/>
              </a:solidFill>
              <a:latin typeface="Poppins"/>
              <a:ea typeface="Poppins"/>
              <a:cs typeface="Poppins"/>
              <a:sym typeface="Poppins"/>
            </a:endParaRPr>
          </a:p>
          <a:p>
            <a:pPr indent="-381000" lvl="1" marL="914400" rtl="0" algn="l">
              <a:lnSpc>
                <a:spcPct val="160000"/>
              </a:lnSpc>
              <a:spcBef>
                <a:spcPts val="0"/>
              </a:spcBef>
              <a:spcAft>
                <a:spcPts val="0"/>
              </a:spcAft>
              <a:buClr>
                <a:srgbClr val="D9D9D9"/>
              </a:buClr>
              <a:buSzPts val="2400"/>
              <a:buFont typeface="Poppins"/>
              <a:buChar char="○"/>
            </a:pPr>
            <a:r>
              <a:rPr lang="en-US" sz="2400">
                <a:solidFill>
                  <a:srgbClr val="D9D9D9"/>
                </a:solidFill>
                <a:latin typeface="Poppins"/>
                <a:ea typeface="Poppins"/>
                <a:cs typeface="Poppins"/>
                <a:sym typeface="Poppins"/>
              </a:rPr>
              <a:t> Feature Creation [BMI Category, Age Groups]</a:t>
            </a:r>
            <a:endParaRPr sz="2400">
              <a:solidFill>
                <a:srgbClr val="D9D9D9"/>
              </a:solidFill>
              <a:latin typeface="Poppins"/>
              <a:ea typeface="Poppins"/>
              <a:cs typeface="Poppins"/>
              <a:sym typeface="Poppins"/>
            </a:endParaRPr>
          </a:p>
          <a:p>
            <a:pPr indent="-381000" lvl="0" marL="457200" rtl="0" algn="l">
              <a:lnSpc>
                <a:spcPct val="160000"/>
              </a:lnSpc>
              <a:spcBef>
                <a:spcPts val="0"/>
              </a:spcBef>
              <a:spcAft>
                <a:spcPts val="0"/>
              </a:spcAft>
              <a:buClr>
                <a:srgbClr val="D9D9D9"/>
              </a:buClr>
              <a:buSzPts val="2400"/>
              <a:buFont typeface="Poppins"/>
              <a:buAutoNum type="arabicPeriod"/>
            </a:pPr>
            <a:r>
              <a:rPr b="1" lang="en-US" sz="2400">
                <a:solidFill>
                  <a:srgbClr val="D9D9D9"/>
                </a:solidFill>
                <a:latin typeface="Poppins"/>
                <a:ea typeface="Poppins"/>
                <a:cs typeface="Poppins"/>
                <a:sym typeface="Poppins"/>
              </a:rPr>
              <a:t>EDA</a:t>
            </a:r>
            <a:endParaRPr b="1" sz="2400">
              <a:solidFill>
                <a:srgbClr val="D9D9D9"/>
              </a:solidFill>
              <a:latin typeface="Poppins"/>
              <a:ea typeface="Poppins"/>
              <a:cs typeface="Poppins"/>
              <a:sym typeface="Poppins"/>
            </a:endParaRPr>
          </a:p>
          <a:p>
            <a:pPr indent="-381000" lvl="0" marL="457200" rtl="0" algn="l">
              <a:lnSpc>
                <a:spcPct val="160000"/>
              </a:lnSpc>
              <a:spcBef>
                <a:spcPts val="0"/>
              </a:spcBef>
              <a:spcAft>
                <a:spcPts val="0"/>
              </a:spcAft>
              <a:buClr>
                <a:srgbClr val="D9D9D9"/>
              </a:buClr>
              <a:buSzPts val="2400"/>
              <a:buFont typeface="Poppins"/>
              <a:buAutoNum type="arabicPeriod"/>
            </a:pPr>
            <a:r>
              <a:rPr b="1" lang="en-US" sz="2400">
                <a:solidFill>
                  <a:srgbClr val="D9D9D9"/>
                </a:solidFill>
                <a:latin typeface="Poppins"/>
                <a:ea typeface="Poppins"/>
                <a:cs typeface="Poppins"/>
                <a:sym typeface="Poppins"/>
              </a:rPr>
              <a:t>SMART Questions</a:t>
            </a:r>
            <a:endParaRPr b="1" sz="2400">
              <a:solidFill>
                <a:srgbClr val="D9D9D9"/>
              </a:solidFill>
              <a:latin typeface="Poppins"/>
              <a:ea typeface="Poppins"/>
              <a:cs typeface="Poppins"/>
              <a:sym typeface="Poppins"/>
            </a:endParaRPr>
          </a:p>
          <a:p>
            <a:pPr indent="0" lvl="0" marL="457200" rtl="0" algn="l">
              <a:lnSpc>
                <a:spcPct val="160000"/>
              </a:lnSpc>
              <a:spcBef>
                <a:spcPts val="0"/>
              </a:spcBef>
              <a:spcAft>
                <a:spcPts val="0"/>
              </a:spcAft>
              <a:buNone/>
            </a:pPr>
            <a:r>
              <a:t/>
            </a:r>
            <a:endParaRPr sz="2400">
              <a:solidFill>
                <a:srgbClr val="D9D9D9"/>
              </a:solidFill>
              <a:latin typeface="Poppins"/>
              <a:ea typeface="Poppins"/>
              <a:cs typeface="Poppins"/>
              <a:sym typeface="Poppins"/>
            </a:endParaRPr>
          </a:p>
          <a:p>
            <a:pPr indent="0" lvl="0" marL="0" marR="0" rtl="0" algn="l">
              <a:lnSpc>
                <a:spcPct val="160000"/>
              </a:lnSpc>
              <a:spcBef>
                <a:spcPts val="0"/>
              </a:spcBef>
              <a:spcAft>
                <a:spcPts val="0"/>
              </a:spcAft>
              <a:buNone/>
            </a:pPr>
            <a:r>
              <a:t/>
            </a:r>
            <a:endParaRPr sz="2400">
              <a:solidFill>
                <a:srgbClr val="D9D9D9"/>
              </a:solidFill>
              <a:latin typeface="Poppins"/>
              <a:ea typeface="Poppins"/>
              <a:cs typeface="Poppins"/>
              <a:sym typeface="Poppins"/>
            </a:endParaRPr>
          </a:p>
          <a:p>
            <a:pPr indent="0" lvl="0" marL="0" marR="0" rtl="0" algn="l">
              <a:lnSpc>
                <a:spcPct val="160000"/>
              </a:lnSpc>
              <a:spcBef>
                <a:spcPts val="0"/>
              </a:spcBef>
              <a:spcAft>
                <a:spcPts val="0"/>
              </a:spcAft>
              <a:buNone/>
            </a:pPr>
            <a:r>
              <a:t/>
            </a:r>
            <a:endParaRPr sz="2400">
              <a:solidFill>
                <a:srgbClr val="D9D9D9"/>
              </a:solidFill>
              <a:latin typeface="Poppins"/>
              <a:ea typeface="Poppins"/>
              <a:cs typeface="Poppins"/>
              <a:sym typeface="Poppins"/>
            </a:endParaRPr>
          </a:p>
        </p:txBody>
      </p:sp>
      <p:cxnSp>
        <p:nvCxnSpPr>
          <p:cNvPr id="198" name="Google Shape;198;p7"/>
          <p:cNvCxnSpPr/>
          <p:nvPr/>
        </p:nvCxnSpPr>
        <p:spPr>
          <a:xfrm>
            <a:off x="1028700" y="601417"/>
            <a:ext cx="16230600" cy="0"/>
          </a:xfrm>
          <a:prstGeom prst="straightConnector1">
            <a:avLst/>
          </a:prstGeom>
          <a:noFill/>
          <a:ln cap="flat" cmpd="sng" w="19050">
            <a:solidFill>
              <a:srgbClr val="D9D9D9"/>
            </a:solidFill>
            <a:prstDash val="solid"/>
            <a:round/>
            <a:headEnd len="sm" w="sm" type="none"/>
            <a:tailEnd len="sm" w="sm" type="none"/>
          </a:ln>
        </p:spPr>
      </p:cxnSp>
      <p:grpSp>
        <p:nvGrpSpPr>
          <p:cNvPr id="199" name="Google Shape;199;p7"/>
          <p:cNvGrpSpPr/>
          <p:nvPr/>
        </p:nvGrpSpPr>
        <p:grpSpPr>
          <a:xfrm rot="5400000">
            <a:off x="-1839034" y="1839034"/>
            <a:ext cx="4238545" cy="560478"/>
            <a:chOff x="0" y="-57150"/>
            <a:chExt cx="1116325" cy="147616"/>
          </a:xfrm>
        </p:grpSpPr>
        <p:sp>
          <p:nvSpPr>
            <p:cNvPr id="200" name="Google Shape;200;p7"/>
            <p:cNvSpPr/>
            <p:nvPr/>
          </p:nvSpPr>
          <p:spPr>
            <a:xfrm>
              <a:off x="0" y="0"/>
              <a:ext cx="1116324" cy="90466"/>
            </a:xfrm>
            <a:custGeom>
              <a:rect b="b" l="l" r="r" t="t"/>
              <a:pathLst>
                <a:path extrusionOk="0" h="90466" w="1116324">
                  <a:moveTo>
                    <a:pt x="0" y="0"/>
                  </a:moveTo>
                  <a:lnTo>
                    <a:pt x="1116324" y="0"/>
                  </a:lnTo>
                  <a:lnTo>
                    <a:pt x="1116324" y="90466"/>
                  </a:lnTo>
                  <a:lnTo>
                    <a:pt x="0" y="90466"/>
                  </a:lnTo>
                  <a:close/>
                </a:path>
              </a:pathLst>
            </a:custGeom>
            <a:solidFill>
              <a:srgbClr val="4DE1C7"/>
            </a:solidFill>
            <a:ln>
              <a:noFill/>
            </a:ln>
          </p:spPr>
        </p:sp>
        <p:sp>
          <p:nvSpPr>
            <p:cNvPr id="201" name="Google Shape;201;p7"/>
            <p:cNvSpPr txBox="1"/>
            <p:nvPr/>
          </p:nvSpPr>
          <p:spPr>
            <a:xfrm>
              <a:off x="0" y="-57150"/>
              <a:ext cx="1116325" cy="147616"/>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02" name="Google Shape;202;p7"/>
          <p:cNvSpPr/>
          <p:nvPr/>
        </p:nvSpPr>
        <p:spPr>
          <a:xfrm rot="2088241">
            <a:off x="-8106604" y="6712312"/>
            <a:ext cx="13950823" cy="5388506"/>
          </a:xfrm>
          <a:custGeom>
            <a:rect b="b" l="l" r="r" t="t"/>
            <a:pathLst>
              <a:path extrusionOk="0" h="5395795" w="13969695">
                <a:moveTo>
                  <a:pt x="0" y="0"/>
                </a:moveTo>
                <a:lnTo>
                  <a:pt x="13969694" y="0"/>
                </a:lnTo>
                <a:lnTo>
                  <a:pt x="13969694" y="5395794"/>
                </a:lnTo>
                <a:lnTo>
                  <a:pt x="0" y="5395794"/>
                </a:lnTo>
                <a:lnTo>
                  <a:pt x="0" y="0"/>
                </a:lnTo>
                <a:close/>
              </a:path>
            </a:pathLst>
          </a:custGeom>
          <a:blipFill rotWithShape="1">
            <a:blip r:embed="rId3">
              <a:alphaModFix/>
            </a:blip>
            <a:stretch>
              <a:fillRect b="0" l="0" r="0" t="0"/>
            </a:stretch>
          </a:blipFill>
          <a:ln>
            <a:noFill/>
          </a:ln>
        </p:spPr>
      </p:sp>
      <p:pic>
        <p:nvPicPr>
          <p:cNvPr id="203" name="Google Shape;203;p7"/>
          <p:cNvPicPr preferRelativeResize="0"/>
          <p:nvPr/>
        </p:nvPicPr>
        <p:blipFill>
          <a:blip r:embed="rId4">
            <a:alphaModFix/>
          </a:blip>
          <a:stretch>
            <a:fillRect/>
          </a:stretch>
        </p:blipFill>
        <p:spPr>
          <a:xfrm>
            <a:off x="9146865" y="2343000"/>
            <a:ext cx="4601925" cy="4601925"/>
          </a:xfrm>
          <a:prstGeom prst="rect">
            <a:avLst/>
          </a:prstGeom>
          <a:noFill/>
          <a:ln>
            <a:noFill/>
          </a:ln>
        </p:spPr>
      </p:pic>
      <p:pic>
        <p:nvPicPr>
          <p:cNvPr id="204" name="Google Shape;204;p7" title="Screen Shot 2025-03-19 at 1.21.51 PM.png"/>
          <p:cNvPicPr preferRelativeResize="0"/>
          <p:nvPr/>
        </p:nvPicPr>
        <p:blipFill>
          <a:blip r:embed="rId5">
            <a:alphaModFix/>
          </a:blip>
          <a:stretch>
            <a:fillRect/>
          </a:stretch>
        </p:blipFill>
        <p:spPr>
          <a:xfrm>
            <a:off x="13079345" y="5199619"/>
            <a:ext cx="3510500" cy="326270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grpSp>
        <p:nvGrpSpPr>
          <p:cNvPr id="209" name="Google Shape;209;p8"/>
          <p:cNvGrpSpPr/>
          <p:nvPr/>
        </p:nvGrpSpPr>
        <p:grpSpPr>
          <a:xfrm>
            <a:off x="8437350" y="2572975"/>
            <a:ext cx="9850530" cy="3412901"/>
            <a:chOff x="0" y="-57150"/>
            <a:chExt cx="2334968" cy="869950"/>
          </a:xfrm>
        </p:grpSpPr>
        <p:sp>
          <p:nvSpPr>
            <p:cNvPr id="210" name="Google Shape;210;p8"/>
            <p:cNvSpPr/>
            <p:nvPr/>
          </p:nvSpPr>
          <p:spPr>
            <a:xfrm>
              <a:off x="0" y="0"/>
              <a:ext cx="2334968" cy="812800"/>
            </a:xfrm>
            <a:custGeom>
              <a:rect b="b" l="l" r="r" t="t"/>
              <a:pathLst>
                <a:path extrusionOk="0" h="812800" w="2334968">
                  <a:moveTo>
                    <a:pt x="0" y="0"/>
                  </a:moveTo>
                  <a:lnTo>
                    <a:pt x="2334968" y="0"/>
                  </a:lnTo>
                  <a:lnTo>
                    <a:pt x="2334968" y="812800"/>
                  </a:lnTo>
                  <a:lnTo>
                    <a:pt x="0" y="812800"/>
                  </a:lnTo>
                  <a:close/>
                </a:path>
              </a:pathLst>
            </a:custGeom>
            <a:solidFill>
              <a:srgbClr val="4DE1C7"/>
            </a:solidFill>
            <a:ln>
              <a:noFill/>
            </a:ln>
          </p:spPr>
        </p:sp>
        <p:sp>
          <p:nvSpPr>
            <p:cNvPr id="211" name="Google Shape;211;p8"/>
            <p:cNvSpPr txBox="1"/>
            <p:nvPr/>
          </p:nvSpPr>
          <p:spPr>
            <a:xfrm>
              <a:off x="0" y="-57150"/>
              <a:ext cx="2334968" cy="86995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12" name="Google Shape;212;p8"/>
          <p:cNvGrpSpPr/>
          <p:nvPr/>
        </p:nvGrpSpPr>
        <p:grpSpPr>
          <a:xfrm>
            <a:off x="7154575" y="-241102"/>
            <a:ext cx="11133284" cy="3097370"/>
            <a:chOff x="0" y="-57150"/>
            <a:chExt cx="2639032" cy="869950"/>
          </a:xfrm>
        </p:grpSpPr>
        <p:sp>
          <p:nvSpPr>
            <p:cNvPr id="213" name="Google Shape;213;p8"/>
            <p:cNvSpPr/>
            <p:nvPr/>
          </p:nvSpPr>
          <p:spPr>
            <a:xfrm>
              <a:off x="0" y="0"/>
              <a:ext cx="2639032" cy="812800"/>
            </a:xfrm>
            <a:custGeom>
              <a:rect b="b" l="l" r="r" t="t"/>
              <a:pathLst>
                <a:path extrusionOk="0" h="812800" w="2639032">
                  <a:moveTo>
                    <a:pt x="0" y="0"/>
                  </a:moveTo>
                  <a:lnTo>
                    <a:pt x="2639032" y="0"/>
                  </a:lnTo>
                  <a:lnTo>
                    <a:pt x="2639032" y="812800"/>
                  </a:lnTo>
                  <a:lnTo>
                    <a:pt x="0" y="812800"/>
                  </a:lnTo>
                  <a:close/>
                </a:path>
              </a:pathLst>
            </a:custGeom>
            <a:solidFill>
              <a:srgbClr val="071C42"/>
            </a:solidFill>
            <a:ln>
              <a:noFill/>
            </a:ln>
          </p:spPr>
        </p:sp>
        <p:sp>
          <p:nvSpPr>
            <p:cNvPr id="214" name="Google Shape;214;p8"/>
            <p:cNvSpPr txBox="1"/>
            <p:nvPr/>
          </p:nvSpPr>
          <p:spPr>
            <a:xfrm>
              <a:off x="0" y="-57150"/>
              <a:ext cx="2639032" cy="86995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15" name="Google Shape;215;p8"/>
          <p:cNvGrpSpPr/>
          <p:nvPr/>
        </p:nvGrpSpPr>
        <p:grpSpPr>
          <a:xfrm>
            <a:off x="9924375" y="5623252"/>
            <a:ext cx="8363463" cy="4032740"/>
            <a:chOff x="0" y="-57150"/>
            <a:chExt cx="1982427" cy="869950"/>
          </a:xfrm>
        </p:grpSpPr>
        <p:sp>
          <p:nvSpPr>
            <p:cNvPr id="216" name="Google Shape;216;p8"/>
            <p:cNvSpPr/>
            <p:nvPr/>
          </p:nvSpPr>
          <p:spPr>
            <a:xfrm>
              <a:off x="0" y="0"/>
              <a:ext cx="1982427" cy="812800"/>
            </a:xfrm>
            <a:custGeom>
              <a:rect b="b" l="l" r="r" t="t"/>
              <a:pathLst>
                <a:path extrusionOk="0" h="812800" w="1982427">
                  <a:moveTo>
                    <a:pt x="0" y="0"/>
                  </a:moveTo>
                  <a:lnTo>
                    <a:pt x="1982427" y="0"/>
                  </a:lnTo>
                  <a:lnTo>
                    <a:pt x="1982427" y="812800"/>
                  </a:lnTo>
                  <a:lnTo>
                    <a:pt x="0" y="812800"/>
                  </a:lnTo>
                  <a:close/>
                </a:path>
              </a:pathLst>
            </a:custGeom>
            <a:solidFill>
              <a:srgbClr val="071C42"/>
            </a:solidFill>
            <a:ln>
              <a:noFill/>
            </a:ln>
          </p:spPr>
        </p:sp>
        <p:sp>
          <p:nvSpPr>
            <p:cNvPr id="217" name="Google Shape;217;p8"/>
            <p:cNvSpPr txBox="1"/>
            <p:nvPr/>
          </p:nvSpPr>
          <p:spPr>
            <a:xfrm>
              <a:off x="0" y="-57150"/>
              <a:ext cx="1982427" cy="86995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18" name="Google Shape;218;p8"/>
          <p:cNvSpPr/>
          <p:nvPr/>
        </p:nvSpPr>
        <p:spPr>
          <a:xfrm rot="-3502425">
            <a:off x="-3397804" y="1792371"/>
            <a:ext cx="13986318" cy="5402216"/>
          </a:xfrm>
          <a:custGeom>
            <a:rect b="b" l="l" r="r" t="t"/>
            <a:pathLst>
              <a:path extrusionOk="0" h="5395795" w="13969695">
                <a:moveTo>
                  <a:pt x="0" y="0"/>
                </a:moveTo>
                <a:lnTo>
                  <a:pt x="13969695" y="0"/>
                </a:lnTo>
                <a:lnTo>
                  <a:pt x="13969695" y="5395794"/>
                </a:lnTo>
                <a:lnTo>
                  <a:pt x="0" y="5395794"/>
                </a:lnTo>
                <a:lnTo>
                  <a:pt x="0" y="0"/>
                </a:lnTo>
                <a:close/>
              </a:path>
            </a:pathLst>
          </a:custGeom>
          <a:blipFill rotWithShape="1">
            <a:blip r:embed="rId3">
              <a:alphaModFix/>
            </a:blip>
            <a:stretch>
              <a:fillRect b="0" l="0" r="0" t="0"/>
            </a:stretch>
          </a:blipFill>
          <a:ln>
            <a:noFill/>
          </a:ln>
        </p:spPr>
      </p:sp>
      <p:sp>
        <p:nvSpPr>
          <p:cNvPr id="219" name="Google Shape;219;p8"/>
          <p:cNvSpPr txBox="1"/>
          <p:nvPr/>
        </p:nvSpPr>
        <p:spPr>
          <a:xfrm>
            <a:off x="13350529" y="342376"/>
            <a:ext cx="5970000" cy="3693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2400" u="none" cap="none" strike="noStrike">
                <a:solidFill>
                  <a:srgbClr val="FFFFFF"/>
                </a:solidFill>
                <a:latin typeface="Poppins"/>
                <a:ea typeface="Poppins"/>
                <a:cs typeface="Poppins"/>
                <a:sym typeface="Poppins"/>
              </a:rPr>
              <a:t>Demographic Analysis</a:t>
            </a:r>
            <a:endParaRPr/>
          </a:p>
        </p:txBody>
      </p:sp>
      <p:sp>
        <p:nvSpPr>
          <p:cNvPr id="220" name="Google Shape;220;p8"/>
          <p:cNvSpPr txBox="1"/>
          <p:nvPr/>
        </p:nvSpPr>
        <p:spPr>
          <a:xfrm>
            <a:off x="8437350" y="1082025"/>
            <a:ext cx="8700300" cy="1976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lang="en-US" sz="1700">
                <a:solidFill>
                  <a:srgbClr val="EEF2F5"/>
                </a:solidFill>
                <a:latin typeface="Poppins"/>
                <a:ea typeface="Poppins"/>
                <a:cs typeface="Poppins"/>
                <a:sym typeface="Poppins"/>
              </a:rPr>
              <a:t>This section examines the demographic attributes of individuals in the dataset, including age, gender, and BMI. Understanding these demographics is crucial for tailoring fitness programs and identifying trends among different groups.​</a:t>
            </a:r>
            <a:endParaRPr sz="1700">
              <a:solidFill>
                <a:srgbClr val="EEF2F5"/>
              </a:solidFill>
              <a:latin typeface="Poppins"/>
              <a:ea typeface="Poppins"/>
              <a:cs typeface="Poppins"/>
              <a:sym typeface="Poppins"/>
            </a:endParaRPr>
          </a:p>
          <a:p>
            <a:pPr indent="0" lvl="0" marL="0" marR="0" rtl="0" algn="l">
              <a:lnSpc>
                <a:spcPct val="160000"/>
              </a:lnSpc>
              <a:spcBef>
                <a:spcPts val="0"/>
              </a:spcBef>
              <a:spcAft>
                <a:spcPts val="0"/>
              </a:spcAft>
              <a:buNone/>
            </a:pPr>
            <a:r>
              <a:t/>
            </a:r>
            <a:endParaRPr sz="1800">
              <a:solidFill>
                <a:srgbClr val="EEF2F5"/>
              </a:solidFill>
              <a:latin typeface="Poppins"/>
              <a:ea typeface="Poppins"/>
              <a:cs typeface="Poppins"/>
              <a:sym typeface="Poppins"/>
            </a:endParaRPr>
          </a:p>
          <a:p>
            <a:pPr indent="0" lvl="0" marL="0" marR="0" rtl="0" algn="l">
              <a:lnSpc>
                <a:spcPct val="160000"/>
              </a:lnSpc>
              <a:spcBef>
                <a:spcPts val="0"/>
              </a:spcBef>
              <a:spcAft>
                <a:spcPts val="0"/>
              </a:spcAft>
              <a:buNone/>
            </a:pPr>
            <a:r>
              <a:t/>
            </a:r>
            <a:endParaRPr sz="1800">
              <a:solidFill>
                <a:srgbClr val="EEF2F5"/>
              </a:solidFill>
              <a:latin typeface="Poppins"/>
              <a:ea typeface="Poppins"/>
              <a:cs typeface="Poppins"/>
              <a:sym typeface="Poppins"/>
            </a:endParaRPr>
          </a:p>
        </p:txBody>
      </p:sp>
      <p:sp>
        <p:nvSpPr>
          <p:cNvPr id="221" name="Google Shape;221;p8"/>
          <p:cNvSpPr txBox="1"/>
          <p:nvPr/>
        </p:nvSpPr>
        <p:spPr>
          <a:xfrm>
            <a:off x="8921186" y="3244338"/>
            <a:ext cx="5970000" cy="3693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2400" u="none" cap="none" strike="noStrike">
                <a:solidFill>
                  <a:srgbClr val="000000"/>
                </a:solidFill>
                <a:latin typeface="Poppins"/>
                <a:ea typeface="Poppins"/>
                <a:cs typeface="Poppins"/>
                <a:sym typeface="Poppins"/>
              </a:rPr>
              <a:t>Performance Metrics</a:t>
            </a:r>
            <a:endParaRPr/>
          </a:p>
        </p:txBody>
      </p:sp>
      <p:sp>
        <p:nvSpPr>
          <p:cNvPr id="222" name="Google Shape;222;p8"/>
          <p:cNvSpPr txBox="1"/>
          <p:nvPr/>
        </p:nvSpPr>
        <p:spPr>
          <a:xfrm>
            <a:off x="9562347" y="3890788"/>
            <a:ext cx="7949400" cy="15330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lang="en-US" sz="1700">
                <a:latin typeface="Poppins"/>
                <a:ea typeface="Poppins"/>
                <a:cs typeface="Poppins"/>
                <a:sym typeface="Poppins"/>
              </a:rPr>
              <a:t>Here, we analyze key performance indicators such as workout duration, calories burned, and heart rate. These metrics provide insights into the effectiveness of various workouts and overall fitness levels.​</a:t>
            </a:r>
            <a:endParaRPr sz="1700">
              <a:latin typeface="Poppins"/>
              <a:ea typeface="Poppins"/>
              <a:cs typeface="Poppins"/>
              <a:sym typeface="Poppins"/>
            </a:endParaRPr>
          </a:p>
          <a:p>
            <a:pPr indent="0" lvl="0" marL="0" marR="0" rtl="0" algn="l">
              <a:lnSpc>
                <a:spcPct val="160000"/>
              </a:lnSpc>
              <a:spcBef>
                <a:spcPts val="0"/>
              </a:spcBef>
              <a:spcAft>
                <a:spcPts val="0"/>
              </a:spcAft>
              <a:buNone/>
            </a:pPr>
            <a:r>
              <a:t/>
            </a:r>
            <a:endParaRPr sz="1800">
              <a:latin typeface="Poppins"/>
              <a:ea typeface="Poppins"/>
              <a:cs typeface="Poppins"/>
              <a:sym typeface="Poppins"/>
            </a:endParaRPr>
          </a:p>
        </p:txBody>
      </p:sp>
      <p:sp>
        <p:nvSpPr>
          <p:cNvPr id="223" name="Google Shape;223;p8"/>
          <p:cNvSpPr txBox="1"/>
          <p:nvPr/>
        </p:nvSpPr>
        <p:spPr>
          <a:xfrm>
            <a:off x="14294773" y="6267763"/>
            <a:ext cx="5970000" cy="3693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2400" u="none" cap="none" strike="noStrike">
                <a:solidFill>
                  <a:srgbClr val="FFFFFF"/>
                </a:solidFill>
                <a:latin typeface="Poppins"/>
                <a:ea typeface="Poppins"/>
                <a:cs typeface="Poppins"/>
                <a:sym typeface="Poppins"/>
              </a:rPr>
              <a:t>Workout Patterns</a:t>
            </a:r>
            <a:endParaRPr/>
          </a:p>
        </p:txBody>
      </p:sp>
      <p:sp>
        <p:nvSpPr>
          <p:cNvPr id="224" name="Google Shape;224;p8"/>
          <p:cNvSpPr txBox="1"/>
          <p:nvPr/>
        </p:nvSpPr>
        <p:spPr>
          <a:xfrm>
            <a:off x="11102560" y="6918964"/>
            <a:ext cx="6409200" cy="23550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lang="en-US" sz="1700">
                <a:solidFill>
                  <a:srgbClr val="EEF2F5"/>
                </a:solidFill>
                <a:latin typeface="Poppins"/>
                <a:ea typeface="Poppins"/>
                <a:cs typeface="Poppins"/>
                <a:sym typeface="Poppins"/>
              </a:rPr>
              <a:t>This analysis explores the types of workouts performed, frequency, and timing. Identifying common patterns helps in understanding user preferences and designing more effective fitness programs.​ By delving into these sections, we can uncover valuable insights to enhance fitness routines and promote healthier lifestyles.</a:t>
            </a:r>
            <a:endParaRPr sz="1700">
              <a:solidFill>
                <a:srgbClr val="EEF2F5"/>
              </a:solidFill>
              <a:latin typeface="Poppins"/>
              <a:ea typeface="Poppins"/>
              <a:cs typeface="Poppins"/>
              <a:sym typeface="Poppins"/>
            </a:endParaRPr>
          </a:p>
        </p:txBody>
      </p:sp>
      <p:sp>
        <p:nvSpPr>
          <p:cNvPr id="225" name="Google Shape;225;p8"/>
          <p:cNvSpPr txBox="1"/>
          <p:nvPr/>
        </p:nvSpPr>
        <p:spPr>
          <a:xfrm>
            <a:off x="1957896" y="6918967"/>
            <a:ext cx="4644000" cy="1092600"/>
          </a:xfrm>
          <a:prstGeom prst="rect">
            <a:avLst/>
          </a:prstGeom>
          <a:noFill/>
          <a:ln>
            <a:noFill/>
          </a:ln>
        </p:spPr>
        <p:txBody>
          <a:bodyPr anchorCtr="0" anchor="t" bIns="0" lIns="0" spcFirstLastPara="1" rIns="0" wrap="square" tIns="0">
            <a:spAutoFit/>
          </a:bodyPr>
          <a:lstStyle/>
          <a:p>
            <a:pPr indent="0" lvl="0" marL="0" marR="0" rtl="0" algn="l">
              <a:lnSpc>
                <a:spcPct val="120003"/>
              </a:lnSpc>
              <a:spcBef>
                <a:spcPts val="0"/>
              </a:spcBef>
              <a:spcAft>
                <a:spcPts val="0"/>
              </a:spcAft>
              <a:buNone/>
            </a:pPr>
            <a:r>
              <a:rPr b="1" i="0" lang="en-US" sz="7099" u="none" cap="none" strike="noStrike">
                <a:solidFill>
                  <a:srgbClr val="101010"/>
                </a:solidFill>
                <a:latin typeface="Poppins"/>
                <a:ea typeface="Poppins"/>
                <a:cs typeface="Poppins"/>
                <a:sym typeface="Poppins"/>
              </a:rPr>
              <a:t>EDA </a:t>
            </a:r>
            <a:endParaRPr sz="2900"/>
          </a:p>
        </p:txBody>
      </p:sp>
      <p:sp>
        <p:nvSpPr>
          <p:cNvPr id="226" name="Google Shape;226;p8"/>
          <p:cNvSpPr txBox="1"/>
          <p:nvPr/>
        </p:nvSpPr>
        <p:spPr>
          <a:xfrm>
            <a:off x="1957896" y="8240215"/>
            <a:ext cx="4644000" cy="3693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lang="en-US" sz="2400">
                <a:solidFill>
                  <a:srgbClr val="545454"/>
                </a:solidFill>
                <a:latin typeface="Poppins"/>
                <a:ea typeface="Poppins"/>
                <a:cs typeface="Poppins"/>
                <a:sym typeface="Poppins"/>
              </a:rPr>
              <a:t>Exploratory Data Analysis</a:t>
            </a:r>
            <a:endParaRPr sz="20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grpSp>
        <p:nvGrpSpPr>
          <p:cNvPr id="231" name="Google Shape;231;g341d387c2eb_0_26"/>
          <p:cNvGrpSpPr/>
          <p:nvPr/>
        </p:nvGrpSpPr>
        <p:grpSpPr>
          <a:xfrm>
            <a:off x="0" y="0"/>
            <a:ext cx="8593538" cy="10528859"/>
            <a:chOff x="0" y="-57150"/>
            <a:chExt cx="2037011" cy="2495700"/>
          </a:xfrm>
        </p:grpSpPr>
        <p:sp>
          <p:nvSpPr>
            <p:cNvPr id="232" name="Google Shape;232;g341d387c2eb_0_26"/>
            <p:cNvSpPr/>
            <p:nvPr/>
          </p:nvSpPr>
          <p:spPr>
            <a:xfrm>
              <a:off x="0" y="0"/>
              <a:ext cx="2037011" cy="2438400"/>
            </a:xfrm>
            <a:custGeom>
              <a:rect b="b" l="l" r="r" t="t"/>
              <a:pathLst>
                <a:path extrusionOk="0" h="2438400" w="2037011">
                  <a:moveTo>
                    <a:pt x="0" y="0"/>
                  </a:moveTo>
                  <a:lnTo>
                    <a:pt x="2037011" y="0"/>
                  </a:lnTo>
                  <a:lnTo>
                    <a:pt x="2037011" y="2438400"/>
                  </a:lnTo>
                  <a:lnTo>
                    <a:pt x="0" y="2438400"/>
                  </a:lnTo>
                  <a:close/>
                </a:path>
              </a:pathLst>
            </a:custGeom>
            <a:solidFill>
              <a:srgbClr val="071C42"/>
            </a:solidFill>
            <a:ln>
              <a:noFill/>
            </a:ln>
          </p:spPr>
        </p:sp>
        <p:sp>
          <p:nvSpPr>
            <p:cNvPr id="233" name="Google Shape;233;g341d387c2eb_0_26"/>
            <p:cNvSpPr txBox="1"/>
            <p:nvPr/>
          </p:nvSpPr>
          <p:spPr>
            <a:xfrm>
              <a:off x="0" y="-57150"/>
              <a:ext cx="2037000" cy="24957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34" name="Google Shape;234;g341d387c2eb_0_26"/>
          <p:cNvSpPr txBox="1"/>
          <p:nvPr/>
        </p:nvSpPr>
        <p:spPr>
          <a:xfrm>
            <a:off x="11067384" y="1982089"/>
            <a:ext cx="3627000" cy="861900"/>
          </a:xfrm>
          <a:prstGeom prst="rect">
            <a:avLst/>
          </a:prstGeom>
          <a:noFill/>
          <a:ln>
            <a:noFill/>
          </a:ln>
        </p:spPr>
        <p:txBody>
          <a:bodyPr anchorCtr="0" anchor="t" bIns="0" lIns="0" spcFirstLastPara="1" rIns="0" wrap="square" tIns="0">
            <a:spAutoFit/>
          </a:bodyPr>
          <a:lstStyle/>
          <a:p>
            <a:pPr indent="0" lvl="0" marL="0" marR="0" rtl="0" algn="l">
              <a:lnSpc>
                <a:spcPct val="120003"/>
              </a:lnSpc>
              <a:spcBef>
                <a:spcPts val="0"/>
              </a:spcBef>
              <a:spcAft>
                <a:spcPts val="0"/>
              </a:spcAft>
              <a:buNone/>
            </a:pPr>
            <a:r>
              <a:rPr b="1" i="0" lang="en-US" sz="5599" u="none" cap="none" strike="noStrike">
                <a:solidFill>
                  <a:srgbClr val="FFFFFF"/>
                </a:solidFill>
                <a:latin typeface="Poppins"/>
                <a:ea typeface="Poppins"/>
                <a:cs typeface="Poppins"/>
                <a:sym typeface="Poppins"/>
              </a:rPr>
              <a:t>Setbacks</a:t>
            </a:r>
            <a:endParaRPr/>
          </a:p>
        </p:txBody>
      </p:sp>
      <p:sp>
        <p:nvSpPr>
          <p:cNvPr id="235" name="Google Shape;235;g341d387c2eb_0_26"/>
          <p:cNvSpPr txBox="1"/>
          <p:nvPr/>
        </p:nvSpPr>
        <p:spPr>
          <a:xfrm>
            <a:off x="1132675" y="735893"/>
            <a:ext cx="5800500" cy="4155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lang="en-US" sz="2700">
                <a:solidFill>
                  <a:srgbClr val="EEF2F5"/>
                </a:solidFill>
                <a:latin typeface="Poppins"/>
                <a:ea typeface="Poppins"/>
                <a:cs typeface="Poppins"/>
                <a:sym typeface="Poppins"/>
              </a:rPr>
              <a:t>Demographic Analysis</a:t>
            </a:r>
            <a:endParaRPr b="1" sz="2300"/>
          </a:p>
        </p:txBody>
      </p:sp>
      <p:cxnSp>
        <p:nvCxnSpPr>
          <p:cNvPr id="236" name="Google Shape;236;g341d387c2eb_0_26"/>
          <p:cNvCxnSpPr/>
          <p:nvPr/>
        </p:nvCxnSpPr>
        <p:spPr>
          <a:xfrm>
            <a:off x="1028700" y="601417"/>
            <a:ext cx="16230600" cy="0"/>
          </a:xfrm>
          <a:prstGeom prst="straightConnector1">
            <a:avLst/>
          </a:prstGeom>
          <a:noFill/>
          <a:ln cap="flat" cmpd="sng" w="19050">
            <a:solidFill>
              <a:srgbClr val="D9D9D9"/>
            </a:solidFill>
            <a:prstDash val="solid"/>
            <a:round/>
            <a:headEnd len="sm" w="sm" type="none"/>
            <a:tailEnd len="sm" w="sm" type="none"/>
          </a:ln>
        </p:spPr>
      </p:cxnSp>
      <p:sp>
        <p:nvSpPr>
          <p:cNvPr id="237" name="Google Shape;237;g341d387c2eb_0_26"/>
          <p:cNvSpPr/>
          <p:nvPr/>
        </p:nvSpPr>
        <p:spPr>
          <a:xfrm rot="9321286">
            <a:off x="9977051" y="5127512"/>
            <a:ext cx="13986492" cy="5402283"/>
          </a:xfrm>
          <a:custGeom>
            <a:rect b="b" l="l" r="r" t="t"/>
            <a:pathLst>
              <a:path extrusionOk="0" h="5395795" w="13969695">
                <a:moveTo>
                  <a:pt x="0" y="0"/>
                </a:moveTo>
                <a:lnTo>
                  <a:pt x="13969695" y="0"/>
                </a:lnTo>
                <a:lnTo>
                  <a:pt x="13969695" y="5395794"/>
                </a:lnTo>
                <a:lnTo>
                  <a:pt x="0" y="5395794"/>
                </a:lnTo>
                <a:lnTo>
                  <a:pt x="0" y="0"/>
                </a:lnTo>
                <a:close/>
              </a:path>
            </a:pathLst>
          </a:custGeom>
          <a:blipFill rotWithShape="1">
            <a:blip r:embed="rId3">
              <a:alphaModFix/>
            </a:blip>
            <a:stretch>
              <a:fillRect b="0" l="0" r="0" t="0"/>
            </a:stretch>
          </a:blipFill>
          <a:ln>
            <a:noFill/>
          </a:ln>
        </p:spPr>
      </p:sp>
      <p:pic>
        <p:nvPicPr>
          <p:cNvPr id="238" name="Google Shape;238;g341d387c2eb_0_26"/>
          <p:cNvPicPr preferRelativeResize="0"/>
          <p:nvPr/>
        </p:nvPicPr>
        <p:blipFill>
          <a:blip r:embed="rId4">
            <a:alphaModFix/>
          </a:blip>
          <a:stretch>
            <a:fillRect/>
          </a:stretch>
        </p:blipFill>
        <p:spPr>
          <a:xfrm>
            <a:off x="-25" y="1397075"/>
            <a:ext cx="8593550" cy="5309526"/>
          </a:xfrm>
          <a:prstGeom prst="rect">
            <a:avLst/>
          </a:prstGeom>
          <a:noFill/>
          <a:ln>
            <a:noFill/>
          </a:ln>
        </p:spPr>
      </p:pic>
      <p:pic>
        <p:nvPicPr>
          <p:cNvPr id="239" name="Google Shape;239;g341d387c2eb_0_26"/>
          <p:cNvPicPr preferRelativeResize="0"/>
          <p:nvPr/>
        </p:nvPicPr>
        <p:blipFill>
          <a:blip r:embed="rId5">
            <a:alphaModFix/>
          </a:blip>
          <a:stretch>
            <a:fillRect/>
          </a:stretch>
        </p:blipFill>
        <p:spPr>
          <a:xfrm>
            <a:off x="8593532" y="4127375"/>
            <a:ext cx="9694450" cy="5989788"/>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grpSp>
        <p:nvGrpSpPr>
          <p:cNvPr id="244" name="Google Shape;244;g341d387c2eb_0_38"/>
          <p:cNvGrpSpPr/>
          <p:nvPr/>
        </p:nvGrpSpPr>
        <p:grpSpPr>
          <a:xfrm>
            <a:off x="0" y="0"/>
            <a:ext cx="8593538" cy="10528859"/>
            <a:chOff x="0" y="-57150"/>
            <a:chExt cx="2037011" cy="2495700"/>
          </a:xfrm>
        </p:grpSpPr>
        <p:sp>
          <p:nvSpPr>
            <p:cNvPr id="245" name="Google Shape;245;g341d387c2eb_0_38"/>
            <p:cNvSpPr/>
            <p:nvPr/>
          </p:nvSpPr>
          <p:spPr>
            <a:xfrm>
              <a:off x="0" y="0"/>
              <a:ext cx="2037011" cy="2438400"/>
            </a:xfrm>
            <a:custGeom>
              <a:rect b="b" l="l" r="r" t="t"/>
              <a:pathLst>
                <a:path extrusionOk="0" h="2438400" w="2037011">
                  <a:moveTo>
                    <a:pt x="0" y="0"/>
                  </a:moveTo>
                  <a:lnTo>
                    <a:pt x="2037011" y="0"/>
                  </a:lnTo>
                  <a:lnTo>
                    <a:pt x="2037011" y="2438400"/>
                  </a:lnTo>
                  <a:lnTo>
                    <a:pt x="0" y="2438400"/>
                  </a:lnTo>
                  <a:close/>
                </a:path>
              </a:pathLst>
            </a:custGeom>
            <a:solidFill>
              <a:srgbClr val="071C42"/>
            </a:solidFill>
            <a:ln>
              <a:noFill/>
            </a:ln>
          </p:spPr>
        </p:sp>
        <p:sp>
          <p:nvSpPr>
            <p:cNvPr id="246" name="Google Shape;246;g341d387c2eb_0_38"/>
            <p:cNvSpPr txBox="1"/>
            <p:nvPr/>
          </p:nvSpPr>
          <p:spPr>
            <a:xfrm>
              <a:off x="0" y="-57150"/>
              <a:ext cx="2037000" cy="24957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47" name="Google Shape;247;g341d387c2eb_0_38"/>
          <p:cNvSpPr txBox="1"/>
          <p:nvPr/>
        </p:nvSpPr>
        <p:spPr>
          <a:xfrm>
            <a:off x="11067384" y="1982089"/>
            <a:ext cx="3627000" cy="861900"/>
          </a:xfrm>
          <a:prstGeom prst="rect">
            <a:avLst/>
          </a:prstGeom>
          <a:noFill/>
          <a:ln>
            <a:noFill/>
          </a:ln>
        </p:spPr>
        <p:txBody>
          <a:bodyPr anchorCtr="0" anchor="t" bIns="0" lIns="0" spcFirstLastPara="1" rIns="0" wrap="square" tIns="0">
            <a:spAutoFit/>
          </a:bodyPr>
          <a:lstStyle/>
          <a:p>
            <a:pPr indent="0" lvl="0" marL="0" marR="0" rtl="0" algn="l">
              <a:lnSpc>
                <a:spcPct val="120003"/>
              </a:lnSpc>
              <a:spcBef>
                <a:spcPts val="0"/>
              </a:spcBef>
              <a:spcAft>
                <a:spcPts val="0"/>
              </a:spcAft>
              <a:buNone/>
            </a:pPr>
            <a:r>
              <a:rPr b="1" i="0" lang="en-US" sz="5599" u="none" cap="none" strike="noStrike">
                <a:solidFill>
                  <a:srgbClr val="FFFFFF"/>
                </a:solidFill>
                <a:latin typeface="Poppins"/>
                <a:ea typeface="Poppins"/>
                <a:cs typeface="Poppins"/>
                <a:sym typeface="Poppins"/>
              </a:rPr>
              <a:t>Setbacks</a:t>
            </a:r>
            <a:endParaRPr/>
          </a:p>
        </p:txBody>
      </p:sp>
      <p:sp>
        <p:nvSpPr>
          <p:cNvPr id="248" name="Google Shape;248;g341d387c2eb_0_38"/>
          <p:cNvSpPr txBox="1"/>
          <p:nvPr/>
        </p:nvSpPr>
        <p:spPr>
          <a:xfrm>
            <a:off x="1132675" y="735893"/>
            <a:ext cx="5800500" cy="4155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lang="en-US" sz="2700">
                <a:solidFill>
                  <a:srgbClr val="EEF2F5"/>
                </a:solidFill>
                <a:latin typeface="Poppins"/>
                <a:ea typeface="Poppins"/>
                <a:cs typeface="Poppins"/>
                <a:sym typeface="Poppins"/>
              </a:rPr>
              <a:t>Demographic Analysis</a:t>
            </a:r>
            <a:endParaRPr b="1" sz="2300"/>
          </a:p>
        </p:txBody>
      </p:sp>
      <p:cxnSp>
        <p:nvCxnSpPr>
          <p:cNvPr id="249" name="Google Shape;249;g341d387c2eb_0_38"/>
          <p:cNvCxnSpPr/>
          <p:nvPr/>
        </p:nvCxnSpPr>
        <p:spPr>
          <a:xfrm>
            <a:off x="1028700" y="601417"/>
            <a:ext cx="16230600" cy="0"/>
          </a:xfrm>
          <a:prstGeom prst="straightConnector1">
            <a:avLst/>
          </a:prstGeom>
          <a:noFill/>
          <a:ln cap="flat" cmpd="sng" w="19050">
            <a:solidFill>
              <a:srgbClr val="D9D9D9"/>
            </a:solidFill>
            <a:prstDash val="solid"/>
            <a:round/>
            <a:headEnd len="sm" w="sm" type="none"/>
            <a:tailEnd len="sm" w="sm" type="none"/>
          </a:ln>
        </p:spPr>
      </p:cxnSp>
      <p:sp>
        <p:nvSpPr>
          <p:cNvPr id="250" name="Google Shape;250;g341d387c2eb_0_38"/>
          <p:cNvSpPr/>
          <p:nvPr/>
        </p:nvSpPr>
        <p:spPr>
          <a:xfrm rot="9321286">
            <a:off x="9977051" y="5127512"/>
            <a:ext cx="13986492" cy="5402283"/>
          </a:xfrm>
          <a:custGeom>
            <a:rect b="b" l="l" r="r" t="t"/>
            <a:pathLst>
              <a:path extrusionOk="0" h="5395795" w="13969695">
                <a:moveTo>
                  <a:pt x="0" y="0"/>
                </a:moveTo>
                <a:lnTo>
                  <a:pt x="13969695" y="0"/>
                </a:lnTo>
                <a:lnTo>
                  <a:pt x="13969695" y="5395794"/>
                </a:lnTo>
                <a:lnTo>
                  <a:pt x="0" y="5395794"/>
                </a:lnTo>
                <a:lnTo>
                  <a:pt x="0" y="0"/>
                </a:lnTo>
                <a:close/>
              </a:path>
            </a:pathLst>
          </a:custGeom>
          <a:blipFill rotWithShape="1">
            <a:blip r:embed="rId3">
              <a:alphaModFix/>
            </a:blip>
            <a:stretch>
              <a:fillRect b="0" l="0" r="0" t="0"/>
            </a:stretch>
          </a:blipFill>
          <a:ln>
            <a:noFill/>
          </a:ln>
        </p:spPr>
      </p:sp>
      <p:pic>
        <p:nvPicPr>
          <p:cNvPr id="251" name="Google Shape;251;g341d387c2eb_0_38"/>
          <p:cNvPicPr preferRelativeResize="0"/>
          <p:nvPr/>
        </p:nvPicPr>
        <p:blipFill>
          <a:blip r:embed="rId4">
            <a:alphaModFix/>
          </a:blip>
          <a:stretch>
            <a:fillRect/>
          </a:stretch>
        </p:blipFill>
        <p:spPr>
          <a:xfrm>
            <a:off x="1" y="2411900"/>
            <a:ext cx="9244301" cy="5705050"/>
          </a:xfrm>
          <a:prstGeom prst="rect">
            <a:avLst/>
          </a:prstGeom>
          <a:noFill/>
          <a:ln>
            <a:noFill/>
          </a:ln>
        </p:spPr>
      </p:pic>
      <p:pic>
        <p:nvPicPr>
          <p:cNvPr id="252" name="Google Shape;252;g341d387c2eb_0_38"/>
          <p:cNvPicPr preferRelativeResize="0"/>
          <p:nvPr/>
        </p:nvPicPr>
        <p:blipFill>
          <a:blip r:embed="rId5">
            <a:alphaModFix/>
          </a:blip>
          <a:stretch>
            <a:fillRect/>
          </a:stretch>
        </p:blipFill>
        <p:spPr>
          <a:xfrm>
            <a:off x="8951699" y="2457400"/>
            <a:ext cx="9244296" cy="57050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grpSp>
        <p:nvGrpSpPr>
          <p:cNvPr id="257" name="Google Shape;257;g341d387c2eb_0_53"/>
          <p:cNvGrpSpPr/>
          <p:nvPr/>
        </p:nvGrpSpPr>
        <p:grpSpPr>
          <a:xfrm>
            <a:off x="0" y="0"/>
            <a:ext cx="8593538" cy="10528859"/>
            <a:chOff x="0" y="-57150"/>
            <a:chExt cx="2037011" cy="2495700"/>
          </a:xfrm>
        </p:grpSpPr>
        <p:sp>
          <p:nvSpPr>
            <p:cNvPr id="258" name="Google Shape;258;g341d387c2eb_0_53"/>
            <p:cNvSpPr/>
            <p:nvPr/>
          </p:nvSpPr>
          <p:spPr>
            <a:xfrm>
              <a:off x="0" y="0"/>
              <a:ext cx="2037011" cy="2438400"/>
            </a:xfrm>
            <a:custGeom>
              <a:rect b="b" l="l" r="r" t="t"/>
              <a:pathLst>
                <a:path extrusionOk="0" h="2438400" w="2037011">
                  <a:moveTo>
                    <a:pt x="0" y="0"/>
                  </a:moveTo>
                  <a:lnTo>
                    <a:pt x="2037011" y="0"/>
                  </a:lnTo>
                  <a:lnTo>
                    <a:pt x="2037011" y="2438400"/>
                  </a:lnTo>
                  <a:lnTo>
                    <a:pt x="0" y="2438400"/>
                  </a:lnTo>
                  <a:close/>
                </a:path>
              </a:pathLst>
            </a:custGeom>
            <a:solidFill>
              <a:srgbClr val="071C42"/>
            </a:solidFill>
            <a:ln>
              <a:noFill/>
            </a:ln>
          </p:spPr>
        </p:sp>
        <p:sp>
          <p:nvSpPr>
            <p:cNvPr id="259" name="Google Shape;259;g341d387c2eb_0_53"/>
            <p:cNvSpPr txBox="1"/>
            <p:nvPr/>
          </p:nvSpPr>
          <p:spPr>
            <a:xfrm>
              <a:off x="0" y="-57150"/>
              <a:ext cx="2037000" cy="24957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60" name="Google Shape;260;g341d387c2eb_0_53"/>
          <p:cNvSpPr txBox="1"/>
          <p:nvPr/>
        </p:nvSpPr>
        <p:spPr>
          <a:xfrm>
            <a:off x="11067384" y="1982089"/>
            <a:ext cx="3627000" cy="861900"/>
          </a:xfrm>
          <a:prstGeom prst="rect">
            <a:avLst/>
          </a:prstGeom>
          <a:noFill/>
          <a:ln>
            <a:noFill/>
          </a:ln>
        </p:spPr>
        <p:txBody>
          <a:bodyPr anchorCtr="0" anchor="t" bIns="0" lIns="0" spcFirstLastPara="1" rIns="0" wrap="square" tIns="0">
            <a:spAutoFit/>
          </a:bodyPr>
          <a:lstStyle/>
          <a:p>
            <a:pPr indent="0" lvl="0" marL="0" marR="0" rtl="0" algn="l">
              <a:lnSpc>
                <a:spcPct val="120003"/>
              </a:lnSpc>
              <a:spcBef>
                <a:spcPts val="0"/>
              </a:spcBef>
              <a:spcAft>
                <a:spcPts val="0"/>
              </a:spcAft>
              <a:buNone/>
            </a:pPr>
            <a:r>
              <a:rPr b="1" i="0" lang="en-US" sz="5599" u="none" cap="none" strike="noStrike">
                <a:solidFill>
                  <a:srgbClr val="FFFFFF"/>
                </a:solidFill>
                <a:latin typeface="Poppins"/>
                <a:ea typeface="Poppins"/>
                <a:cs typeface="Poppins"/>
                <a:sym typeface="Poppins"/>
              </a:rPr>
              <a:t>Setbacks</a:t>
            </a:r>
            <a:endParaRPr/>
          </a:p>
        </p:txBody>
      </p:sp>
      <p:sp>
        <p:nvSpPr>
          <p:cNvPr id="261" name="Google Shape;261;g341d387c2eb_0_53"/>
          <p:cNvSpPr txBox="1"/>
          <p:nvPr/>
        </p:nvSpPr>
        <p:spPr>
          <a:xfrm>
            <a:off x="394500" y="984600"/>
            <a:ext cx="8355000" cy="997500"/>
          </a:xfrm>
          <a:prstGeom prst="rect">
            <a:avLst/>
          </a:prstGeom>
          <a:noFill/>
          <a:ln>
            <a:noFill/>
          </a:ln>
        </p:spPr>
        <p:txBody>
          <a:bodyPr anchorCtr="0" anchor="t" bIns="0" lIns="0" spcFirstLastPara="1" rIns="0" wrap="square" tIns="0">
            <a:spAutoFit/>
          </a:bodyPr>
          <a:lstStyle/>
          <a:p>
            <a:pPr indent="0" lvl="0" marL="0" rtl="0" algn="l">
              <a:lnSpc>
                <a:spcPct val="140000"/>
              </a:lnSpc>
              <a:spcBef>
                <a:spcPts val="0"/>
              </a:spcBef>
              <a:spcAft>
                <a:spcPts val="0"/>
              </a:spcAft>
              <a:buNone/>
            </a:pPr>
            <a:r>
              <a:rPr b="1" lang="en-US" sz="3200">
                <a:solidFill>
                  <a:schemeClr val="lt1"/>
                </a:solidFill>
                <a:latin typeface="Poppins"/>
                <a:ea typeface="Poppins"/>
                <a:cs typeface="Poppins"/>
                <a:sym typeface="Poppins"/>
              </a:rPr>
              <a:t>Performance Metrics</a:t>
            </a:r>
            <a:endParaRPr b="1" sz="3200">
              <a:solidFill>
                <a:schemeClr val="lt1"/>
              </a:solidFill>
              <a:latin typeface="Poppins"/>
              <a:ea typeface="Poppins"/>
              <a:cs typeface="Poppins"/>
              <a:sym typeface="Poppins"/>
            </a:endParaRPr>
          </a:p>
          <a:p>
            <a:pPr indent="0" lvl="0" marL="0" rtl="0" algn="l">
              <a:lnSpc>
                <a:spcPct val="140000"/>
              </a:lnSpc>
              <a:spcBef>
                <a:spcPts val="0"/>
              </a:spcBef>
              <a:spcAft>
                <a:spcPts val="0"/>
              </a:spcAft>
              <a:buClr>
                <a:schemeClr val="dk1"/>
              </a:buClr>
              <a:buFont typeface="Arial"/>
              <a:buNone/>
            </a:pPr>
            <a:r>
              <a:rPr lang="en-US" sz="2000">
                <a:solidFill>
                  <a:schemeClr val="lt1"/>
                </a:solidFill>
                <a:latin typeface="Poppins"/>
                <a:ea typeface="Poppins"/>
                <a:cs typeface="Poppins"/>
                <a:sym typeface="Poppins"/>
              </a:rPr>
              <a:t>Workout_Duration_mins, Calories_Burned, Heart_Rate_bpm</a:t>
            </a:r>
            <a:endParaRPr sz="2000">
              <a:solidFill>
                <a:schemeClr val="lt1"/>
              </a:solidFill>
              <a:latin typeface="Poppins"/>
              <a:ea typeface="Poppins"/>
              <a:cs typeface="Poppins"/>
              <a:sym typeface="Poppins"/>
            </a:endParaRPr>
          </a:p>
        </p:txBody>
      </p:sp>
      <p:cxnSp>
        <p:nvCxnSpPr>
          <p:cNvPr id="262" name="Google Shape;262;g341d387c2eb_0_53"/>
          <p:cNvCxnSpPr/>
          <p:nvPr/>
        </p:nvCxnSpPr>
        <p:spPr>
          <a:xfrm>
            <a:off x="1028700" y="601417"/>
            <a:ext cx="16230600" cy="0"/>
          </a:xfrm>
          <a:prstGeom prst="straightConnector1">
            <a:avLst/>
          </a:prstGeom>
          <a:noFill/>
          <a:ln cap="flat" cmpd="sng" w="19050">
            <a:solidFill>
              <a:srgbClr val="D9D9D9"/>
            </a:solidFill>
            <a:prstDash val="solid"/>
            <a:round/>
            <a:headEnd len="sm" w="sm" type="none"/>
            <a:tailEnd len="sm" w="sm" type="none"/>
          </a:ln>
        </p:spPr>
      </p:cxnSp>
      <p:sp>
        <p:nvSpPr>
          <p:cNvPr id="263" name="Google Shape;263;g341d387c2eb_0_53"/>
          <p:cNvSpPr/>
          <p:nvPr/>
        </p:nvSpPr>
        <p:spPr>
          <a:xfrm rot="9321286">
            <a:off x="9977051" y="5127512"/>
            <a:ext cx="13986492" cy="5402283"/>
          </a:xfrm>
          <a:custGeom>
            <a:rect b="b" l="l" r="r" t="t"/>
            <a:pathLst>
              <a:path extrusionOk="0" h="5395795" w="13969695">
                <a:moveTo>
                  <a:pt x="0" y="0"/>
                </a:moveTo>
                <a:lnTo>
                  <a:pt x="13969695" y="0"/>
                </a:lnTo>
                <a:lnTo>
                  <a:pt x="13969695" y="5395794"/>
                </a:lnTo>
                <a:lnTo>
                  <a:pt x="0" y="5395794"/>
                </a:lnTo>
                <a:lnTo>
                  <a:pt x="0" y="0"/>
                </a:lnTo>
                <a:close/>
              </a:path>
            </a:pathLst>
          </a:custGeom>
          <a:blipFill rotWithShape="1">
            <a:blip r:embed="rId3">
              <a:alphaModFix/>
            </a:blip>
            <a:stretch>
              <a:fillRect b="0" l="0" r="0" t="0"/>
            </a:stretch>
          </a:blipFill>
          <a:ln>
            <a:noFill/>
          </a:ln>
        </p:spPr>
      </p:sp>
      <p:pic>
        <p:nvPicPr>
          <p:cNvPr id="264" name="Google Shape;264;g341d387c2eb_0_53"/>
          <p:cNvPicPr preferRelativeResize="0"/>
          <p:nvPr/>
        </p:nvPicPr>
        <p:blipFill>
          <a:blip r:embed="rId4">
            <a:alphaModFix/>
          </a:blip>
          <a:stretch>
            <a:fillRect/>
          </a:stretch>
        </p:blipFill>
        <p:spPr>
          <a:xfrm>
            <a:off x="4140919" y="2844000"/>
            <a:ext cx="10006174" cy="61752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grpSp>
        <p:nvGrpSpPr>
          <p:cNvPr id="269" name="Google Shape;269;g341d387c2eb_0_67"/>
          <p:cNvGrpSpPr/>
          <p:nvPr/>
        </p:nvGrpSpPr>
        <p:grpSpPr>
          <a:xfrm>
            <a:off x="0" y="0"/>
            <a:ext cx="8593538" cy="10528859"/>
            <a:chOff x="0" y="-57150"/>
            <a:chExt cx="2037011" cy="2495700"/>
          </a:xfrm>
        </p:grpSpPr>
        <p:sp>
          <p:nvSpPr>
            <p:cNvPr id="270" name="Google Shape;270;g341d387c2eb_0_67"/>
            <p:cNvSpPr/>
            <p:nvPr/>
          </p:nvSpPr>
          <p:spPr>
            <a:xfrm>
              <a:off x="0" y="0"/>
              <a:ext cx="2037011" cy="2438400"/>
            </a:xfrm>
            <a:custGeom>
              <a:rect b="b" l="l" r="r" t="t"/>
              <a:pathLst>
                <a:path extrusionOk="0" h="2438400" w="2037011">
                  <a:moveTo>
                    <a:pt x="0" y="0"/>
                  </a:moveTo>
                  <a:lnTo>
                    <a:pt x="2037011" y="0"/>
                  </a:lnTo>
                  <a:lnTo>
                    <a:pt x="2037011" y="2438400"/>
                  </a:lnTo>
                  <a:lnTo>
                    <a:pt x="0" y="2438400"/>
                  </a:lnTo>
                  <a:close/>
                </a:path>
              </a:pathLst>
            </a:custGeom>
            <a:solidFill>
              <a:srgbClr val="071C42"/>
            </a:solidFill>
            <a:ln>
              <a:noFill/>
            </a:ln>
          </p:spPr>
        </p:sp>
        <p:sp>
          <p:nvSpPr>
            <p:cNvPr id="271" name="Google Shape;271;g341d387c2eb_0_67"/>
            <p:cNvSpPr txBox="1"/>
            <p:nvPr/>
          </p:nvSpPr>
          <p:spPr>
            <a:xfrm>
              <a:off x="0" y="-57150"/>
              <a:ext cx="2037000" cy="24957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72" name="Google Shape;272;g341d387c2eb_0_67"/>
          <p:cNvSpPr txBox="1"/>
          <p:nvPr/>
        </p:nvSpPr>
        <p:spPr>
          <a:xfrm>
            <a:off x="11067384" y="1982089"/>
            <a:ext cx="3627000" cy="861900"/>
          </a:xfrm>
          <a:prstGeom prst="rect">
            <a:avLst/>
          </a:prstGeom>
          <a:noFill/>
          <a:ln>
            <a:noFill/>
          </a:ln>
        </p:spPr>
        <p:txBody>
          <a:bodyPr anchorCtr="0" anchor="t" bIns="0" lIns="0" spcFirstLastPara="1" rIns="0" wrap="square" tIns="0">
            <a:spAutoFit/>
          </a:bodyPr>
          <a:lstStyle/>
          <a:p>
            <a:pPr indent="0" lvl="0" marL="0" marR="0" rtl="0" algn="l">
              <a:lnSpc>
                <a:spcPct val="120003"/>
              </a:lnSpc>
              <a:spcBef>
                <a:spcPts val="0"/>
              </a:spcBef>
              <a:spcAft>
                <a:spcPts val="0"/>
              </a:spcAft>
              <a:buNone/>
            </a:pPr>
            <a:r>
              <a:rPr b="1" i="0" lang="en-US" sz="5599" u="none" cap="none" strike="noStrike">
                <a:solidFill>
                  <a:srgbClr val="FFFFFF"/>
                </a:solidFill>
                <a:latin typeface="Poppins"/>
                <a:ea typeface="Poppins"/>
                <a:cs typeface="Poppins"/>
                <a:sym typeface="Poppins"/>
              </a:rPr>
              <a:t>Setbacks</a:t>
            </a:r>
            <a:endParaRPr/>
          </a:p>
        </p:txBody>
      </p:sp>
      <p:sp>
        <p:nvSpPr>
          <p:cNvPr id="273" name="Google Shape;273;g341d387c2eb_0_67"/>
          <p:cNvSpPr txBox="1"/>
          <p:nvPr/>
        </p:nvSpPr>
        <p:spPr>
          <a:xfrm>
            <a:off x="238550" y="911538"/>
            <a:ext cx="8355000" cy="954300"/>
          </a:xfrm>
          <a:prstGeom prst="rect">
            <a:avLst/>
          </a:prstGeom>
          <a:noFill/>
          <a:ln>
            <a:noFill/>
          </a:ln>
        </p:spPr>
        <p:txBody>
          <a:bodyPr anchorCtr="0" anchor="t" bIns="0" lIns="0" spcFirstLastPara="1" rIns="0" wrap="square" tIns="0">
            <a:spAutoFit/>
          </a:bodyPr>
          <a:lstStyle/>
          <a:p>
            <a:pPr indent="0" lvl="0" marL="0" rtl="0" algn="l">
              <a:lnSpc>
                <a:spcPct val="140000"/>
              </a:lnSpc>
              <a:spcBef>
                <a:spcPts val="0"/>
              </a:spcBef>
              <a:spcAft>
                <a:spcPts val="0"/>
              </a:spcAft>
              <a:buNone/>
            </a:pPr>
            <a:r>
              <a:rPr b="1" lang="en-US" sz="3000">
                <a:solidFill>
                  <a:schemeClr val="lt1"/>
                </a:solidFill>
                <a:latin typeface="Poppins"/>
                <a:ea typeface="Poppins"/>
                <a:cs typeface="Poppins"/>
                <a:sym typeface="Poppins"/>
              </a:rPr>
              <a:t>Workout Patterns</a:t>
            </a:r>
            <a:endParaRPr b="1" sz="3400">
              <a:solidFill>
                <a:schemeClr val="lt1"/>
              </a:solidFill>
              <a:latin typeface="Poppins"/>
              <a:ea typeface="Poppins"/>
              <a:cs typeface="Poppins"/>
              <a:sym typeface="Poppins"/>
            </a:endParaRPr>
          </a:p>
          <a:p>
            <a:pPr indent="0" lvl="0" marL="0" rtl="0" algn="l">
              <a:lnSpc>
                <a:spcPct val="140000"/>
              </a:lnSpc>
              <a:spcBef>
                <a:spcPts val="0"/>
              </a:spcBef>
              <a:spcAft>
                <a:spcPts val="0"/>
              </a:spcAft>
              <a:buNone/>
            </a:pPr>
            <a:r>
              <a:rPr lang="en-US" sz="2000">
                <a:solidFill>
                  <a:schemeClr val="lt1"/>
                </a:solidFill>
                <a:latin typeface="Poppins"/>
                <a:ea typeface="Poppins"/>
                <a:cs typeface="Poppins"/>
                <a:sym typeface="Poppins"/>
              </a:rPr>
              <a:t>Workout_Duration_mins, Calories_Burned, Heart_Rate_bpm</a:t>
            </a:r>
            <a:endParaRPr sz="2000">
              <a:solidFill>
                <a:schemeClr val="lt1"/>
              </a:solidFill>
              <a:latin typeface="Poppins"/>
              <a:ea typeface="Poppins"/>
              <a:cs typeface="Poppins"/>
              <a:sym typeface="Poppins"/>
            </a:endParaRPr>
          </a:p>
        </p:txBody>
      </p:sp>
      <p:cxnSp>
        <p:nvCxnSpPr>
          <p:cNvPr id="274" name="Google Shape;274;g341d387c2eb_0_67"/>
          <p:cNvCxnSpPr/>
          <p:nvPr/>
        </p:nvCxnSpPr>
        <p:spPr>
          <a:xfrm>
            <a:off x="1028700" y="492217"/>
            <a:ext cx="16230600" cy="0"/>
          </a:xfrm>
          <a:prstGeom prst="straightConnector1">
            <a:avLst/>
          </a:prstGeom>
          <a:noFill/>
          <a:ln cap="flat" cmpd="sng" w="19050">
            <a:solidFill>
              <a:srgbClr val="D9D9D9"/>
            </a:solidFill>
            <a:prstDash val="solid"/>
            <a:round/>
            <a:headEnd len="sm" w="sm" type="none"/>
            <a:tailEnd len="sm" w="sm" type="none"/>
          </a:ln>
        </p:spPr>
      </p:cxnSp>
      <p:sp>
        <p:nvSpPr>
          <p:cNvPr id="275" name="Google Shape;275;g341d387c2eb_0_67"/>
          <p:cNvSpPr/>
          <p:nvPr/>
        </p:nvSpPr>
        <p:spPr>
          <a:xfrm rot="9321286">
            <a:off x="9977051" y="5127512"/>
            <a:ext cx="13986492" cy="5402283"/>
          </a:xfrm>
          <a:custGeom>
            <a:rect b="b" l="l" r="r" t="t"/>
            <a:pathLst>
              <a:path extrusionOk="0" h="5395795" w="13969695">
                <a:moveTo>
                  <a:pt x="0" y="0"/>
                </a:moveTo>
                <a:lnTo>
                  <a:pt x="13969695" y="0"/>
                </a:lnTo>
                <a:lnTo>
                  <a:pt x="13969695" y="5395794"/>
                </a:lnTo>
                <a:lnTo>
                  <a:pt x="0" y="5395794"/>
                </a:lnTo>
                <a:lnTo>
                  <a:pt x="0" y="0"/>
                </a:lnTo>
                <a:close/>
              </a:path>
            </a:pathLst>
          </a:custGeom>
          <a:blipFill rotWithShape="1">
            <a:blip r:embed="rId3">
              <a:alphaModFix/>
            </a:blip>
            <a:stretch>
              <a:fillRect b="0" l="0" r="0" t="0"/>
            </a:stretch>
          </a:blipFill>
          <a:ln>
            <a:noFill/>
          </a:ln>
        </p:spPr>
      </p:sp>
      <p:pic>
        <p:nvPicPr>
          <p:cNvPr id="276" name="Google Shape;276;g341d387c2eb_0_67"/>
          <p:cNvPicPr preferRelativeResize="0"/>
          <p:nvPr/>
        </p:nvPicPr>
        <p:blipFill>
          <a:blip r:embed="rId4">
            <a:alphaModFix/>
          </a:blip>
          <a:stretch>
            <a:fillRect/>
          </a:stretch>
        </p:blipFill>
        <p:spPr>
          <a:xfrm>
            <a:off x="3408104" y="2155854"/>
            <a:ext cx="10970000" cy="67699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grpSp>
        <p:nvGrpSpPr>
          <p:cNvPr id="281" name="Google Shape;281;g341d387c2eb_1_35"/>
          <p:cNvGrpSpPr/>
          <p:nvPr/>
        </p:nvGrpSpPr>
        <p:grpSpPr>
          <a:xfrm>
            <a:off x="0" y="99874"/>
            <a:ext cx="10306868" cy="10429031"/>
            <a:chOff x="0" y="-57150"/>
            <a:chExt cx="2037011" cy="2495700"/>
          </a:xfrm>
        </p:grpSpPr>
        <p:sp>
          <p:nvSpPr>
            <p:cNvPr id="282" name="Google Shape;282;g341d387c2eb_1_35"/>
            <p:cNvSpPr/>
            <p:nvPr/>
          </p:nvSpPr>
          <p:spPr>
            <a:xfrm>
              <a:off x="0" y="0"/>
              <a:ext cx="2037011" cy="2438400"/>
            </a:xfrm>
            <a:custGeom>
              <a:rect b="b" l="l" r="r" t="t"/>
              <a:pathLst>
                <a:path extrusionOk="0" h="2438400" w="2037011">
                  <a:moveTo>
                    <a:pt x="0" y="0"/>
                  </a:moveTo>
                  <a:lnTo>
                    <a:pt x="2037011" y="0"/>
                  </a:lnTo>
                  <a:lnTo>
                    <a:pt x="2037011" y="2438400"/>
                  </a:lnTo>
                  <a:lnTo>
                    <a:pt x="0" y="2438400"/>
                  </a:lnTo>
                  <a:close/>
                </a:path>
              </a:pathLst>
            </a:custGeom>
            <a:solidFill>
              <a:srgbClr val="071C42"/>
            </a:solidFill>
            <a:ln>
              <a:noFill/>
            </a:ln>
          </p:spPr>
        </p:sp>
        <p:sp>
          <p:nvSpPr>
            <p:cNvPr id="283" name="Google Shape;283;g341d387c2eb_1_35"/>
            <p:cNvSpPr txBox="1"/>
            <p:nvPr/>
          </p:nvSpPr>
          <p:spPr>
            <a:xfrm>
              <a:off x="0" y="-57150"/>
              <a:ext cx="2037000" cy="24957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84" name="Google Shape;284;g341d387c2eb_1_35"/>
          <p:cNvSpPr txBox="1"/>
          <p:nvPr/>
        </p:nvSpPr>
        <p:spPr>
          <a:xfrm>
            <a:off x="11067384" y="1982089"/>
            <a:ext cx="3627000" cy="861900"/>
          </a:xfrm>
          <a:prstGeom prst="rect">
            <a:avLst/>
          </a:prstGeom>
          <a:noFill/>
          <a:ln>
            <a:noFill/>
          </a:ln>
        </p:spPr>
        <p:txBody>
          <a:bodyPr anchorCtr="0" anchor="t" bIns="0" lIns="0" spcFirstLastPara="1" rIns="0" wrap="square" tIns="0">
            <a:spAutoFit/>
          </a:bodyPr>
          <a:lstStyle/>
          <a:p>
            <a:pPr indent="0" lvl="0" marL="0" marR="0" rtl="0" algn="l">
              <a:lnSpc>
                <a:spcPct val="120003"/>
              </a:lnSpc>
              <a:spcBef>
                <a:spcPts val="0"/>
              </a:spcBef>
              <a:spcAft>
                <a:spcPts val="0"/>
              </a:spcAft>
              <a:buNone/>
            </a:pPr>
            <a:r>
              <a:rPr b="1" i="0" lang="en-US" sz="5599" u="none" cap="none" strike="noStrike">
                <a:solidFill>
                  <a:srgbClr val="FFFFFF"/>
                </a:solidFill>
                <a:latin typeface="Poppins"/>
                <a:ea typeface="Poppins"/>
                <a:cs typeface="Poppins"/>
                <a:sym typeface="Poppins"/>
              </a:rPr>
              <a:t>Setbacks</a:t>
            </a:r>
            <a:endParaRPr/>
          </a:p>
        </p:txBody>
      </p:sp>
      <p:sp>
        <p:nvSpPr>
          <p:cNvPr id="285" name="Google Shape;285;g341d387c2eb_1_35"/>
          <p:cNvSpPr txBox="1"/>
          <p:nvPr/>
        </p:nvSpPr>
        <p:spPr>
          <a:xfrm>
            <a:off x="238550" y="734650"/>
            <a:ext cx="10068300" cy="507900"/>
          </a:xfrm>
          <a:prstGeom prst="rect">
            <a:avLst/>
          </a:prstGeom>
          <a:noFill/>
          <a:ln>
            <a:noFill/>
          </a:ln>
        </p:spPr>
        <p:txBody>
          <a:bodyPr anchorCtr="0" anchor="t" bIns="0" lIns="0" spcFirstLastPara="1" rIns="0" wrap="square" tIns="0">
            <a:spAutoFit/>
          </a:bodyPr>
          <a:lstStyle/>
          <a:p>
            <a:pPr indent="0" lvl="0" marL="0" rtl="0" algn="l">
              <a:lnSpc>
                <a:spcPct val="140000"/>
              </a:lnSpc>
              <a:spcBef>
                <a:spcPts val="0"/>
              </a:spcBef>
              <a:spcAft>
                <a:spcPts val="0"/>
              </a:spcAft>
              <a:buNone/>
            </a:pPr>
            <a:r>
              <a:rPr b="1" lang="en-US" sz="3300">
                <a:solidFill>
                  <a:schemeClr val="lt1"/>
                </a:solidFill>
                <a:latin typeface="Poppins"/>
                <a:ea typeface="Poppins"/>
                <a:cs typeface="Poppins"/>
                <a:sym typeface="Poppins"/>
              </a:rPr>
              <a:t>No Significant Correlation between variables</a:t>
            </a:r>
            <a:endParaRPr b="1" sz="2900">
              <a:solidFill>
                <a:schemeClr val="lt1"/>
              </a:solidFill>
              <a:latin typeface="Poppins"/>
              <a:ea typeface="Poppins"/>
              <a:cs typeface="Poppins"/>
              <a:sym typeface="Poppins"/>
            </a:endParaRPr>
          </a:p>
        </p:txBody>
      </p:sp>
      <p:cxnSp>
        <p:nvCxnSpPr>
          <p:cNvPr id="286" name="Google Shape;286;g341d387c2eb_1_35"/>
          <p:cNvCxnSpPr/>
          <p:nvPr/>
        </p:nvCxnSpPr>
        <p:spPr>
          <a:xfrm>
            <a:off x="1028700" y="601417"/>
            <a:ext cx="16230600" cy="0"/>
          </a:xfrm>
          <a:prstGeom prst="straightConnector1">
            <a:avLst/>
          </a:prstGeom>
          <a:noFill/>
          <a:ln cap="flat" cmpd="sng" w="19050">
            <a:solidFill>
              <a:srgbClr val="D9D9D9"/>
            </a:solidFill>
            <a:prstDash val="solid"/>
            <a:round/>
            <a:headEnd len="sm" w="sm" type="none"/>
            <a:tailEnd len="sm" w="sm" type="none"/>
          </a:ln>
        </p:spPr>
      </p:cxnSp>
      <p:sp>
        <p:nvSpPr>
          <p:cNvPr id="287" name="Google Shape;287;g341d387c2eb_1_35"/>
          <p:cNvSpPr/>
          <p:nvPr/>
        </p:nvSpPr>
        <p:spPr>
          <a:xfrm rot="9321286">
            <a:off x="9977051" y="5127512"/>
            <a:ext cx="13986492" cy="5402283"/>
          </a:xfrm>
          <a:custGeom>
            <a:rect b="b" l="l" r="r" t="t"/>
            <a:pathLst>
              <a:path extrusionOk="0" h="5395795" w="13969695">
                <a:moveTo>
                  <a:pt x="0" y="0"/>
                </a:moveTo>
                <a:lnTo>
                  <a:pt x="13969695" y="0"/>
                </a:lnTo>
                <a:lnTo>
                  <a:pt x="13969695" y="5395794"/>
                </a:lnTo>
                <a:lnTo>
                  <a:pt x="0" y="5395794"/>
                </a:lnTo>
                <a:lnTo>
                  <a:pt x="0" y="0"/>
                </a:lnTo>
                <a:close/>
              </a:path>
            </a:pathLst>
          </a:custGeom>
          <a:blipFill rotWithShape="1">
            <a:blip r:embed="rId3">
              <a:alphaModFix/>
            </a:blip>
            <a:stretch>
              <a:fillRect b="0" l="0" r="0" t="0"/>
            </a:stretch>
          </a:blipFill>
          <a:ln>
            <a:noFill/>
          </a:ln>
        </p:spPr>
      </p:sp>
      <p:pic>
        <p:nvPicPr>
          <p:cNvPr id="288" name="Google Shape;288;g341d387c2eb_1_35"/>
          <p:cNvPicPr preferRelativeResize="0"/>
          <p:nvPr/>
        </p:nvPicPr>
        <p:blipFill>
          <a:blip r:embed="rId4">
            <a:alphaModFix/>
          </a:blip>
          <a:stretch>
            <a:fillRect/>
          </a:stretch>
        </p:blipFill>
        <p:spPr>
          <a:xfrm>
            <a:off x="2474975" y="1375750"/>
            <a:ext cx="13603698" cy="84051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grpSp>
        <p:nvGrpSpPr>
          <p:cNvPr id="293" name="Google Shape;293;g341d387c2eb_1_58"/>
          <p:cNvGrpSpPr/>
          <p:nvPr/>
        </p:nvGrpSpPr>
        <p:grpSpPr>
          <a:xfrm>
            <a:off x="0" y="120237"/>
            <a:ext cx="8718942" cy="10528859"/>
            <a:chOff x="0" y="-28650"/>
            <a:chExt cx="2066737" cy="2495700"/>
          </a:xfrm>
        </p:grpSpPr>
        <p:sp>
          <p:nvSpPr>
            <p:cNvPr id="294" name="Google Shape;294;g341d387c2eb_1_58"/>
            <p:cNvSpPr/>
            <p:nvPr/>
          </p:nvSpPr>
          <p:spPr>
            <a:xfrm>
              <a:off x="0" y="0"/>
              <a:ext cx="2037011" cy="2438400"/>
            </a:xfrm>
            <a:custGeom>
              <a:rect b="b" l="l" r="r" t="t"/>
              <a:pathLst>
                <a:path extrusionOk="0" h="2438400" w="2037011">
                  <a:moveTo>
                    <a:pt x="0" y="0"/>
                  </a:moveTo>
                  <a:lnTo>
                    <a:pt x="2037011" y="0"/>
                  </a:lnTo>
                  <a:lnTo>
                    <a:pt x="2037011" y="2438400"/>
                  </a:lnTo>
                  <a:lnTo>
                    <a:pt x="0" y="2438400"/>
                  </a:lnTo>
                  <a:close/>
                </a:path>
              </a:pathLst>
            </a:custGeom>
            <a:solidFill>
              <a:srgbClr val="071C42"/>
            </a:solidFill>
            <a:ln>
              <a:noFill/>
            </a:ln>
          </p:spPr>
        </p:sp>
        <p:sp>
          <p:nvSpPr>
            <p:cNvPr id="295" name="Google Shape;295;g341d387c2eb_1_58"/>
            <p:cNvSpPr txBox="1"/>
            <p:nvPr/>
          </p:nvSpPr>
          <p:spPr>
            <a:xfrm>
              <a:off x="29737" y="-28650"/>
              <a:ext cx="2037000" cy="24957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96" name="Google Shape;296;g341d387c2eb_1_58"/>
          <p:cNvSpPr txBox="1"/>
          <p:nvPr/>
        </p:nvSpPr>
        <p:spPr>
          <a:xfrm>
            <a:off x="276175" y="824550"/>
            <a:ext cx="8166600" cy="1329900"/>
          </a:xfrm>
          <a:prstGeom prst="rect">
            <a:avLst/>
          </a:prstGeom>
          <a:noFill/>
          <a:ln>
            <a:noFill/>
          </a:ln>
        </p:spPr>
        <p:txBody>
          <a:bodyPr anchorCtr="0" anchor="t" bIns="0" lIns="0" spcFirstLastPara="1" rIns="0" wrap="square" tIns="0">
            <a:spAutoFit/>
          </a:bodyPr>
          <a:lstStyle/>
          <a:p>
            <a:pPr indent="0" lvl="0" marL="0" rtl="0" algn="l">
              <a:lnSpc>
                <a:spcPct val="140000"/>
              </a:lnSpc>
              <a:spcBef>
                <a:spcPts val="0"/>
              </a:spcBef>
              <a:spcAft>
                <a:spcPts val="0"/>
              </a:spcAft>
              <a:buNone/>
            </a:pPr>
            <a:r>
              <a:rPr lang="en-US" sz="3600">
                <a:solidFill>
                  <a:schemeClr val="lt1"/>
                </a:solidFill>
                <a:latin typeface="Poppins"/>
                <a:ea typeface="Poppins"/>
                <a:cs typeface="Poppins"/>
                <a:sym typeface="Poppins"/>
              </a:rPr>
              <a:t>Variable </a:t>
            </a:r>
            <a:r>
              <a:rPr lang="en-US" sz="3600">
                <a:solidFill>
                  <a:schemeClr val="lt1"/>
                </a:solidFill>
                <a:latin typeface="Poppins"/>
                <a:ea typeface="Poppins"/>
                <a:cs typeface="Poppins"/>
                <a:sym typeface="Poppins"/>
              </a:rPr>
              <a:t>distributions</a:t>
            </a:r>
            <a:r>
              <a:rPr lang="en-US" sz="3600">
                <a:solidFill>
                  <a:schemeClr val="lt1"/>
                </a:solidFill>
                <a:latin typeface="Poppins"/>
                <a:ea typeface="Poppins"/>
                <a:cs typeface="Poppins"/>
                <a:sym typeface="Poppins"/>
              </a:rPr>
              <a:t> </a:t>
            </a:r>
            <a:endParaRPr sz="3600">
              <a:solidFill>
                <a:schemeClr val="lt1"/>
              </a:solidFill>
              <a:latin typeface="Poppins"/>
              <a:ea typeface="Poppins"/>
              <a:cs typeface="Poppins"/>
              <a:sym typeface="Poppins"/>
            </a:endParaRPr>
          </a:p>
          <a:p>
            <a:pPr indent="0" lvl="0" marL="0" rtl="0" algn="l">
              <a:lnSpc>
                <a:spcPct val="140000"/>
              </a:lnSpc>
              <a:spcBef>
                <a:spcPts val="0"/>
              </a:spcBef>
              <a:spcAft>
                <a:spcPts val="0"/>
              </a:spcAft>
              <a:buNone/>
            </a:pPr>
            <a:r>
              <a:rPr lang="en-US" sz="3600">
                <a:solidFill>
                  <a:schemeClr val="lt1"/>
                </a:solidFill>
                <a:latin typeface="Poppins"/>
                <a:ea typeface="Poppins"/>
                <a:cs typeface="Poppins"/>
                <a:sym typeface="Poppins"/>
              </a:rPr>
              <a:t>appear to be uniform</a:t>
            </a:r>
            <a:endParaRPr sz="3200">
              <a:solidFill>
                <a:schemeClr val="lt1"/>
              </a:solidFill>
              <a:latin typeface="Poppins"/>
              <a:ea typeface="Poppins"/>
              <a:cs typeface="Poppins"/>
              <a:sym typeface="Poppins"/>
            </a:endParaRPr>
          </a:p>
        </p:txBody>
      </p:sp>
      <p:cxnSp>
        <p:nvCxnSpPr>
          <p:cNvPr id="297" name="Google Shape;297;g341d387c2eb_1_58"/>
          <p:cNvCxnSpPr/>
          <p:nvPr/>
        </p:nvCxnSpPr>
        <p:spPr>
          <a:xfrm>
            <a:off x="1028700" y="601417"/>
            <a:ext cx="16230600" cy="0"/>
          </a:xfrm>
          <a:prstGeom prst="straightConnector1">
            <a:avLst/>
          </a:prstGeom>
          <a:noFill/>
          <a:ln cap="flat" cmpd="sng" w="19050">
            <a:solidFill>
              <a:srgbClr val="D9D9D9"/>
            </a:solidFill>
            <a:prstDash val="solid"/>
            <a:round/>
            <a:headEnd len="sm" w="sm" type="none"/>
            <a:tailEnd len="sm" w="sm" type="none"/>
          </a:ln>
        </p:spPr>
      </p:cxnSp>
      <p:sp>
        <p:nvSpPr>
          <p:cNvPr id="298" name="Google Shape;298;g341d387c2eb_1_58"/>
          <p:cNvSpPr/>
          <p:nvPr/>
        </p:nvSpPr>
        <p:spPr>
          <a:xfrm rot="9321286">
            <a:off x="9977051" y="5127512"/>
            <a:ext cx="13986492" cy="5402283"/>
          </a:xfrm>
          <a:custGeom>
            <a:rect b="b" l="l" r="r" t="t"/>
            <a:pathLst>
              <a:path extrusionOk="0" h="5395795" w="13969695">
                <a:moveTo>
                  <a:pt x="0" y="0"/>
                </a:moveTo>
                <a:lnTo>
                  <a:pt x="13969695" y="0"/>
                </a:lnTo>
                <a:lnTo>
                  <a:pt x="13969695" y="5395794"/>
                </a:lnTo>
                <a:lnTo>
                  <a:pt x="0" y="5395794"/>
                </a:lnTo>
                <a:lnTo>
                  <a:pt x="0" y="0"/>
                </a:lnTo>
                <a:close/>
              </a:path>
            </a:pathLst>
          </a:custGeom>
          <a:blipFill rotWithShape="1">
            <a:blip r:embed="rId3">
              <a:alphaModFix/>
            </a:blip>
            <a:stretch>
              <a:fillRect b="0" l="0" r="0" t="0"/>
            </a:stretch>
          </a:blipFill>
          <a:ln>
            <a:noFill/>
          </a:ln>
        </p:spPr>
      </p:sp>
      <p:pic>
        <p:nvPicPr>
          <p:cNvPr id="299" name="Google Shape;299;g341d387c2eb_1_58"/>
          <p:cNvPicPr preferRelativeResize="0"/>
          <p:nvPr/>
        </p:nvPicPr>
        <p:blipFill>
          <a:blip r:embed="rId4">
            <a:alphaModFix/>
          </a:blip>
          <a:stretch>
            <a:fillRect/>
          </a:stretch>
        </p:blipFill>
        <p:spPr>
          <a:xfrm>
            <a:off x="1415822" y="2714650"/>
            <a:ext cx="3288817" cy="2032019"/>
          </a:xfrm>
          <a:prstGeom prst="rect">
            <a:avLst/>
          </a:prstGeom>
          <a:noFill/>
          <a:ln>
            <a:noFill/>
          </a:ln>
        </p:spPr>
      </p:pic>
      <p:pic>
        <p:nvPicPr>
          <p:cNvPr id="300" name="Google Shape;300;g341d387c2eb_1_58"/>
          <p:cNvPicPr preferRelativeResize="0"/>
          <p:nvPr/>
        </p:nvPicPr>
        <p:blipFill>
          <a:blip r:embed="rId5">
            <a:alphaModFix/>
          </a:blip>
          <a:stretch>
            <a:fillRect/>
          </a:stretch>
        </p:blipFill>
        <p:spPr>
          <a:xfrm>
            <a:off x="1415822" y="4805738"/>
            <a:ext cx="3288817" cy="2032019"/>
          </a:xfrm>
          <a:prstGeom prst="rect">
            <a:avLst/>
          </a:prstGeom>
          <a:noFill/>
          <a:ln>
            <a:noFill/>
          </a:ln>
        </p:spPr>
      </p:pic>
      <p:pic>
        <p:nvPicPr>
          <p:cNvPr id="301" name="Google Shape;301;g341d387c2eb_1_58"/>
          <p:cNvPicPr preferRelativeResize="0"/>
          <p:nvPr/>
        </p:nvPicPr>
        <p:blipFill>
          <a:blip r:embed="rId6">
            <a:alphaModFix/>
          </a:blip>
          <a:stretch>
            <a:fillRect/>
          </a:stretch>
        </p:blipFill>
        <p:spPr>
          <a:xfrm>
            <a:off x="1415829" y="7201500"/>
            <a:ext cx="3288796" cy="2032000"/>
          </a:xfrm>
          <a:prstGeom prst="rect">
            <a:avLst/>
          </a:prstGeom>
          <a:noFill/>
          <a:ln>
            <a:noFill/>
          </a:ln>
        </p:spPr>
      </p:pic>
      <p:pic>
        <p:nvPicPr>
          <p:cNvPr id="302" name="Google Shape;302;g341d387c2eb_1_58"/>
          <p:cNvPicPr preferRelativeResize="0"/>
          <p:nvPr/>
        </p:nvPicPr>
        <p:blipFill>
          <a:blip r:embed="rId7">
            <a:alphaModFix/>
          </a:blip>
          <a:stretch>
            <a:fillRect/>
          </a:stretch>
        </p:blipFill>
        <p:spPr>
          <a:xfrm>
            <a:off x="5555721" y="2667175"/>
            <a:ext cx="3288817" cy="2032019"/>
          </a:xfrm>
          <a:prstGeom prst="rect">
            <a:avLst/>
          </a:prstGeom>
          <a:noFill/>
          <a:ln>
            <a:noFill/>
          </a:ln>
        </p:spPr>
      </p:pic>
      <p:pic>
        <p:nvPicPr>
          <p:cNvPr id="303" name="Google Shape;303;g341d387c2eb_1_58"/>
          <p:cNvPicPr preferRelativeResize="0"/>
          <p:nvPr/>
        </p:nvPicPr>
        <p:blipFill>
          <a:blip r:embed="rId8">
            <a:alphaModFix/>
          </a:blip>
          <a:stretch>
            <a:fillRect/>
          </a:stretch>
        </p:blipFill>
        <p:spPr>
          <a:xfrm>
            <a:off x="5555712" y="4862275"/>
            <a:ext cx="3288824" cy="1918951"/>
          </a:xfrm>
          <a:prstGeom prst="rect">
            <a:avLst/>
          </a:prstGeom>
          <a:noFill/>
          <a:ln>
            <a:noFill/>
          </a:ln>
        </p:spPr>
      </p:pic>
      <p:pic>
        <p:nvPicPr>
          <p:cNvPr id="304" name="Google Shape;304;g341d387c2eb_1_58"/>
          <p:cNvPicPr preferRelativeResize="0"/>
          <p:nvPr/>
        </p:nvPicPr>
        <p:blipFill>
          <a:blip r:embed="rId9">
            <a:alphaModFix/>
          </a:blip>
          <a:stretch>
            <a:fillRect/>
          </a:stretch>
        </p:blipFill>
        <p:spPr>
          <a:xfrm>
            <a:off x="5555713" y="7201488"/>
            <a:ext cx="3288824" cy="2032026"/>
          </a:xfrm>
          <a:prstGeom prst="rect">
            <a:avLst/>
          </a:prstGeom>
          <a:noFill/>
          <a:ln>
            <a:noFill/>
          </a:ln>
        </p:spPr>
      </p:pic>
      <p:pic>
        <p:nvPicPr>
          <p:cNvPr id="305" name="Google Shape;305;g341d387c2eb_1_58"/>
          <p:cNvPicPr preferRelativeResize="0"/>
          <p:nvPr/>
        </p:nvPicPr>
        <p:blipFill>
          <a:blip r:embed="rId10">
            <a:alphaModFix/>
          </a:blip>
          <a:stretch>
            <a:fillRect/>
          </a:stretch>
        </p:blipFill>
        <p:spPr>
          <a:xfrm>
            <a:off x="9438239" y="2546600"/>
            <a:ext cx="3483966" cy="2152594"/>
          </a:xfrm>
          <a:prstGeom prst="rect">
            <a:avLst/>
          </a:prstGeom>
          <a:noFill/>
          <a:ln>
            <a:noFill/>
          </a:ln>
        </p:spPr>
      </p:pic>
      <p:pic>
        <p:nvPicPr>
          <p:cNvPr id="306" name="Google Shape;306;g341d387c2eb_1_58"/>
          <p:cNvPicPr preferRelativeResize="0"/>
          <p:nvPr/>
        </p:nvPicPr>
        <p:blipFill>
          <a:blip r:embed="rId11">
            <a:alphaModFix/>
          </a:blip>
          <a:stretch>
            <a:fillRect/>
          </a:stretch>
        </p:blipFill>
        <p:spPr>
          <a:xfrm>
            <a:off x="13388230" y="2546600"/>
            <a:ext cx="3483967" cy="2152594"/>
          </a:xfrm>
          <a:prstGeom prst="rect">
            <a:avLst/>
          </a:prstGeom>
          <a:noFill/>
          <a:ln>
            <a:noFill/>
          </a:ln>
        </p:spPr>
      </p:pic>
      <p:pic>
        <p:nvPicPr>
          <p:cNvPr id="307" name="Google Shape;307;g341d387c2eb_1_58"/>
          <p:cNvPicPr preferRelativeResize="0"/>
          <p:nvPr/>
        </p:nvPicPr>
        <p:blipFill>
          <a:blip r:embed="rId12">
            <a:alphaModFix/>
          </a:blip>
          <a:stretch>
            <a:fillRect/>
          </a:stretch>
        </p:blipFill>
        <p:spPr>
          <a:xfrm>
            <a:off x="9438238" y="4759472"/>
            <a:ext cx="3288824" cy="2032015"/>
          </a:xfrm>
          <a:prstGeom prst="rect">
            <a:avLst/>
          </a:prstGeom>
          <a:noFill/>
          <a:ln>
            <a:noFill/>
          </a:ln>
        </p:spPr>
      </p:pic>
      <p:pic>
        <p:nvPicPr>
          <p:cNvPr id="308" name="Google Shape;308;g341d387c2eb_1_58"/>
          <p:cNvPicPr preferRelativeResize="0"/>
          <p:nvPr/>
        </p:nvPicPr>
        <p:blipFill>
          <a:blip r:embed="rId13">
            <a:alphaModFix/>
          </a:blip>
          <a:stretch>
            <a:fillRect/>
          </a:stretch>
        </p:blipFill>
        <p:spPr>
          <a:xfrm>
            <a:off x="9535813" y="7201484"/>
            <a:ext cx="3288824" cy="2032023"/>
          </a:xfrm>
          <a:prstGeom prst="rect">
            <a:avLst/>
          </a:prstGeom>
          <a:noFill/>
          <a:ln>
            <a:noFill/>
          </a:ln>
        </p:spPr>
      </p:pic>
      <p:pic>
        <p:nvPicPr>
          <p:cNvPr id="309" name="Google Shape;309;g341d387c2eb_1_58"/>
          <p:cNvPicPr preferRelativeResize="0"/>
          <p:nvPr/>
        </p:nvPicPr>
        <p:blipFill>
          <a:blip r:embed="rId14">
            <a:alphaModFix/>
          </a:blip>
          <a:stretch>
            <a:fillRect/>
          </a:stretch>
        </p:blipFill>
        <p:spPr>
          <a:xfrm>
            <a:off x="13485825" y="4805762"/>
            <a:ext cx="3288775" cy="2031984"/>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grpSp>
        <p:nvGrpSpPr>
          <p:cNvPr id="314" name="Google Shape;314;g341d387c2eb_1_17"/>
          <p:cNvGrpSpPr/>
          <p:nvPr/>
        </p:nvGrpSpPr>
        <p:grpSpPr>
          <a:xfrm>
            <a:off x="0" y="0"/>
            <a:ext cx="8593538" cy="10528859"/>
            <a:chOff x="0" y="-57150"/>
            <a:chExt cx="2037011" cy="2495700"/>
          </a:xfrm>
        </p:grpSpPr>
        <p:sp>
          <p:nvSpPr>
            <p:cNvPr id="315" name="Google Shape;315;g341d387c2eb_1_17"/>
            <p:cNvSpPr/>
            <p:nvPr/>
          </p:nvSpPr>
          <p:spPr>
            <a:xfrm>
              <a:off x="0" y="0"/>
              <a:ext cx="2037011" cy="2438400"/>
            </a:xfrm>
            <a:custGeom>
              <a:rect b="b" l="l" r="r" t="t"/>
              <a:pathLst>
                <a:path extrusionOk="0" h="2438400" w="2037011">
                  <a:moveTo>
                    <a:pt x="0" y="0"/>
                  </a:moveTo>
                  <a:lnTo>
                    <a:pt x="2037011" y="0"/>
                  </a:lnTo>
                  <a:lnTo>
                    <a:pt x="2037011" y="2438400"/>
                  </a:lnTo>
                  <a:lnTo>
                    <a:pt x="0" y="2438400"/>
                  </a:lnTo>
                  <a:close/>
                </a:path>
              </a:pathLst>
            </a:custGeom>
            <a:solidFill>
              <a:srgbClr val="071C42"/>
            </a:solidFill>
            <a:ln>
              <a:noFill/>
            </a:ln>
          </p:spPr>
        </p:sp>
        <p:sp>
          <p:nvSpPr>
            <p:cNvPr id="316" name="Google Shape;316;g341d387c2eb_1_17"/>
            <p:cNvSpPr txBox="1"/>
            <p:nvPr/>
          </p:nvSpPr>
          <p:spPr>
            <a:xfrm>
              <a:off x="0" y="-57150"/>
              <a:ext cx="2037000" cy="24957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17" name="Google Shape;317;g341d387c2eb_1_17"/>
          <p:cNvSpPr txBox="1"/>
          <p:nvPr/>
        </p:nvSpPr>
        <p:spPr>
          <a:xfrm>
            <a:off x="11067384" y="1982089"/>
            <a:ext cx="3627000" cy="861900"/>
          </a:xfrm>
          <a:prstGeom prst="rect">
            <a:avLst/>
          </a:prstGeom>
          <a:noFill/>
          <a:ln>
            <a:noFill/>
          </a:ln>
        </p:spPr>
        <p:txBody>
          <a:bodyPr anchorCtr="0" anchor="t" bIns="0" lIns="0" spcFirstLastPara="1" rIns="0" wrap="square" tIns="0">
            <a:spAutoFit/>
          </a:bodyPr>
          <a:lstStyle/>
          <a:p>
            <a:pPr indent="0" lvl="0" marL="0" marR="0" rtl="0" algn="l">
              <a:lnSpc>
                <a:spcPct val="120003"/>
              </a:lnSpc>
              <a:spcBef>
                <a:spcPts val="0"/>
              </a:spcBef>
              <a:spcAft>
                <a:spcPts val="0"/>
              </a:spcAft>
              <a:buNone/>
            </a:pPr>
            <a:r>
              <a:rPr b="1" i="0" lang="en-US" sz="5599" u="none" cap="none" strike="noStrike">
                <a:solidFill>
                  <a:srgbClr val="FFFFFF"/>
                </a:solidFill>
                <a:latin typeface="Poppins"/>
                <a:ea typeface="Poppins"/>
                <a:cs typeface="Poppins"/>
                <a:sym typeface="Poppins"/>
              </a:rPr>
              <a:t>Setbacks</a:t>
            </a:r>
            <a:endParaRPr/>
          </a:p>
        </p:txBody>
      </p:sp>
      <p:sp>
        <p:nvSpPr>
          <p:cNvPr id="318" name="Google Shape;318;g341d387c2eb_1_17"/>
          <p:cNvSpPr txBox="1"/>
          <p:nvPr/>
        </p:nvSpPr>
        <p:spPr>
          <a:xfrm>
            <a:off x="238550" y="987900"/>
            <a:ext cx="8355000" cy="994200"/>
          </a:xfrm>
          <a:prstGeom prst="rect">
            <a:avLst/>
          </a:prstGeom>
          <a:noFill/>
          <a:ln>
            <a:noFill/>
          </a:ln>
        </p:spPr>
        <p:txBody>
          <a:bodyPr anchorCtr="0" anchor="t" bIns="0" lIns="0" spcFirstLastPara="1" rIns="0" wrap="square" tIns="0">
            <a:spAutoFit/>
          </a:bodyPr>
          <a:lstStyle/>
          <a:p>
            <a:pPr indent="0" lvl="0" marL="0" rtl="0" algn="l">
              <a:lnSpc>
                <a:spcPct val="140000"/>
              </a:lnSpc>
              <a:spcBef>
                <a:spcPts val="0"/>
              </a:spcBef>
              <a:spcAft>
                <a:spcPts val="0"/>
              </a:spcAft>
              <a:buNone/>
            </a:pPr>
            <a:r>
              <a:rPr b="1" lang="en-US" sz="2900">
                <a:solidFill>
                  <a:schemeClr val="lt1"/>
                </a:solidFill>
                <a:latin typeface="Poppins"/>
                <a:ea typeface="Poppins"/>
                <a:cs typeface="Poppins"/>
                <a:sym typeface="Poppins"/>
              </a:rPr>
              <a:t>Mean difference between Genders t-tests</a:t>
            </a:r>
            <a:endParaRPr b="1" sz="2900">
              <a:solidFill>
                <a:schemeClr val="lt1"/>
              </a:solidFill>
              <a:latin typeface="Poppins"/>
              <a:ea typeface="Poppins"/>
              <a:cs typeface="Poppins"/>
              <a:sym typeface="Poppins"/>
            </a:endParaRPr>
          </a:p>
          <a:p>
            <a:pPr indent="0" lvl="0" marL="0" rtl="0" algn="l">
              <a:lnSpc>
                <a:spcPct val="140000"/>
              </a:lnSpc>
              <a:spcBef>
                <a:spcPts val="0"/>
              </a:spcBef>
              <a:spcAft>
                <a:spcPts val="0"/>
              </a:spcAft>
              <a:buNone/>
            </a:pPr>
            <a:r>
              <a:t/>
            </a:r>
            <a:endParaRPr b="1" sz="2400">
              <a:solidFill>
                <a:schemeClr val="lt1"/>
              </a:solidFill>
              <a:latin typeface="Poppins"/>
              <a:ea typeface="Poppins"/>
              <a:cs typeface="Poppins"/>
              <a:sym typeface="Poppins"/>
            </a:endParaRPr>
          </a:p>
        </p:txBody>
      </p:sp>
      <p:cxnSp>
        <p:nvCxnSpPr>
          <p:cNvPr id="319" name="Google Shape;319;g341d387c2eb_1_17"/>
          <p:cNvCxnSpPr/>
          <p:nvPr/>
        </p:nvCxnSpPr>
        <p:spPr>
          <a:xfrm>
            <a:off x="1028700" y="601417"/>
            <a:ext cx="16230600" cy="0"/>
          </a:xfrm>
          <a:prstGeom prst="straightConnector1">
            <a:avLst/>
          </a:prstGeom>
          <a:noFill/>
          <a:ln cap="flat" cmpd="sng" w="19050">
            <a:solidFill>
              <a:srgbClr val="D9D9D9"/>
            </a:solidFill>
            <a:prstDash val="solid"/>
            <a:round/>
            <a:headEnd len="sm" w="sm" type="none"/>
            <a:tailEnd len="sm" w="sm" type="none"/>
          </a:ln>
        </p:spPr>
      </p:cxnSp>
      <p:sp>
        <p:nvSpPr>
          <p:cNvPr id="320" name="Google Shape;320;g341d387c2eb_1_17"/>
          <p:cNvSpPr/>
          <p:nvPr/>
        </p:nvSpPr>
        <p:spPr>
          <a:xfrm rot="9321286">
            <a:off x="9977051" y="5127512"/>
            <a:ext cx="13986492" cy="5402283"/>
          </a:xfrm>
          <a:custGeom>
            <a:rect b="b" l="l" r="r" t="t"/>
            <a:pathLst>
              <a:path extrusionOk="0" h="5395795" w="13969695">
                <a:moveTo>
                  <a:pt x="0" y="0"/>
                </a:moveTo>
                <a:lnTo>
                  <a:pt x="13969695" y="0"/>
                </a:lnTo>
                <a:lnTo>
                  <a:pt x="13969695" y="5395794"/>
                </a:lnTo>
                <a:lnTo>
                  <a:pt x="0" y="5395794"/>
                </a:lnTo>
                <a:lnTo>
                  <a:pt x="0" y="0"/>
                </a:lnTo>
                <a:close/>
              </a:path>
            </a:pathLst>
          </a:custGeom>
          <a:blipFill rotWithShape="1">
            <a:blip r:embed="rId3">
              <a:alphaModFix/>
            </a:blip>
            <a:stretch>
              <a:fillRect b="0" l="0" r="0" t="0"/>
            </a:stretch>
          </a:blipFill>
          <a:ln>
            <a:noFill/>
          </a:ln>
        </p:spPr>
      </p:sp>
      <p:sp>
        <p:nvSpPr>
          <p:cNvPr id="321" name="Google Shape;321;g341d387c2eb_1_17"/>
          <p:cNvSpPr txBox="1"/>
          <p:nvPr/>
        </p:nvSpPr>
        <p:spPr>
          <a:xfrm>
            <a:off x="878150" y="1849500"/>
            <a:ext cx="12043200" cy="6588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US" sz="3200">
                <a:solidFill>
                  <a:schemeClr val="lt1"/>
                </a:solidFill>
                <a:latin typeface="Calibri"/>
                <a:ea typeface="Calibri"/>
                <a:cs typeface="Calibri"/>
                <a:sym typeface="Calibri"/>
              </a:rPr>
              <a:t>Variable		 		|	P values</a:t>
            </a:r>
            <a:endParaRPr sz="3200">
              <a:solidFill>
                <a:schemeClr val="lt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3200">
                <a:solidFill>
                  <a:schemeClr val="lt1"/>
                </a:solidFill>
                <a:latin typeface="Calibri"/>
                <a:ea typeface="Calibri"/>
                <a:cs typeface="Calibri"/>
                <a:sym typeface="Calibri"/>
              </a:rPr>
              <a:t>________________________</a:t>
            </a:r>
            <a:endParaRPr sz="3200">
              <a:solidFill>
                <a:schemeClr val="lt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3200">
                <a:solidFill>
                  <a:schemeClr val="lt1"/>
                </a:solidFill>
                <a:latin typeface="Calibri"/>
                <a:ea typeface="Calibri"/>
                <a:cs typeface="Calibri"/>
                <a:sym typeface="Calibri"/>
              </a:rPr>
              <a:t>height			 	|	0.7979</a:t>
            </a:r>
            <a:endParaRPr sz="3200">
              <a:solidFill>
                <a:schemeClr val="lt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3200">
                <a:solidFill>
                  <a:schemeClr val="lt1"/>
                </a:solidFill>
                <a:latin typeface="Calibri"/>
                <a:ea typeface="Calibri"/>
                <a:cs typeface="Calibri"/>
                <a:sym typeface="Calibri"/>
              </a:rPr>
              <a:t>weight			 	|	0.0151*</a:t>
            </a:r>
            <a:endParaRPr sz="3200">
              <a:solidFill>
                <a:schemeClr val="lt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3200">
                <a:solidFill>
                  <a:schemeClr val="lt1"/>
                </a:solidFill>
                <a:latin typeface="Calibri"/>
                <a:ea typeface="Calibri"/>
                <a:cs typeface="Calibri"/>
                <a:sym typeface="Calibri"/>
              </a:rPr>
              <a:t>duration		 	|	0.8993</a:t>
            </a:r>
            <a:endParaRPr sz="3200">
              <a:solidFill>
                <a:schemeClr val="lt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3200">
                <a:solidFill>
                  <a:schemeClr val="lt1"/>
                </a:solidFill>
                <a:latin typeface="Calibri"/>
                <a:ea typeface="Calibri"/>
                <a:cs typeface="Calibri"/>
                <a:sym typeface="Calibri"/>
              </a:rPr>
              <a:t>calories_burnt	|	0.08177</a:t>
            </a:r>
            <a:endParaRPr sz="3200">
              <a:solidFill>
                <a:schemeClr val="lt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3200">
                <a:solidFill>
                  <a:schemeClr val="lt1"/>
                </a:solidFill>
                <a:latin typeface="Calibri"/>
                <a:ea typeface="Calibri"/>
                <a:cs typeface="Calibri"/>
                <a:sym typeface="Calibri"/>
              </a:rPr>
              <a:t>heart_rate		 	|	0.3567</a:t>
            </a:r>
            <a:endParaRPr sz="3200">
              <a:solidFill>
                <a:schemeClr val="lt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3200">
                <a:solidFill>
                  <a:schemeClr val="lt1"/>
                </a:solidFill>
                <a:latin typeface="Calibri"/>
                <a:ea typeface="Calibri"/>
                <a:cs typeface="Calibri"/>
                <a:sym typeface="Calibri"/>
              </a:rPr>
              <a:t>steps					|	0.717</a:t>
            </a:r>
            <a:endParaRPr sz="3200">
              <a:solidFill>
                <a:schemeClr val="lt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3200">
                <a:solidFill>
                  <a:schemeClr val="lt1"/>
                </a:solidFill>
                <a:latin typeface="Calibri"/>
                <a:ea typeface="Calibri"/>
                <a:cs typeface="Calibri"/>
                <a:sym typeface="Calibri"/>
              </a:rPr>
              <a:t>distance		 	|	0.9758</a:t>
            </a:r>
            <a:endParaRPr sz="3200">
              <a:solidFill>
                <a:schemeClr val="lt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3200">
                <a:solidFill>
                  <a:schemeClr val="lt1"/>
                </a:solidFill>
                <a:latin typeface="Calibri"/>
                <a:ea typeface="Calibri"/>
                <a:cs typeface="Calibri"/>
                <a:sym typeface="Calibri"/>
              </a:rPr>
              <a:t>sleep_hours		|	0.5938</a:t>
            </a:r>
            <a:endParaRPr sz="3200">
              <a:solidFill>
                <a:schemeClr val="lt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3200">
                <a:solidFill>
                  <a:schemeClr val="lt1"/>
                </a:solidFill>
                <a:latin typeface="Calibri"/>
                <a:ea typeface="Calibri"/>
                <a:cs typeface="Calibri"/>
                <a:sym typeface="Calibri"/>
              </a:rPr>
              <a:t>daily_calories	 	|	0.3998</a:t>
            </a:r>
            <a:endParaRPr sz="3200">
              <a:solidFill>
                <a:schemeClr val="lt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3200">
                <a:solidFill>
                  <a:schemeClr val="lt1"/>
                </a:solidFill>
                <a:latin typeface="Calibri"/>
                <a:ea typeface="Calibri"/>
                <a:cs typeface="Calibri"/>
                <a:sym typeface="Calibri"/>
              </a:rPr>
              <a:t>resting_heart	 	|	0.3748</a:t>
            </a:r>
            <a:endParaRPr sz="3200">
              <a:solidFill>
                <a:schemeClr val="lt1"/>
              </a:solidFill>
              <a:latin typeface="Calibri"/>
              <a:ea typeface="Calibri"/>
              <a:cs typeface="Calibri"/>
              <a:sym typeface="Calibri"/>
            </a:endParaRPr>
          </a:p>
          <a:p>
            <a:pPr indent="0" lvl="0" marL="0" rtl="0" algn="l">
              <a:spcBef>
                <a:spcPts val="0"/>
              </a:spcBef>
              <a:spcAft>
                <a:spcPts val="0"/>
              </a:spcAft>
              <a:buNone/>
            </a:pPr>
            <a:r>
              <a:t/>
            </a:r>
            <a:endParaRPr sz="3200">
              <a:solidFill>
                <a:schemeClr val="lt1"/>
              </a:solidFill>
              <a:latin typeface="Calibri"/>
              <a:ea typeface="Calibri"/>
              <a:cs typeface="Calibri"/>
              <a:sym typeface="Calibri"/>
            </a:endParaRPr>
          </a:p>
        </p:txBody>
      </p:sp>
      <p:pic>
        <p:nvPicPr>
          <p:cNvPr id="322" name="Google Shape;322;g341d387c2eb_1_17"/>
          <p:cNvPicPr preferRelativeResize="0"/>
          <p:nvPr/>
        </p:nvPicPr>
        <p:blipFill>
          <a:blip r:embed="rId4">
            <a:alphaModFix/>
          </a:blip>
          <a:stretch>
            <a:fillRect/>
          </a:stretch>
        </p:blipFill>
        <p:spPr>
          <a:xfrm>
            <a:off x="8783299" y="811975"/>
            <a:ext cx="3795750" cy="2345225"/>
          </a:xfrm>
          <a:prstGeom prst="rect">
            <a:avLst/>
          </a:prstGeom>
          <a:noFill/>
          <a:ln>
            <a:noFill/>
          </a:ln>
        </p:spPr>
      </p:pic>
      <p:pic>
        <p:nvPicPr>
          <p:cNvPr id="323" name="Google Shape;323;g341d387c2eb_1_17"/>
          <p:cNvPicPr preferRelativeResize="0"/>
          <p:nvPr/>
        </p:nvPicPr>
        <p:blipFill>
          <a:blip r:embed="rId5">
            <a:alphaModFix/>
          </a:blip>
          <a:stretch>
            <a:fillRect/>
          </a:stretch>
        </p:blipFill>
        <p:spPr>
          <a:xfrm>
            <a:off x="13111399" y="811975"/>
            <a:ext cx="3525025" cy="2177951"/>
          </a:xfrm>
          <a:prstGeom prst="rect">
            <a:avLst/>
          </a:prstGeom>
          <a:noFill/>
          <a:ln>
            <a:noFill/>
          </a:ln>
        </p:spPr>
      </p:pic>
      <p:pic>
        <p:nvPicPr>
          <p:cNvPr id="324" name="Google Shape;324;g341d387c2eb_1_17"/>
          <p:cNvPicPr preferRelativeResize="0"/>
          <p:nvPr/>
        </p:nvPicPr>
        <p:blipFill>
          <a:blip r:embed="rId6">
            <a:alphaModFix/>
          </a:blip>
          <a:stretch>
            <a:fillRect/>
          </a:stretch>
        </p:blipFill>
        <p:spPr>
          <a:xfrm>
            <a:off x="13017200" y="3200472"/>
            <a:ext cx="3795750" cy="2345227"/>
          </a:xfrm>
          <a:prstGeom prst="rect">
            <a:avLst/>
          </a:prstGeom>
          <a:noFill/>
          <a:ln>
            <a:noFill/>
          </a:ln>
        </p:spPr>
      </p:pic>
      <p:pic>
        <p:nvPicPr>
          <p:cNvPr id="325" name="Google Shape;325;g341d387c2eb_1_17"/>
          <p:cNvPicPr preferRelativeResize="0"/>
          <p:nvPr/>
        </p:nvPicPr>
        <p:blipFill>
          <a:blip r:embed="rId7">
            <a:alphaModFix/>
          </a:blip>
          <a:stretch>
            <a:fillRect/>
          </a:stretch>
        </p:blipFill>
        <p:spPr>
          <a:xfrm>
            <a:off x="9330575" y="5534825"/>
            <a:ext cx="7482374" cy="4623031"/>
          </a:xfrm>
          <a:prstGeom prst="rect">
            <a:avLst/>
          </a:prstGeom>
          <a:noFill/>
          <a:ln>
            <a:noFill/>
          </a:ln>
        </p:spPr>
      </p:pic>
      <p:pic>
        <p:nvPicPr>
          <p:cNvPr id="326" name="Google Shape;326;g341d387c2eb_1_17"/>
          <p:cNvPicPr preferRelativeResize="0"/>
          <p:nvPr/>
        </p:nvPicPr>
        <p:blipFill>
          <a:blip r:embed="rId8">
            <a:alphaModFix/>
          </a:blip>
          <a:stretch>
            <a:fillRect/>
          </a:stretch>
        </p:blipFill>
        <p:spPr>
          <a:xfrm>
            <a:off x="8918663" y="3100437"/>
            <a:ext cx="3525025" cy="217796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grpSp>
        <p:nvGrpSpPr>
          <p:cNvPr id="331" name="Google Shape;331;g341d387c2eb_1_93"/>
          <p:cNvGrpSpPr/>
          <p:nvPr/>
        </p:nvGrpSpPr>
        <p:grpSpPr>
          <a:xfrm>
            <a:off x="0" y="-216993"/>
            <a:ext cx="18288118" cy="4761499"/>
            <a:chOff x="0" y="-57150"/>
            <a:chExt cx="4816592" cy="1254049"/>
          </a:xfrm>
        </p:grpSpPr>
        <p:sp>
          <p:nvSpPr>
            <p:cNvPr id="332" name="Google Shape;332;g341d387c2eb_1_93"/>
            <p:cNvSpPr/>
            <p:nvPr/>
          </p:nvSpPr>
          <p:spPr>
            <a:xfrm>
              <a:off x="0" y="0"/>
              <a:ext cx="4816592" cy="1196899"/>
            </a:xfrm>
            <a:custGeom>
              <a:rect b="b" l="l" r="r" t="t"/>
              <a:pathLst>
                <a:path extrusionOk="0" h="1196899" w="4816592">
                  <a:moveTo>
                    <a:pt x="0" y="0"/>
                  </a:moveTo>
                  <a:lnTo>
                    <a:pt x="4816592" y="0"/>
                  </a:lnTo>
                  <a:lnTo>
                    <a:pt x="4816592" y="1196899"/>
                  </a:lnTo>
                  <a:lnTo>
                    <a:pt x="0" y="1196899"/>
                  </a:lnTo>
                  <a:close/>
                </a:path>
              </a:pathLst>
            </a:custGeom>
            <a:solidFill>
              <a:srgbClr val="071C42"/>
            </a:solidFill>
            <a:ln>
              <a:noFill/>
            </a:ln>
          </p:spPr>
        </p:sp>
        <p:sp>
          <p:nvSpPr>
            <p:cNvPr id="333" name="Google Shape;333;g341d387c2eb_1_93"/>
            <p:cNvSpPr txBox="1"/>
            <p:nvPr/>
          </p:nvSpPr>
          <p:spPr>
            <a:xfrm>
              <a:off x="0" y="-57150"/>
              <a:ext cx="4816500" cy="12540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cxnSp>
        <p:nvCxnSpPr>
          <p:cNvPr id="334" name="Google Shape;334;g341d387c2eb_1_93"/>
          <p:cNvCxnSpPr/>
          <p:nvPr/>
        </p:nvCxnSpPr>
        <p:spPr>
          <a:xfrm>
            <a:off x="1028700" y="601417"/>
            <a:ext cx="16230600" cy="0"/>
          </a:xfrm>
          <a:prstGeom prst="straightConnector1">
            <a:avLst/>
          </a:prstGeom>
          <a:noFill/>
          <a:ln cap="flat" cmpd="sng" w="19050">
            <a:solidFill>
              <a:srgbClr val="D9D9D9"/>
            </a:solidFill>
            <a:prstDash val="solid"/>
            <a:round/>
            <a:headEnd len="sm" w="sm" type="none"/>
            <a:tailEnd len="sm" w="sm" type="none"/>
          </a:ln>
        </p:spPr>
      </p:cxnSp>
      <p:grpSp>
        <p:nvGrpSpPr>
          <p:cNvPr id="335" name="Google Shape;335;g341d387c2eb_1_93"/>
          <p:cNvGrpSpPr/>
          <p:nvPr/>
        </p:nvGrpSpPr>
        <p:grpSpPr>
          <a:xfrm>
            <a:off x="0" y="3983995"/>
            <a:ext cx="9144454" cy="560483"/>
            <a:chOff x="0" y="-57150"/>
            <a:chExt cx="2408400" cy="147616"/>
          </a:xfrm>
        </p:grpSpPr>
        <p:sp>
          <p:nvSpPr>
            <p:cNvPr id="336" name="Google Shape;336;g341d387c2eb_1_93"/>
            <p:cNvSpPr/>
            <p:nvPr/>
          </p:nvSpPr>
          <p:spPr>
            <a:xfrm>
              <a:off x="0" y="0"/>
              <a:ext cx="2408296" cy="90466"/>
            </a:xfrm>
            <a:custGeom>
              <a:rect b="b" l="l" r="r" t="t"/>
              <a:pathLst>
                <a:path extrusionOk="0" h="90466" w="2408296">
                  <a:moveTo>
                    <a:pt x="0" y="0"/>
                  </a:moveTo>
                  <a:lnTo>
                    <a:pt x="2408296" y="0"/>
                  </a:lnTo>
                  <a:lnTo>
                    <a:pt x="2408296" y="90466"/>
                  </a:lnTo>
                  <a:lnTo>
                    <a:pt x="0" y="90466"/>
                  </a:lnTo>
                  <a:close/>
                </a:path>
              </a:pathLst>
            </a:custGeom>
            <a:solidFill>
              <a:srgbClr val="4DE1C7"/>
            </a:solidFill>
            <a:ln>
              <a:noFill/>
            </a:ln>
          </p:spPr>
        </p:sp>
        <p:sp>
          <p:nvSpPr>
            <p:cNvPr id="337" name="Google Shape;337;g341d387c2eb_1_93"/>
            <p:cNvSpPr txBox="1"/>
            <p:nvPr/>
          </p:nvSpPr>
          <p:spPr>
            <a:xfrm>
              <a:off x="0" y="-57150"/>
              <a:ext cx="2408400" cy="1476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38" name="Google Shape;338;g341d387c2eb_1_93"/>
          <p:cNvSpPr/>
          <p:nvPr/>
        </p:nvSpPr>
        <p:spPr>
          <a:xfrm rot="4689340">
            <a:off x="10301249" y="-1427487"/>
            <a:ext cx="13952441" cy="5389130"/>
          </a:xfrm>
          <a:custGeom>
            <a:rect b="b" l="l" r="r" t="t"/>
            <a:pathLst>
              <a:path extrusionOk="0" h="5395795" w="13969695">
                <a:moveTo>
                  <a:pt x="0" y="0"/>
                </a:moveTo>
                <a:lnTo>
                  <a:pt x="13969695" y="0"/>
                </a:lnTo>
                <a:lnTo>
                  <a:pt x="13969695" y="5395795"/>
                </a:lnTo>
                <a:lnTo>
                  <a:pt x="0" y="5395795"/>
                </a:lnTo>
                <a:lnTo>
                  <a:pt x="0" y="0"/>
                </a:lnTo>
                <a:close/>
              </a:path>
            </a:pathLst>
          </a:custGeom>
          <a:blipFill rotWithShape="1">
            <a:blip r:embed="rId3">
              <a:alphaModFix/>
            </a:blip>
            <a:stretch>
              <a:fillRect b="0" l="0" r="0" t="0"/>
            </a:stretch>
          </a:blipFill>
          <a:ln>
            <a:noFill/>
          </a:ln>
        </p:spPr>
      </p:sp>
      <p:sp>
        <p:nvSpPr>
          <p:cNvPr id="339" name="Google Shape;339;g341d387c2eb_1_93"/>
          <p:cNvSpPr txBox="1"/>
          <p:nvPr/>
        </p:nvSpPr>
        <p:spPr>
          <a:xfrm>
            <a:off x="1544727" y="2546276"/>
            <a:ext cx="11071500" cy="861900"/>
          </a:xfrm>
          <a:prstGeom prst="rect">
            <a:avLst/>
          </a:prstGeom>
          <a:noFill/>
          <a:ln>
            <a:noFill/>
          </a:ln>
        </p:spPr>
        <p:txBody>
          <a:bodyPr anchorCtr="0" anchor="t" bIns="0" lIns="0" spcFirstLastPara="1" rIns="0" wrap="square" tIns="0">
            <a:spAutoFit/>
          </a:bodyPr>
          <a:lstStyle/>
          <a:p>
            <a:pPr indent="0" lvl="0" marL="0" marR="0" rtl="0" algn="l">
              <a:lnSpc>
                <a:spcPct val="120003"/>
              </a:lnSpc>
              <a:spcBef>
                <a:spcPts val="0"/>
              </a:spcBef>
              <a:spcAft>
                <a:spcPts val="0"/>
              </a:spcAft>
              <a:buNone/>
            </a:pPr>
            <a:r>
              <a:rPr b="1" i="0" lang="en-US" sz="5599" u="none" cap="none" strike="noStrike">
                <a:solidFill>
                  <a:srgbClr val="FFFFFF"/>
                </a:solidFill>
                <a:latin typeface="Poppins"/>
                <a:ea typeface="Poppins"/>
                <a:cs typeface="Poppins"/>
                <a:sym typeface="Poppins"/>
              </a:rPr>
              <a:t>SMART Question </a:t>
            </a:r>
            <a:r>
              <a:rPr b="1" lang="en-US" sz="5599">
                <a:solidFill>
                  <a:srgbClr val="FFFFFF"/>
                </a:solidFill>
                <a:latin typeface="Poppins"/>
                <a:ea typeface="Poppins"/>
                <a:cs typeface="Poppins"/>
                <a:sym typeface="Poppins"/>
              </a:rPr>
              <a:t>1</a:t>
            </a:r>
            <a:endParaRPr/>
          </a:p>
        </p:txBody>
      </p:sp>
      <p:sp>
        <p:nvSpPr>
          <p:cNvPr id="340" name="Google Shape;340;g341d387c2eb_1_93"/>
          <p:cNvSpPr txBox="1"/>
          <p:nvPr/>
        </p:nvSpPr>
        <p:spPr>
          <a:xfrm>
            <a:off x="10426825" y="1677875"/>
            <a:ext cx="7430700" cy="221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3200">
                <a:solidFill>
                  <a:schemeClr val="lt1"/>
                </a:solidFill>
                <a:latin typeface="Calibri"/>
                <a:ea typeface="Calibri"/>
                <a:cs typeface="Calibri"/>
                <a:sym typeface="Calibri"/>
              </a:rPr>
              <a:t>What combination of workout types and durations maximizes calorie burn efficiency for different user profiles (clustered by age, BMI, and fitness level)?</a:t>
            </a:r>
            <a:endParaRPr b="1" sz="3200">
              <a:solidFill>
                <a:schemeClr val="lt1"/>
              </a:solidFill>
              <a:latin typeface="Calibri"/>
              <a:ea typeface="Calibri"/>
              <a:cs typeface="Calibri"/>
              <a:sym typeface="Calibri"/>
            </a:endParaRPr>
          </a:p>
        </p:txBody>
      </p:sp>
      <p:pic>
        <p:nvPicPr>
          <p:cNvPr id="341" name="Google Shape;341;g341d387c2eb_1_93" title="Screenshot 2025-03-19 at 4.17.52 PM.png"/>
          <p:cNvPicPr preferRelativeResize="0"/>
          <p:nvPr/>
        </p:nvPicPr>
        <p:blipFill>
          <a:blip r:embed="rId4">
            <a:alphaModFix/>
          </a:blip>
          <a:stretch>
            <a:fillRect/>
          </a:stretch>
        </p:blipFill>
        <p:spPr>
          <a:xfrm>
            <a:off x="152400" y="4696906"/>
            <a:ext cx="8250326" cy="4628232"/>
          </a:xfrm>
          <a:prstGeom prst="rect">
            <a:avLst/>
          </a:prstGeom>
          <a:noFill/>
          <a:ln>
            <a:noFill/>
          </a:ln>
        </p:spPr>
      </p:pic>
      <p:pic>
        <p:nvPicPr>
          <p:cNvPr id="342" name="Google Shape;342;g341d387c2eb_1_93"/>
          <p:cNvPicPr preferRelativeResize="0"/>
          <p:nvPr/>
        </p:nvPicPr>
        <p:blipFill>
          <a:blip r:embed="rId5">
            <a:alphaModFix/>
          </a:blip>
          <a:stretch>
            <a:fillRect/>
          </a:stretch>
        </p:blipFill>
        <p:spPr>
          <a:xfrm>
            <a:off x="9621449" y="4715446"/>
            <a:ext cx="7430699" cy="4591141"/>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grpSp>
        <p:nvGrpSpPr>
          <p:cNvPr id="347" name="Google Shape;347;p10"/>
          <p:cNvGrpSpPr/>
          <p:nvPr/>
        </p:nvGrpSpPr>
        <p:grpSpPr>
          <a:xfrm>
            <a:off x="0" y="-216991"/>
            <a:ext cx="18288000" cy="4761466"/>
            <a:chOff x="0" y="-57150"/>
            <a:chExt cx="4816593" cy="1254049"/>
          </a:xfrm>
        </p:grpSpPr>
        <p:sp>
          <p:nvSpPr>
            <p:cNvPr id="348" name="Google Shape;348;p10"/>
            <p:cNvSpPr/>
            <p:nvPr/>
          </p:nvSpPr>
          <p:spPr>
            <a:xfrm>
              <a:off x="0" y="0"/>
              <a:ext cx="4816592" cy="1196899"/>
            </a:xfrm>
            <a:custGeom>
              <a:rect b="b" l="l" r="r" t="t"/>
              <a:pathLst>
                <a:path extrusionOk="0" h="1196899" w="4816592">
                  <a:moveTo>
                    <a:pt x="0" y="0"/>
                  </a:moveTo>
                  <a:lnTo>
                    <a:pt x="4816592" y="0"/>
                  </a:lnTo>
                  <a:lnTo>
                    <a:pt x="4816592" y="1196899"/>
                  </a:lnTo>
                  <a:lnTo>
                    <a:pt x="0" y="1196899"/>
                  </a:lnTo>
                  <a:close/>
                </a:path>
              </a:pathLst>
            </a:custGeom>
            <a:solidFill>
              <a:srgbClr val="071C42"/>
            </a:solidFill>
            <a:ln>
              <a:noFill/>
            </a:ln>
          </p:spPr>
        </p:sp>
        <p:sp>
          <p:nvSpPr>
            <p:cNvPr id="349" name="Google Shape;349;p10"/>
            <p:cNvSpPr txBox="1"/>
            <p:nvPr/>
          </p:nvSpPr>
          <p:spPr>
            <a:xfrm>
              <a:off x="0" y="-57150"/>
              <a:ext cx="4816593" cy="1254049"/>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cxnSp>
        <p:nvCxnSpPr>
          <p:cNvPr id="350" name="Google Shape;350;p10"/>
          <p:cNvCxnSpPr/>
          <p:nvPr/>
        </p:nvCxnSpPr>
        <p:spPr>
          <a:xfrm>
            <a:off x="1028700" y="601417"/>
            <a:ext cx="16230600" cy="0"/>
          </a:xfrm>
          <a:prstGeom prst="straightConnector1">
            <a:avLst/>
          </a:prstGeom>
          <a:noFill/>
          <a:ln cap="flat" cmpd="sng" w="19050">
            <a:solidFill>
              <a:srgbClr val="D9D9D9"/>
            </a:solidFill>
            <a:prstDash val="solid"/>
            <a:round/>
            <a:headEnd len="sm" w="sm" type="none"/>
            <a:tailEnd len="sm" w="sm" type="none"/>
          </a:ln>
        </p:spPr>
      </p:cxnSp>
      <p:grpSp>
        <p:nvGrpSpPr>
          <p:cNvPr id="351" name="Google Shape;351;p10"/>
          <p:cNvGrpSpPr/>
          <p:nvPr/>
        </p:nvGrpSpPr>
        <p:grpSpPr>
          <a:xfrm>
            <a:off x="0" y="3983997"/>
            <a:ext cx="9144000" cy="560478"/>
            <a:chOff x="0" y="-57150"/>
            <a:chExt cx="2408296" cy="147616"/>
          </a:xfrm>
        </p:grpSpPr>
        <p:sp>
          <p:nvSpPr>
            <p:cNvPr id="352" name="Google Shape;352;p10"/>
            <p:cNvSpPr/>
            <p:nvPr/>
          </p:nvSpPr>
          <p:spPr>
            <a:xfrm>
              <a:off x="0" y="0"/>
              <a:ext cx="2408296" cy="90466"/>
            </a:xfrm>
            <a:custGeom>
              <a:rect b="b" l="l" r="r" t="t"/>
              <a:pathLst>
                <a:path extrusionOk="0" h="90466" w="2408296">
                  <a:moveTo>
                    <a:pt x="0" y="0"/>
                  </a:moveTo>
                  <a:lnTo>
                    <a:pt x="2408296" y="0"/>
                  </a:lnTo>
                  <a:lnTo>
                    <a:pt x="2408296" y="90466"/>
                  </a:lnTo>
                  <a:lnTo>
                    <a:pt x="0" y="90466"/>
                  </a:lnTo>
                  <a:close/>
                </a:path>
              </a:pathLst>
            </a:custGeom>
            <a:solidFill>
              <a:srgbClr val="4DE1C7"/>
            </a:solidFill>
            <a:ln>
              <a:noFill/>
            </a:ln>
          </p:spPr>
        </p:sp>
        <p:sp>
          <p:nvSpPr>
            <p:cNvPr id="353" name="Google Shape;353;p10"/>
            <p:cNvSpPr txBox="1"/>
            <p:nvPr/>
          </p:nvSpPr>
          <p:spPr>
            <a:xfrm>
              <a:off x="0" y="-57150"/>
              <a:ext cx="2408296" cy="147616"/>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54" name="Google Shape;354;p10"/>
          <p:cNvSpPr/>
          <p:nvPr/>
        </p:nvSpPr>
        <p:spPr>
          <a:xfrm rot="4689992">
            <a:off x="10289729" y="-1421921"/>
            <a:ext cx="13969695" cy="5395795"/>
          </a:xfrm>
          <a:custGeom>
            <a:rect b="b" l="l" r="r" t="t"/>
            <a:pathLst>
              <a:path extrusionOk="0" h="5395795" w="13969695">
                <a:moveTo>
                  <a:pt x="0" y="0"/>
                </a:moveTo>
                <a:lnTo>
                  <a:pt x="13969695" y="0"/>
                </a:lnTo>
                <a:lnTo>
                  <a:pt x="13969695" y="5395795"/>
                </a:lnTo>
                <a:lnTo>
                  <a:pt x="0" y="5395795"/>
                </a:lnTo>
                <a:lnTo>
                  <a:pt x="0" y="0"/>
                </a:lnTo>
                <a:close/>
              </a:path>
            </a:pathLst>
          </a:custGeom>
          <a:blipFill rotWithShape="1">
            <a:blip r:embed="rId3">
              <a:alphaModFix/>
            </a:blip>
            <a:stretch>
              <a:fillRect b="0" l="0" r="0" t="0"/>
            </a:stretch>
          </a:blipFill>
          <a:ln>
            <a:noFill/>
          </a:ln>
        </p:spPr>
      </p:sp>
      <p:sp>
        <p:nvSpPr>
          <p:cNvPr id="355" name="Google Shape;355;p10"/>
          <p:cNvSpPr txBox="1"/>
          <p:nvPr/>
        </p:nvSpPr>
        <p:spPr>
          <a:xfrm>
            <a:off x="1544727" y="2546276"/>
            <a:ext cx="11071500" cy="861900"/>
          </a:xfrm>
          <a:prstGeom prst="rect">
            <a:avLst/>
          </a:prstGeom>
          <a:noFill/>
          <a:ln>
            <a:noFill/>
          </a:ln>
        </p:spPr>
        <p:txBody>
          <a:bodyPr anchorCtr="0" anchor="t" bIns="0" lIns="0" spcFirstLastPara="1" rIns="0" wrap="square" tIns="0">
            <a:spAutoFit/>
          </a:bodyPr>
          <a:lstStyle/>
          <a:p>
            <a:pPr indent="0" lvl="0" marL="0" marR="0" rtl="0" algn="l">
              <a:lnSpc>
                <a:spcPct val="120003"/>
              </a:lnSpc>
              <a:spcBef>
                <a:spcPts val="0"/>
              </a:spcBef>
              <a:spcAft>
                <a:spcPts val="0"/>
              </a:spcAft>
              <a:buNone/>
            </a:pPr>
            <a:r>
              <a:rPr b="1" i="0" lang="en-US" sz="5599" u="none" cap="none" strike="noStrike">
                <a:solidFill>
                  <a:srgbClr val="FFFFFF"/>
                </a:solidFill>
                <a:latin typeface="Poppins"/>
                <a:ea typeface="Poppins"/>
                <a:cs typeface="Poppins"/>
                <a:sym typeface="Poppins"/>
              </a:rPr>
              <a:t>SMART Question </a:t>
            </a:r>
            <a:r>
              <a:rPr b="1" lang="en-US" sz="5599">
                <a:solidFill>
                  <a:srgbClr val="FFFFFF"/>
                </a:solidFill>
                <a:latin typeface="Poppins"/>
                <a:ea typeface="Poppins"/>
                <a:cs typeface="Poppins"/>
                <a:sym typeface="Poppins"/>
              </a:rPr>
              <a:t>2</a:t>
            </a:r>
            <a:endParaRPr/>
          </a:p>
        </p:txBody>
      </p:sp>
      <p:sp>
        <p:nvSpPr>
          <p:cNvPr id="356" name="Google Shape;356;p10"/>
          <p:cNvSpPr txBox="1"/>
          <p:nvPr/>
        </p:nvSpPr>
        <p:spPr>
          <a:xfrm>
            <a:off x="10426825" y="1677875"/>
            <a:ext cx="7430700" cy="221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3200">
                <a:solidFill>
                  <a:schemeClr val="lt1"/>
                </a:solidFill>
                <a:latin typeface="Calibri"/>
                <a:ea typeface="Calibri"/>
                <a:cs typeface="Calibri"/>
                <a:sym typeface="Calibri"/>
              </a:rPr>
              <a:t>How does the relationship between heart rate patterns and calorie burn vary across different workout types, and can this predict optimal workout intensity?</a:t>
            </a:r>
            <a:endParaRPr b="1" sz="3200">
              <a:solidFill>
                <a:schemeClr val="lt1"/>
              </a:solidFill>
              <a:latin typeface="Calibri"/>
              <a:ea typeface="Calibri"/>
              <a:cs typeface="Calibri"/>
              <a:sym typeface="Calibri"/>
            </a:endParaRPr>
          </a:p>
        </p:txBody>
      </p:sp>
      <p:sp>
        <p:nvSpPr>
          <p:cNvPr id="357" name="Google Shape;357;p10"/>
          <p:cNvSpPr txBox="1"/>
          <p:nvPr/>
        </p:nvSpPr>
        <p:spPr>
          <a:xfrm>
            <a:off x="858925" y="5233375"/>
            <a:ext cx="8145900" cy="293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3200">
                <a:solidFill>
                  <a:schemeClr val="dk1"/>
                </a:solidFill>
                <a:latin typeface="Calibri"/>
                <a:ea typeface="Calibri"/>
                <a:cs typeface="Calibri"/>
                <a:sym typeface="Calibri"/>
              </a:rPr>
              <a:t>Linear regression model:</a:t>
            </a:r>
            <a:endParaRPr sz="3200">
              <a:solidFill>
                <a:schemeClr val="dk1"/>
              </a:solidFill>
              <a:latin typeface="Calibri"/>
              <a:ea typeface="Calibri"/>
              <a:cs typeface="Calibri"/>
              <a:sym typeface="Calibri"/>
            </a:endParaRPr>
          </a:p>
          <a:p>
            <a:pPr indent="0" lvl="0" marL="0" rtl="0" algn="l">
              <a:spcBef>
                <a:spcPts val="0"/>
              </a:spcBef>
              <a:spcAft>
                <a:spcPts val="0"/>
              </a:spcAft>
              <a:buNone/>
            </a:pPr>
            <a:r>
              <a:t/>
            </a:r>
            <a:endParaRPr sz="3200">
              <a:solidFill>
                <a:schemeClr val="dk1"/>
              </a:solidFill>
              <a:latin typeface="Calibri"/>
              <a:ea typeface="Calibri"/>
              <a:cs typeface="Calibri"/>
              <a:sym typeface="Calibri"/>
            </a:endParaRPr>
          </a:p>
          <a:p>
            <a:pPr indent="-431800" lvl="0" marL="457200" rtl="0" algn="l">
              <a:spcBef>
                <a:spcPts val="0"/>
              </a:spcBef>
              <a:spcAft>
                <a:spcPts val="0"/>
              </a:spcAft>
              <a:buClr>
                <a:schemeClr val="dk1"/>
              </a:buClr>
              <a:buSzPts val="3200"/>
              <a:buFont typeface="Calibri"/>
              <a:buChar char="●"/>
            </a:pPr>
            <a:r>
              <a:rPr lang="en-US" sz="3200">
                <a:solidFill>
                  <a:schemeClr val="dk1"/>
                </a:solidFill>
                <a:latin typeface="Calibri"/>
                <a:ea typeface="Calibri"/>
                <a:cs typeface="Calibri"/>
                <a:sym typeface="Calibri"/>
              </a:rPr>
              <a:t>Dependant variable (x) : Calories Burned</a:t>
            </a:r>
            <a:endParaRPr sz="3200">
              <a:solidFill>
                <a:schemeClr val="dk1"/>
              </a:solidFill>
              <a:latin typeface="Calibri"/>
              <a:ea typeface="Calibri"/>
              <a:cs typeface="Calibri"/>
              <a:sym typeface="Calibri"/>
            </a:endParaRPr>
          </a:p>
          <a:p>
            <a:pPr indent="-431800" lvl="0" marL="457200" rtl="0" algn="l">
              <a:spcBef>
                <a:spcPts val="0"/>
              </a:spcBef>
              <a:spcAft>
                <a:spcPts val="0"/>
              </a:spcAft>
              <a:buClr>
                <a:schemeClr val="dk1"/>
              </a:buClr>
              <a:buSzPts val="3200"/>
              <a:buFont typeface="Calibri"/>
              <a:buChar char="●"/>
            </a:pPr>
            <a:r>
              <a:rPr lang="en-US" sz="3200">
                <a:solidFill>
                  <a:schemeClr val="dk1"/>
                </a:solidFill>
                <a:latin typeface="Calibri"/>
                <a:ea typeface="Calibri"/>
                <a:cs typeface="Calibri"/>
                <a:sym typeface="Calibri"/>
              </a:rPr>
              <a:t>Independent variables (y): Heart rate and Workout Intensity</a:t>
            </a:r>
            <a:endParaRPr sz="3200">
              <a:solidFill>
                <a:schemeClr val="dk1"/>
              </a:solidFill>
              <a:latin typeface="Calibri"/>
              <a:ea typeface="Calibri"/>
              <a:cs typeface="Calibri"/>
              <a:sym typeface="Calibri"/>
            </a:endParaRPr>
          </a:p>
          <a:p>
            <a:pPr indent="-431800" lvl="0" marL="457200" rtl="0" algn="l">
              <a:spcBef>
                <a:spcPts val="0"/>
              </a:spcBef>
              <a:spcAft>
                <a:spcPts val="0"/>
              </a:spcAft>
              <a:buClr>
                <a:schemeClr val="dk1"/>
              </a:buClr>
              <a:buSzPts val="3200"/>
              <a:buFont typeface="Calibri"/>
              <a:buChar char="●"/>
            </a:pPr>
            <a:r>
              <a:rPr lang="en-US" sz="3200">
                <a:solidFill>
                  <a:schemeClr val="dk1"/>
                </a:solidFill>
                <a:latin typeface="Calibri"/>
                <a:ea typeface="Calibri"/>
                <a:cs typeface="Calibri"/>
                <a:sym typeface="Calibri"/>
              </a:rPr>
              <a:t>Separate</a:t>
            </a:r>
            <a:r>
              <a:rPr lang="en-US" sz="3200">
                <a:solidFill>
                  <a:schemeClr val="dk1"/>
                </a:solidFill>
                <a:latin typeface="Calibri"/>
                <a:ea typeface="Calibri"/>
                <a:cs typeface="Calibri"/>
                <a:sym typeface="Calibri"/>
              </a:rPr>
              <a:t> model for each workout type</a:t>
            </a:r>
            <a:endParaRPr sz="3200">
              <a:solidFill>
                <a:schemeClr val="dk1"/>
              </a:solidFill>
              <a:latin typeface="Calibri"/>
              <a:ea typeface="Calibri"/>
              <a:cs typeface="Calibri"/>
              <a:sym typeface="Calibri"/>
            </a:endParaRPr>
          </a:p>
        </p:txBody>
      </p:sp>
      <p:pic>
        <p:nvPicPr>
          <p:cNvPr id="358" name="Google Shape;358;p10"/>
          <p:cNvPicPr preferRelativeResize="0"/>
          <p:nvPr/>
        </p:nvPicPr>
        <p:blipFill>
          <a:blip r:embed="rId4">
            <a:alphaModFix/>
          </a:blip>
          <a:stretch>
            <a:fillRect/>
          </a:stretch>
        </p:blipFill>
        <p:spPr>
          <a:xfrm>
            <a:off x="8555125" y="4544500"/>
            <a:ext cx="9732870" cy="60135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grpSp>
        <p:nvGrpSpPr>
          <p:cNvPr id="363" name="Google Shape;363;g341d387c2eb_2_44"/>
          <p:cNvGrpSpPr/>
          <p:nvPr/>
        </p:nvGrpSpPr>
        <p:grpSpPr>
          <a:xfrm>
            <a:off x="0" y="-216993"/>
            <a:ext cx="18288118" cy="4761499"/>
            <a:chOff x="0" y="-57150"/>
            <a:chExt cx="4816592" cy="1254049"/>
          </a:xfrm>
        </p:grpSpPr>
        <p:sp>
          <p:nvSpPr>
            <p:cNvPr id="364" name="Google Shape;364;g341d387c2eb_2_44"/>
            <p:cNvSpPr/>
            <p:nvPr/>
          </p:nvSpPr>
          <p:spPr>
            <a:xfrm>
              <a:off x="0" y="0"/>
              <a:ext cx="4816592" cy="1196899"/>
            </a:xfrm>
            <a:custGeom>
              <a:rect b="b" l="l" r="r" t="t"/>
              <a:pathLst>
                <a:path extrusionOk="0" h="1196899" w="4816592">
                  <a:moveTo>
                    <a:pt x="0" y="0"/>
                  </a:moveTo>
                  <a:lnTo>
                    <a:pt x="4816592" y="0"/>
                  </a:lnTo>
                  <a:lnTo>
                    <a:pt x="4816592" y="1196899"/>
                  </a:lnTo>
                  <a:lnTo>
                    <a:pt x="0" y="1196899"/>
                  </a:lnTo>
                  <a:close/>
                </a:path>
              </a:pathLst>
            </a:custGeom>
            <a:solidFill>
              <a:srgbClr val="071C42"/>
            </a:solidFill>
            <a:ln>
              <a:noFill/>
            </a:ln>
          </p:spPr>
        </p:sp>
        <p:sp>
          <p:nvSpPr>
            <p:cNvPr id="365" name="Google Shape;365;g341d387c2eb_2_44"/>
            <p:cNvSpPr txBox="1"/>
            <p:nvPr/>
          </p:nvSpPr>
          <p:spPr>
            <a:xfrm>
              <a:off x="0" y="-57150"/>
              <a:ext cx="4816500" cy="12540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cxnSp>
        <p:nvCxnSpPr>
          <p:cNvPr id="366" name="Google Shape;366;g341d387c2eb_2_44"/>
          <p:cNvCxnSpPr/>
          <p:nvPr/>
        </p:nvCxnSpPr>
        <p:spPr>
          <a:xfrm>
            <a:off x="1028700" y="601417"/>
            <a:ext cx="16230600" cy="0"/>
          </a:xfrm>
          <a:prstGeom prst="straightConnector1">
            <a:avLst/>
          </a:prstGeom>
          <a:noFill/>
          <a:ln cap="flat" cmpd="sng" w="19050">
            <a:solidFill>
              <a:srgbClr val="D9D9D9"/>
            </a:solidFill>
            <a:prstDash val="solid"/>
            <a:round/>
            <a:headEnd len="sm" w="sm" type="none"/>
            <a:tailEnd len="sm" w="sm" type="none"/>
          </a:ln>
        </p:spPr>
      </p:cxnSp>
      <p:grpSp>
        <p:nvGrpSpPr>
          <p:cNvPr id="367" name="Google Shape;367;g341d387c2eb_2_44"/>
          <p:cNvGrpSpPr/>
          <p:nvPr/>
        </p:nvGrpSpPr>
        <p:grpSpPr>
          <a:xfrm>
            <a:off x="0" y="3983995"/>
            <a:ext cx="9144454" cy="560483"/>
            <a:chOff x="0" y="-57150"/>
            <a:chExt cx="2408400" cy="147616"/>
          </a:xfrm>
        </p:grpSpPr>
        <p:sp>
          <p:nvSpPr>
            <p:cNvPr id="368" name="Google Shape;368;g341d387c2eb_2_44"/>
            <p:cNvSpPr/>
            <p:nvPr/>
          </p:nvSpPr>
          <p:spPr>
            <a:xfrm>
              <a:off x="0" y="0"/>
              <a:ext cx="2408296" cy="90466"/>
            </a:xfrm>
            <a:custGeom>
              <a:rect b="b" l="l" r="r" t="t"/>
              <a:pathLst>
                <a:path extrusionOk="0" h="90466" w="2408296">
                  <a:moveTo>
                    <a:pt x="0" y="0"/>
                  </a:moveTo>
                  <a:lnTo>
                    <a:pt x="2408296" y="0"/>
                  </a:lnTo>
                  <a:lnTo>
                    <a:pt x="2408296" y="90466"/>
                  </a:lnTo>
                  <a:lnTo>
                    <a:pt x="0" y="90466"/>
                  </a:lnTo>
                  <a:close/>
                </a:path>
              </a:pathLst>
            </a:custGeom>
            <a:solidFill>
              <a:srgbClr val="4DE1C7"/>
            </a:solidFill>
            <a:ln>
              <a:noFill/>
            </a:ln>
          </p:spPr>
        </p:sp>
        <p:sp>
          <p:nvSpPr>
            <p:cNvPr id="369" name="Google Shape;369;g341d387c2eb_2_44"/>
            <p:cNvSpPr txBox="1"/>
            <p:nvPr/>
          </p:nvSpPr>
          <p:spPr>
            <a:xfrm>
              <a:off x="0" y="-57150"/>
              <a:ext cx="2408400" cy="1476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70" name="Google Shape;370;g341d387c2eb_2_44"/>
          <p:cNvSpPr/>
          <p:nvPr/>
        </p:nvSpPr>
        <p:spPr>
          <a:xfrm rot="4689340">
            <a:off x="10181399" y="-1427262"/>
            <a:ext cx="13952441" cy="5389130"/>
          </a:xfrm>
          <a:custGeom>
            <a:rect b="b" l="l" r="r" t="t"/>
            <a:pathLst>
              <a:path extrusionOk="0" h="5395795" w="13969695">
                <a:moveTo>
                  <a:pt x="0" y="0"/>
                </a:moveTo>
                <a:lnTo>
                  <a:pt x="13969695" y="0"/>
                </a:lnTo>
                <a:lnTo>
                  <a:pt x="13969695" y="5395795"/>
                </a:lnTo>
                <a:lnTo>
                  <a:pt x="0" y="5395795"/>
                </a:lnTo>
                <a:lnTo>
                  <a:pt x="0" y="0"/>
                </a:lnTo>
                <a:close/>
              </a:path>
            </a:pathLst>
          </a:custGeom>
          <a:blipFill rotWithShape="1">
            <a:blip r:embed="rId3">
              <a:alphaModFix/>
            </a:blip>
            <a:stretch>
              <a:fillRect b="0" l="0" r="0" t="0"/>
            </a:stretch>
          </a:blipFill>
          <a:ln>
            <a:noFill/>
          </a:ln>
        </p:spPr>
      </p:sp>
      <p:sp>
        <p:nvSpPr>
          <p:cNvPr id="371" name="Google Shape;371;g341d387c2eb_2_44"/>
          <p:cNvSpPr txBox="1"/>
          <p:nvPr/>
        </p:nvSpPr>
        <p:spPr>
          <a:xfrm>
            <a:off x="1544727" y="2546276"/>
            <a:ext cx="11071500" cy="861900"/>
          </a:xfrm>
          <a:prstGeom prst="rect">
            <a:avLst/>
          </a:prstGeom>
          <a:noFill/>
          <a:ln>
            <a:noFill/>
          </a:ln>
        </p:spPr>
        <p:txBody>
          <a:bodyPr anchorCtr="0" anchor="t" bIns="0" lIns="0" spcFirstLastPara="1" rIns="0" wrap="square" tIns="0">
            <a:spAutoFit/>
          </a:bodyPr>
          <a:lstStyle/>
          <a:p>
            <a:pPr indent="0" lvl="0" marL="0" marR="0" rtl="0" algn="l">
              <a:lnSpc>
                <a:spcPct val="120003"/>
              </a:lnSpc>
              <a:spcBef>
                <a:spcPts val="0"/>
              </a:spcBef>
              <a:spcAft>
                <a:spcPts val="0"/>
              </a:spcAft>
              <a:buNone/>
            </a:pPr>
            <a:r>
              <a:rPr b="1" i="0" lang="en-US" sz="5599" u="none" cap="none" strike="noStrike">
                <a:solidFill>
                  <a:srgbClr val="FFFFFF"/>
                </a:solidFill>
                <a:latin typeface="Poppins"/>
                <a:ea typeface="Poppins"/>
                <a:cs typeface="Poppins"/>
                <a:sym typeface="Poppins"/>
              </a:rPr>
              <a:t>SMART Question </a:t>
            </a:r>
            <a:r>
              <a:rPr b="1" lang="en-US" sz="5599">
                <a:solidFill>
                  <a:srgbClr val="FFFFFF"/>
                </a:solidFill>
                <a:latin typeface="Poppins"/>
                <a:ea typeface="Poppins"/>
                <a:cs typeface="Poppins"/>
                <a:sym typeface="Poppins"/>
              </a:rPr>
              <a:t>2</a:t>
            </a:r>
            <a:endParaRPr/>
          </a:p>
        </p:txBody>
      </p:sp>
      <p:pic>
        <p:nvPicPr>
          <p:cNvPr id="372" name="Google Shape;372;g341d387c2eb_2_44"/>
          <p:cNvPicPr preferRelativeResize="0"/>
          <p:nvPr/>
        </p:nvPicPr>
        <p:blipFill>
          <a:blip r:embed="rId4">
            <a:alphaModFix/>
          </a:blip>
          <a:stretch>
            <a:fillRect/>
          </a:stretch>
        </p:blipFill>
        <p:spPr>
          <a:xfrm>
            <a:off x="9312394" y="4544500"/>
            <a:ext cx="8875731" cy="5483951"/>
          </a:xfrm>
          <a:prstGeom prst="rect">
            <a:avLst/>
          </a:prstGeom>
          <a:noFill/>
          <a:ln>
            <a:noFill/>
          </a:ln>
        </p:spPr>
      </p:pic>
      <p:sp>
        <p:nvSpPr>
          <p:cNvPr id="373" name="Google Shape;373;g341d387c2eb_2_44"/>
          <p:cNvSpPr txBox="1"/>
          <p:nvPr/>
        </p:nvSpPr>
        <p:spPr>
          <a:xfrm>
            <a:off x="639200" y="4544500"/>
            <a:ext cx="4933800" cy="75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3200">
                <a:solidFill>
                  <a:schemeClr val="dk1"/>
                </a:solidFill>
                <a:latin typeface="Calibri"/>
                <a:ea typeface="Calibri"/>
                <a:cs typeface="Calibri"/>
                <a:sym typeface="Calibri"/>
              </a:rPr>
              <a:t>Linear regression results</a:t>
            </a:r>
            <a:endParaRPr sz="3200">
              <a:solidFill>
                <a:schemeClr val="dk1"/>
              </a:solidFill>
              <a:latin typeface="Calibri"/>
              <a:ea typeface="Calibri"/>
              <a:cs typeface="Calibri"/>
              <a:sym typeface="Calibri"/>
            </a:endParaRPr>
          </a:p>
        </p:txBody>
      </p:sp>
      <p:graphicFrame>
        <p:nvGraphicFramePr>
          <p:cNvPr id="374" name="Google Shape;374;g341d387c2eb_2_44"/>
          <p:cNvGraphicFramePr/>
          <p:nvPr/>
        </p:nvGraphicFramePr>
        <p:xfrm>
          <a:off x="781150" y="5303525"/>
          <a:ext cx="3000000" cy="3000000"/>
        </p:xfrm>
        <a:graphic>
          <a:graphicData uri="http://schemas.openxmlformats.org/drawingml/2006/table">
            <a:tbl>
              <a:tblPr>
                <a:noFill/>
                <a:tableStyleId>{2C5F93C3-6B1B-4ACE-B11E-3BA65349ACD2}</a:tableStyleId>
              </a:tblPr>
              <a:tblGrid>
                <a:gridCol w="2324950"/>
                <a:gridCol w="2324950"/>
              </a:tblGrid>
              <a:tr h="397650">
                <a:tc>
                  <a:txBody>
                    <a:bodyPr/>
                    <a:lstStyle/>
                    <a:p>
                      <a:pPr indent="0" lvl="0" marL="0" rtl="0" algn="l">
                        <a:spcBef>
                          <a:spcPts val="0"/>
                        </a:spcBef>
                        <a:spcAft>
                          <a:spcPts val="0"/>
                        </a:spcAft>
                        <a:buNone/>
                      </a:pPr>
                      <a:r>
                        <a:rPr b="1" lang="en-US" sz="2100"/>
                        <a:t>Workout_Type</a:t>
                      </a:r>
                      <a:endParaRPr b="1" sz="2100"/>
                    </a:p>
                  </a:txBody>
                  <a:tcPr marT="91425" marB="91425" marR="91425" marL="91425"/>
                </a:tc>
                <a:tc>
                  <a:txBody>
                    <a:bodyPr/>
                    <a:lstStyle/>
                    <a:p>
                      <a:pPr indent="0" lvl="0" marL="0" rtl="0" algn="l">
                        <a:spcBef>
                          <a:spcPts val="0"/>
                        </a:spcBef>
                        <a:spcAft>
                          <a:spcPts val="0"/>
                        </a:spcAft>
                        <a:buNone/>
                      </a:pPr>
                      <a:r>
                        <a:rPr b="1" lang="en-US" sz="2100"/>
                        <a:t>R_squared</a:t>
                      </a:r>
                      <a:endParaRPr b="1" sz="2100"/>
                    </a:p>
                  </a:txBody>
                  <a:tcPr marT="91425" marB="91425" marR="91425" marL="91425"/>
                </a:tc>
              </a:tr>
              <a:tr h="397650">
                <a:tc>
                  <a:txBody>
                    <a:bodyPr/>
                    <a:lstStyle/>
                    <a:p>
                      <a:pPr indent="0" lvl="0" marL="0" rtl="0" algn="l">
                        <a:spcBef>
                          <a:spcPts val="0"/>
                        </a:spcBef>
                        <a:spcAft>
                          <a:spcPts val="0"/>
                        </a:spcAft>
                        <a:buNone/>
                      </a:pPr>
                      <a:r>
                        <a:rPr b="1" lang="en-US" sz="2100"/>
                        <a:t>Cycling</a:t>
                      </a:r>
                      <a:endParaRPr b="1" sz="2100"/>
                    </a:p>
                  </a:txBody>
                  <a:tcPr marT="91425" marB="91425" marR="91425" marL="91425"/>
                </a:tc>
                <a:tc>
                  <a:txBody>
                    <a:bodyPr/>
                    <a:lstStyle/>
                    <a:p>
                      <a:pPr indent="0" lvl="0" marL="0" rtl="0" algn="r">
                        <a:lnSpc>
                          <a:spcPct val="115000"/>
                        </a:lnSpc>
                        <a:spcBef>
                          <a:spcPts val="0"/>
                        </a:spcBef>
                        <a:spcAft>
                          <a:spcPts val="0"/>
                        </a:spcAft>
                        <a:buNone/>
                      </a:pPr>
                      <a:r>
                        <a:rPr b="1" lang="en-US" sz="2100"/>
                        <a:t>0.0012</a:t>
                      </a:r>
                      <a:endParaRPr b="1" sz="2100"/>
                    </a:p>
                  </a:txBody>
                  <a:tcPr marT="91425" marB="91425" marR="91425" marL="91425"/>
                </a:tc>
              </a:tr>
              <a:tr h="397650">
                <a:tc>
                  <a:txBody>
                    <a:bodyPr/>
                    <a:lstStyle/>
                    <a:p>
                      <a:pPr indent="0" lvl="0" marL="0" rtl="0" algn="l">
                        <a:spcBef>
                          <a:spcPts val="0"/>
                        </a:spcBef>
                        <a:spcAft>
                          <a:spcPts val="0"/>
                        </a:spcAft>
                        <a:buNone/>
                      </a:pPr>
                      <a:r>
                        <a:rPr b="1" lang="en-US" sz="2100"/>
                        <a:t>Cardio</a:t>
                      </a:r>
                      <a:endParaRPr b="1" sz="2100"/>
                    </a:p>
                  </a:txBody>
                  <a:tcPr marT="91425" marB="91425" marR="91425" marL="91425"/>
                </a:tc>
                <a:tc>
                  <a:txBody>
                    <a:bodyPr/>
                    <a:lstStyle/>
                    <a:p>
                      <a:pPr indent="0" lvl="0" marL="0" rtl="0" algn="r">
                        <a:lnSpc>
                          <a:spcPct val="115000"/>
                        </a:lnSpc>
                        <a:spcBef>
                          <a:spcPts val="0"/>
                        </a:spcBef>
                        <a:spcAft>
                          <a:spcPts val="0"/>
                        </a:spcAft>
                        <a:buNone/>
                      </a:pPr>
                      <a:r>
                        <a:rPr b="1" lang="en-US" sz="2100"/>
                        <a:t>0.0026</a:t>
                      </a:r>
                      <a:endParaRPr b="1" sz="2100"/>
                    </a:p>
                  </a:txBody>
                  <a:tcPr marT="91425" marB="91425" marR="91425" marL="91425"/>
                </a:tc>
              </a:tr>
              <a:tr h="397650">
                <a:tc>
                  <a:txBody>
                    <a:bodyPr/>
                    <a:lstStyle/>
                    <a:p>
                      <a:pPr indent="0" lvl="0" marL="0" rtl="0" algn="l">
                        <a:spcBef>
                          <a:spcPts val="0"/>
                        </a:spcBef>
                        <a:spcAft>
                          <a:spcPts val="0"/>
                        </a:spcAft>
                        <a:buNone/>
                      </a:pPr>
                      <a:r>
                        <a:rPr b="1" lang="en-US" sz="2100"/>
                        <a:t>HIIT</a:t>
                      </a:r>
                      <a:endParaRPr b="1" sz="2100"/>
                    </a:p>
                  </a:txBody>
                  <a:tcPr marT="91425" marB="91425" marR="91425" marL="91425"/>
                </a:tc>
                <a:tc>
                  <a:txBody>
                    <a:bodyPr/>
                    <a:lstStyle/>
                    <a:p>
                      <a:pPr indent="0" lvl="0" marL="0" rtl="0" algn="r">
                        <a:lnSpc>
                          <a:spcPct val="115000"/>
                        </a:lnSpc>
                        <a:spcBef>
                          <a:spcPts val="0"/>
                        </a:spcBef>
                        <a:spcAft>
                          <a:spcPts val="0"/>
                        </a:spcAft>
                        <a:buNone/>
                      </a:pPr>
                      <a:r>
                        <a:rPr b="1" lang="en-US" sz="2100"/>
                        <a:t>0.0019</a:t>
                      </a:r>
                      <a:endParaRPr b="1" sz="2100"/>
                    </a:p>
                  </a:txBody>
                  <a:tcPr marT="91425" marB="91425" marR="91425" marL="91425"/>
                </a:tc>
              </a:tr>
              <a:tr h="397650">
                <a:tc>
                  <a:txBody>
                    <a:bodyPr/>
                    <a:lstStyle/>
                    <a:p>
                      <a:pPr indent="0" lvl="0" marL="0" rtl="0" algn="l">
                        <a:spcBef>
                          <a:spcPts val="0"/>
                        </a:spcBef>
                        <a:spcAft>
                          <a:spcPts val="0"/>
                        </a:spcAft>
                        <a:buNone/>
                      </a:pPr>
                      <a:r>
                        <a:rPr b="1" lang="en-US" sz="2100"/>
                        <a:t>Strength</a:t>
                      </a:r>
                      <a:endParaRPr b="1" sz="2100"/>
                    </a:p>
                  </a:txBody>
                  <a:tcPr marT="91425" marB="91425" marR="91425" marL="91425"/>
                </a:tc>
                <a:tc>
                  <a:txBody>
                    <a:bodyPr/>
                    <a:lstStyle/>
                    <a:p>
                      <a:pPr indent="0" lvl="0" marL="0" rtl="0" algn="r">
                        <a:lnSpc>
                          <a:spcPct val="115000"/>
                        </a:lnSpc>
                        <a:spcBef>
                          <a:spcPts val="0"/>
                        </a:spcBef>
                        <a:spcAft>
                          <a:spcPts val="0"/>
                        </a:spcAft>
                        <a:buNone/>
                      </a:pPr>
                      <a:r>
                        <a:rPr b="1" lang="en-US" sz="2100"/>
                        <a:t>0.0023</a:t>
                      </a:r>
                      <a:endParaRPr b="1" sz="2100"/>
                    </a:p>
                  </a:txBody>
                  <a:tcPr marT="91425" marB="91425" marR="91425" marL="91425"/>
                </a:tc>
              </a:tr>
              <a:tr h="397650">
                <a:tc>
                  <a:txBody>
                    <a:bodyPr/>
                    <a:lstStyle/>
                    <a:p>
                      <a:pPr indent="0" lvl="0" marL="0" rtl="0" algn="l">
                        <a:spcBef>
                          <a:spcPts val="0"/>
                        </a:spcBef>
                        <a:spcAft>
                          <a:spcPts val="0"/>
                        </a:spcAft>
                        <a:buNone/>
                      </a:pPr>
                      <a:r>
                        <a:rPr b="1" lang="en-US" sz="2100"/>
                        <a:t>Yoga</a:t>
                      </a:r>
                      <a:endParaRPr b="1" sz="2100"/>
                    </a:p>
                  </a:txBody>
                  <a:tcPr marT="91425" marB="91425" marR="91425" marL="91425"/>
                </a:tc>
                <a:tc>
                  <a:txBody>
                    <a:bodyPr/>
                    <a:lstStyle/>
                    <a:p>
                      <a:pPr indent="0" lvl="0" marL="0" rtl="0" algn="r">
                        <a:lnSpc>
                          <a:spcPct val="115000"/>
                        </a:lnSpc>
                        <a:spcBef>
                          <a:spcPts val="0"/>
                        </a:spcBef>
                        <a:spcAft>
                          <a:spcPts val="0"/>
                        </a:spcAft>
                        <a:buNone/>
                      </a:pPr>
                      <a:r>
                        <a:rPr b="1" lang="en-US" sz="2100"/>
                        <a:t>0.0021</a:t>
                      </a:r>
                      <a:endParaRPr b="1" sz="2100"/>
                    </a:p>
                  </a:txBody>
                  <a:tcPr marT="91425" marB="91425" marR="91425" marL="91425"/>
                </a:tc>
              </a:tr>
              <a:tr h="397650">
                <a:tc>
                  <a:txBody>
                    <a:bodyPr/>
                    <a:lstStyle/>
                    <a:p>
                      <a:pPr indent="0" lvl="0" marL="0" rtl="0" algn="l">
                        <a:spcBef>
                          <a:spcPts val="0"/>
                        </a:spcBef>
                        <a:spcAft>
                          <a:spcPts val="0"/>
                        </a:spcAft>
                        <a:buNone/>
                      </a:pPr>
                      <a:r>
                        <a:rPr b="1" lang="en-US" sz="2100"/>
                        <a:t>Running</a:t>
                      </a:r>
                      <a:endParaRPr b="1" sz="2100"/>
                    </a:p>
                  </a:txBody>
                  <a:tcPr marT="91425" marB="91425" marR="91425" marL="91425"/>
                </a:tc>
                <a:tc>
                  <a:txBody>
                    <a:bodyPr/>
                    <a:lstStyle/>
                    <a:p>
                      <a:pPr indent="0" lvl="0" marL="0" rtl="0" algn="r">
                        <a:lnSpc>
                          <a:spcPct val="115000"/>
                        </a:lnSpc>
                        <a:spcBef>
                          <a:spcPts val="0"/>
                        </a:spcBef>
                        <a:spcAft>
                          <a:spcPts val="0"/>
                        </a:spcAft>
                        <a:buNone/>
                      </a:pPr>
                      <a:r>
                        <a:rPr b="1" lang="en-US" sz="2100"/>
                        <a:t>0.0011</a:t>
                      </a:r>
                      <a:endParaRPr b="1" sz="2100"/>
                    </a:p>
                  </a:txBody>
                  <a:tcPr marT="91425" marB="91425" marR="91425" marL="91425"/>
                </a:tc>
              </a:tr>
            </a:tbl>
          </a:graphicData>
        </a:graphic>
      </p:graphicFrame>
      <p:sp>
        <p:nvSpPr>
          <p:cNvPr id="375" name="Google Shape;375;g341d387c2eb_2_44"/>
          <p:cNvSpPr txBox="1"/>
          <p:nvPr/>
        </p:nvSpPr>
        <p:spPr>
          <a:xfrm>
            <a:off x="259675" y="9248325"/>
            <a:ext cx="9052800" cy="75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100">
                <a:solidFill>
                  <a:schemeClr val="dk1"/>
                </a:solidFill>
                <a:latin typeface="Calibri"/>
                <a:ea typeface="Calibri"/>
                <a:cs typeface="Calibri"/>
                <a:sym typeface="Calibri"/>
              </a:rPr>
              <a:t>Conclusion: No significant effect on workout intensity based on the heart rate and calories burned according to the dataset.  </a:t>
            </a:r>
            <a:endParaRPr b="1" sz="2100">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grpSp>
        <p:nvGrpSpPr>
          <p:cNvPr id="380" name="Google Shape;380;p11"/>
          <p:cNvGrpSpPr/>
          <p:nvPr/>
        </p:nvGrpSpPr>
        <p:grpSpPr>
          <a:xfrm>
            <a:off x="0" y="-216991"/>
            <a:ext cx="18288000" cy="4761466"/>
            <a:chOff x="0" y="-57150"/>
            <a:chExt cx="4816593" cy="1254049"/>
          </a:xfrm>
        </p:grpSpPr>
        <p:sp>
          <p:nvSpPr>
            <p:cNvPr id="381" name="Google Shape;381;p11"/>
            <p:cNvSpPr/>
            <p:nvPr/>
          </p:nvSpPr>
          <p:spPr>
            <a:xfrm>
              <a:off x="0" y="0"/>
              <a:ext cx="4816592" cy="1196899"/>
            </a:xfrm>
            <a:custGeom>
              <a:rect b="b" l="l" r="r" t="t"/>
              <a:pathLst>
                <a:path extrusionOk="0" h="1196899" w="4816592">
                  <a:moveTo>
                    <a:pt x="0" y="0"/>
                  </a:moveTo>
                  <a:lnTo>
                    <a:pt x="4816592" y="0"/>
                  </a:lnTo>
                  <a:lnTo>
                    <a:pt x="4816592" y="1196899"/>
                  </a:lnTo>
                  <a:lnTo>
                    <a:pt x="0" y="1196899"/>
                  </a:lnTo>
                  <a:close/>
                </a:path>
              </a:pathLst>
            </a:custGeom>
            <a:solidFill>
              <a:srgbClr val="071C42"/>
            </a:solidFill>
            <a:ln>
              <a:noFill/>
            </a:ln>
          </p:spPr>
        </p:sp>
        <p:sp>
          <p:nvSpPr>
            <p:cNvPr id="382" name="Google Shape;382;p11"/>
            <p:cNvSpPr txBox="1"/>
            <p:nvPr/>
          </p:nvSpPr>
          <p:spPr>
            <a:xfrm>
              <a:off x="0" y="-57150"/>
              <a:ext cx="4816593" cy="1254049"/>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cxnSp>
        <p:nvCxnSpPr>
          <p:cNvPr id="383" name="Google Shape;383;p11"/>
          <p:cNvCxnSpPr/>
          <p:nvPr/>
        </p:nvCxnSpPr>
        <p:spPr>
          <a:xfrm>
            <a:off x="1028700" y="601417"/>
            <a:ext cx="16230600" cy="0"/>
          </a:xfrm>
          <a:prstGeom prst="straightConnector1">
            <a:avLst/>
          </a:prstGeom>
          <a:noFill/>
          <a:ln cap="flat" cmpd="sng" w="19050">
            <a:solidFill>
              <a:srgbClr val="D9D9D9"/>
            </a:solidFill>
            <a:prstDash val="solid"/>
            <a:round/>
            <a:headEnd len="sm" w="sm" type="none"/>
            <a:tailEnd len="sm" w="sm" type="none"/>
          </a:ln>
        </p:spPr>
      </p:cxnSp>
      <p:grpSp>
        <p:nvGrpSpPr>
          <p:cNvPr id="384" name="Google Shape;384;p11"/>
          <p:cNvGrpSpPr/>
          <p:nvPr/>
        </p:nvGrpSpPr>
        <p:grpSpPr>
          <a:xfrm>
            <a:off x="0" y="3983997"/>
            <a:ext cx="9144000" cy="560478"/>
            <a:chOff x="0" y="-57150"/>
            <a:chExt cx="2408296" cy="147616"/>
          </a:xfrm>
        </p:grpSpPr>
        <p:sp>
          <p:nvSpPr>
            <p:cNvPr id="385" name="Google Shape;385;p11"/>
            <p:cNvSpPr/>
            <p:nvPr/>
          </p:nvSpPr>
          <p:spPr>
            <a:xfrm>
              <a:off x="0" y="0"/>
              <a:ext cx="2408296" cy="90466"/>
            </a:xfrm>
            <a:custGeom>
              <a:rect b="b" l="l" r="r" t="t"/>
              <a:pathLst>
                <a:path extrusionOk="0" h="90466" w="2408296">
                  <a:moveTo>
                    <a:pt x="0" y="0"/>
                  </a:moveTo>
                  <a:lnTo>
                    <a:pt x="2408296" y="0"/>
                  </a:lnTo>
                  <a:lnTo>
                    <a:pt x="2408296" y="90466"/>
                  </a:lnTo>
                  <a:lnTo>
                    <a:pt x="0" y="90466"/>
                  </a:lnTo>
                  <a:close/>
                </a:path>
              </a:pathLst>
            </a:custGeom>
            <a:solidFill>
              <a:srgbClr val="4DE1C7"/>
            </a:solidFill>
            <a:ln>
              <a:noFill/>
            </a:ln>
          </p:spPr>
        </p:sp>
        <p:sp>
          <p:nvSpPr>
            <p:cNvPr id="386" name="Google Shape;386;p11"/>
            <p:cNvSpPr txBox="1"/>
            <p:nvPr/>
          </p:nvSpPr>
          <p:spPr>
            <a:xfrm>
              <a:off x="0" y="-57150"/>
              <a:ext cx="2408296" cy="147616"/>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87" name="Google Shape;387;p11"/>
          <p:cNvSpPr/>
          <p:nvPr/>
        </p:nvSpPr>
        <p:spPr>
          <a:xfrm rot="4689992">
            <a:off x="10289729" y="-1421921"/>
            <a:ext cx="13969695" cy="5395795"/>
          </a:xfrm>
          <a:custGeom>
            <a:rect b="b" l="l" r="r" t="t"/>
            <a:pathLst>
              <a:path extrusionOk="0" h="5395795" w="13969695">
                <a:moveTo>
                  <a:pt x="0" y="0"/>
                </a:moveTo>
                <a:lnTo>
                  <a:pt x="13969695" y="0"/>
                </a:lnTo>
                <a:lnTo>
                  <a:pt x="13969695" y="5395795"/>
                </a:lnTo>
                <a:lnTo>
                  <a:pt x="0" y="5395795"/>
                </a:lnTo>
                <a:lnTo>
                  <a:pt x="0" y="0"/>
                </a:lnTo>
                <a:close/>
              </a:path>
            </a:pathLst>
          </a:custGeom>
          <a:blipFill rotWithShape="1">
            <a:blip r:embed="rId3">
              <a:alphaModFix/>
            </a:blip>
            <a:stretch>
              <a:fillRect b="0" l="0" r="0" t="0"/>
            </a:stretch>
          </a:blipFill>
          <a:ln>
            <a:noFill/>
          </a:ln>
        </p:spPr>
      </p:sp>
      <p:sp>
        <p:nvSpPr>
          <p:cNvPr id="388" name="Google Shape;388;p11"/>
          <p:cNvSpPr txBox="1"/>
          <p:nvPr/>
        </p:nvSpPr>
        <p:spPr>
          <a:xfrm>
            <a:off x="1544727" y="2546276"/>
            <a:ext cx="11071500" cy="861900"/>
          </a:xfrm>
          <a:prstGeom prst="rect">
            <a:avLst/>
          </a:prstGeom>
          <a:noFill/>
          <a:ln>
            <a:noFill/>
          </a:ln>
        </p:spPr>
        <p:txBody>
          <a:bodyPr anchorCtr="0" anchor="t" bIns="0" lIns="0" spcFirstLastPara="1" rIns="0" wrap="square" tIns="0">
            <a:spAutoFit/>
          </a:bodyPr>
          <a:lstStyle/>
          <a:p>
            <a:pPr indent="0" lvl="0" marL="0" marR="0" rtl="0" algn="l">
              <a:lnSpc>
                <a:spcPct val="120003"/>
              </a:lnSpc>
              <a:spcBef>
                <a:spcPts val="0"/>
              </a:spcBef>
              <a:spcAft>
                <a:spcPts val="0"/>
              </a:spcAft>
              <a:buNone/>
            </a:pPr>
            <a:r>
              <a:rPr b="1" i="0" lang="en-US" sz="5599" u="none" cap="none" strike="noStrike">
                <a:solidFill>
                  <a:srgbClr val="FFFFFF"/>
                </a:solidFill>
                <a:latin typeface="Poppins"/>
                <a:ea typeface="Poppins"/>
                <a:cs typeface="Poppins"/>
                <a:sym typeface="Poppins"/>
              </a:rPr>
              <a:t>SMART Question </a:t>
            </a:r>
            <a:r>
              <a:rPr b="1" lang="en-US" sz="5599">
                <a:solidFill>
                  <a:srgbClr val="FFFFFF"/>
                </a:solidFill>
                <a:latin typeface="Poppins"/>
                <a:ea typeface="Poppins"/>
                <a:cs typeface="Poppins"/>
                <a:sym typeface="Poppins"/>
              </a:rPr>
              <a:t>3</a:t>
            </a:r>
            <a:endParaRPr/>
          </a:p>
        </p:txBody>
      </p:sp>
      <p:sp>
        <p:nvSpPr>
          <p:cNvPr id="389" name="Google Shape;389;p11"/>
          <p:cNvSpPr txBox="1"/>
          <p:nvPr/>
        </p:nvSpPr>
        <p:spPr>
          <a:xfrm>
            <a:off x="10546675" y="1498100"/>
            <a:ext cx="7510500" cy="248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3200">
                <a:solidFill>
                  <a:schemeClr val="lt1"/>
                </a:solidFill>
                <a:latin typeface="Calibri"/>
                <a:ea typeface="Calibri"/>
                <a:cs typeface="Calibri"/>
                <a:sym typeface="Calibri"/>
              </a:rPr>
              <a:t>Can we identify distinct user profiles based on their workout patterns using clustering analysis on workout duration, calorie burn, and heart rate?</a:t>
            </a:r>
            <a:endParaRPr b="1" sz="3200">
              <a:solidFill>
                <a:schemeClr val="lt1"/>
              </a:solidFill>
              <a:latin typeface="Calibri"/>
              <a:ea typeface="Calibri"/>
              <a:cs typeface="Calibri"/>
              <a:sym typeface="Calibri"/>
            </a:endParaRPr>
          </a:p>
        </p:txBody>
      </p:sp>
      <p:sp>
        <p:nvSpPr>
          <p:cNvPr id="390" name="Google Shape;390;p11"/>
          <p:cNvSpPr txBox="1"/>
          <p:nvPr/>
        </p:nvSpPr>
        <p:spPr>
          <a:xfrm>
            <a:off x="1028700" y="4853875"/>
            <a:ext cx="4614300" cy="95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3200">
                <a:solidFill>
                  <a:schemeClr val="dk1"/>
                </a:solidFill>
                <a:latin typeface="Calibri"/>
                <a:ea typeface="Calibri"/>
                <a:cs typeface="Calibri"/>
                <a:sym typeface="Calibri"/>
              </a:rPr>
              <a:t>K-means clustering:</a:t>
            </a:r>
            <a:endParaRPr b="1" sz="3200">
              <a:solidFill>
                <a:schemeClr val="dk1"/>
              </a:solidFill>
              <a:latin typeface="Calibri"/>
              <a:ea typeface="Calibri"/>
              <a:cs typeface="Calibri"/>
              <a:sym typeface="Calibri"/>
            </a:endParaRPr>
          </a:p>
        </p:txBody>
      </p:sp>
      <p:sp>
        <p:nvSpPr>
          <p:cNvPr id="391" name="Google Shape;391;p11"/>
          <p:cNvSpPr txBox="1"/>
          <p:nvPr/>
        </p:nvSpPr>
        <p:spPr>
          <a:xfrm>
            <a:off x="1138550" y="5812675"/>
            <a:ext cx="8005500" cy="3994800"/>
          </a:xfrm>
          <a:prstGeom prst="rect">
            <a:avLst/>
          </a:prstGeom>
          <a:noFill/>
          <a:ln>
            <a:noFill/>
          </a:ln>
        </p:spPr>
        <p:txBody>
          <a:bodyPr anchorCtr="0" anchor="t" bIns="91425" lIns="91425" spcFirstLastPara="1" rIns="91425" wrap="square" tIns="91425">
            <a:noAutofit/>
          </a:bodyPr>
          <a:lstStyle/>
          <a:p>
            <a:pPr indent="-431800" lvl="0" marL="457200" rtl="0" algn="l">
              <a:spcBef>
                <a:spcPts val="0"/>
              </a:spcBef>
              <a:spcAft>
                <a:spcPts val="0"/>
              </a:spcAft>
              <a:buClr>
                <a:schemeClr val="dk1"/>
              </a:buClr>
              <a:buSzPts val="3200"/>
              <a:buFont typeface="Calibri"/>
              <a:buChar char="●"/>
            </a:pPr>
            <a:r>
              <a:rPr lang="en-US" sz="3200">
                <a:solidFill>
                  <a:schemeClr val="dk1"/>
                </a:solidFill>
                <a:latin typeface="Calibri"/>
                <a:ea typeface="Calibri"/>
                <a:cs typeface="Calibri"/>
                <a:sym typeface="Calibri"/>
              </a:rPr>
              <a:t>Clustering variables: Workout duration in mins, Calories burned and Heart rate</a:t>
            </a:r>
            <a:endParaRPr sz="3200">
              <a:solidFill>
                <a:schemeClr val="dk1"/>
              </a:solidFill>
              <a:latin typeface="Calibri"/>
              <a:ea typeface="Calibri"/>
              <a:cs typeface="Calibri"/>
              <a:sym typeface="Calibri"/>
            </a:endParaRPr>
          </a:p>
          <a:p>
            <a:pPr indent="-431800" lvl="0" marL="457200" rtl="0" algn="l">
              <a:spcBef>
                <a:spcPts val="0"/>
              </a:spcBef>
              <a:spcAft>
                <a:spcPts val="0"/>
              </a:spcAft>
              <a:buClr>
                <a:schemeClr val="dk1"/>
              </a:buClr>
              <a:buSzPts val="3200"/>
              <a:buFont typeface="Calibri"/>
              <a:buChar char="●"/>
            </a:pPr>
            <a:r>
              <a:rPr lang="en-US" sz="3200">
                <a:solidFill>
                  <a:schemeClr val="dk1"/>
                </a:solidFill>
                <a:latin typeface="Calibri"/>
                <a:ea typeface="Calibri"/>
                <a:cs typeface="Calibri"/>
                <a:sym typeface="Calibri"/>
              </a:rPr>
              <a:t>Clustering process:</a:t>
            </a:r>
            <a:endParaRPr sz="3200">
              <a:solidFill>
                <a:schemeClr val="dk1"/>
              </a:solidFill>
              <a:latin typeface="Calibri"/>
              <a:ea typeface="Calibri"/>
              <a:cs typeface="Calibri"/>
              <a:sym typeface="Calibri"/>
            </a:endParaRPr>
          </a:p>
          <a:p>
            <a:pPr indent="-431800" lvl="1" marL="914400" rtl="0" algn="l">
              <a:spcBef>
                <a:spcPts val="0"/>
              </a:spcBef>
              <a:spcAft>
                <a:spcPts val="0"/>
              </a:spcAft>
              <a:buClr>
                <a:schemeClr val="dk1"/>
              </a:buClr>
              <a:buSzPts val="3200"/>
              <a:buFont typeface="Calibri"/>
              <a:buChar char="○"/>
            </a:pPr>
            <a:r>
              <a:rPr lang="en-US" sz="3200">
                <a:solidFill>
                  <a:schemeClr val="dk1"/>
                </a:solidFill>
                <a:latin typeface="Calibri"/>
                <a:ea typeface="Calibri"/>
                <a:cs typeface="Calibri"/>
                <a:sym typeface="Calibri"/>
              </a:rPr>
              <a:t>Scale the data (important)</a:t>
            </a:r>
            <a:endParaRPr sz="3200">
              <a:solidFill>
                <a:schemeClr val="dk1"/>
              </a:solidFill>
              <a:latin typeface="Calibri"/>
              <a:ea typeface="Calibri"/>
              <a:cs typeface="Calibri"/>
              <a:sym typeface="Calibri"/>
            </a:endParaRPr>
          </a:p>
          <a:p>
            <a:pPr indent="-431800" lvl="1" marL="914400" rtl="0" algn="l">
              <a:spcBef>
                <a:spcPts val="0"/>
              </a:spcBef>
              <a:spcAft>
                <a:spcPts val="0"/>
              </a:spcAft>
              <a:buClr>
                <a:schemeClr val="dk1"/>
              </a:buClr>
              <a:buSzPts val="3200"/>
              <a:buFont typeface="Calibri"/>
              <a:buChar char="○"/>
            </a:pPr>
            <a:r>
              <a:rPr lang="en-US" sz="3200">
                <a:solidFill>
                  <a:schemeClr val="dk1"/>
                </a:solidFill>
                <a:latin typeface="Calibri"/>
                <a:ea typeface="Calibri"/>
                <a:cs typeface="Calibri"/>
                <a:sym typeface="Calibri"/>
              </a:rPr>
              <a:t>Determine optimal number of clusters by elbow and silhouette method</a:t>
            </a:r>
            <a:endParaRPr sz="3200">
              <a:solidFill>
                <a:schemeClr val="dk1"/>
              </a:solidFill>
              <a:latin typeface="Calibri"/>
              <a:ea typeface="Calibri"/>
              <a:cs typeface="Calibri"/>
              <a:sym typeface="Calibri"/>
            </a:endParaRPr>
          </a:p>
          <a:p>
            <a:pPr indent="-431800" lvl="1" marL="914400" rtl="0" algn="l">
              <a:spcBef>
                <a:spcPts val="0"/>
              </a:spcBef>
              <a:spcAft>
                <a:spcPts val="0"/>
              </a:spcAft>
              <a:buClr>
                <a:schemeClr val="dk1"/>
              </a:buClr>
              <a:buSzPts val="3200"/>
              <a:buFont typeface="Calibri"/>
              <a:buChar char="○"/>
            </a:pPr>
            <a:r>
              <a:rPr lang="en-US" sz="3200">
                <a:solidFill>
                  <a:schemeClr val="dk1"/>
                </a:solidFill>
                <a:latin typeface="Calibri"/>
                <a:ea typeface="Calibri"/>
                <a:cs typeface="Calibri"/>
                <a:sym typeface="Calibri"/>
              </a:rPr>
              <a:t>Set seed and run k-means clustering</a:t>
            </a:r>
            <a:endParaRPr sz="3200">
              <a:solidFill>
                <a:schemeClr val="dk1"/>
              </a:solidFill>
              <a:latin typeface="Calibri"/>
              <a:ea typeface="Calibri"/>
              <a:cs typeface="Calibri"/>
              <a:sym typeface="Calibri"/>
            </a:endParaRPr>
          </a:p>
          <a:p>
            <a:pPr indent="-431800" lvl="1" marL="914400" rtl="0" algn="l">
              <a:spcBef>
                <a:spcPts val="0"/>
              </a:spcBef>
              <a:spcAft>
                <a:spcPts val="0"/>
              </a:spcAft>
              <a:buClr>
                <a:schemeClr val="dk1"/>
              </a:buClr>
              <a:buSzPts val="3200"/>
              <a:buFont typeface="Calibri"/>
              <a:buChar char="○"/>
            </a:pPr>
            <a:r>
              <a:rPr lang="en-US" sz="3200">
                <a:solidFill>
                  <a:schemeClr val="dk1"/>
                </a:solidFill>
                <a:latin typeface="Calibri"/>
                <a:ea typeface="Calibri"/>
                <a:cs typeface="Calibri"/>
                <a:sym typeface="Calibri"/>
              </a:rPr>
              <a:t>Summarize each cluster’s characteristics</a:t>
            </a:r>
            <a:endParaRPr sz="3200">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grpSp>
        <p:nvGrpSpPr>
          <p:cNvPr id="396" name="Google Shape;396;g341d387c2eb_2_164"/>
          <p:cNvGrpSpPr/>
          <p:nvPr/>
        </p:nvGrpSpPr>
        <p:grpSpPr>
          <a:xfrm>
            <a:off x="0" y="-216996"/>
            <a:ext cx="18288118" cy="3173246"/>
            <a:chOff x="0" y="-57150"/>
            <a:chExt cx="4816592" cy="1254049"/>
          </a:xfrm>
        </p:grpSpPr>
        <p:sp>
          <p:nvSpPr>
            <p:cNvPr id="397" name="Google Shape;397;g341d387c2eb_2_164"/>
            <p:cNvSpPr/>
            <p:nvPr/>
          </p:nvSpPr>
          <p:spPr>
            <a:xfrm>
              <a:off x="0" y="0"/>
              <a:ext cx="4816592" cy="1196899"/>
            </a:xfrm>
            <a:custGeom>
              <a:rect b="b" l="l" r="r" t="t"/>
              <a:pathLst>
                <a:path extrusionOk="0" h="1196899" w="4816592">
                  <a:moveTo>
                    <a:pt x="0" y="0"/>
                  </a:moveTo>
                  <a:lnTo>
                    <a:pt x="4816592" y="0"/>
                  </a:lnTo>
                  <a:lnTo>
                    <a:pt x="4816592" y="1196899"/>
                  </a:lnTo>
                  <a:lnTo>
                    <a:pt x="0" y="1196899"/>
                  </a:lnTo>
                  <a:close/>
                </a:path>
              </a:pathLst>
            </a:custGeom>
            <a:solidFill>
              <a:srgbClr val="071C42"/>
            </a:solidFill>
            <a:ln>
              <a:noFill/>
            </a:ln>
          </p:spPr>
        </p:sp>
        <p:sp>
          <p:nvSpPr>
            <p:cNvPr id="398" name="Google Shape;398;g341d387c2eb_2_164"/>
            <p:cNvSpPr txBox="1"/>
            <p:nvPr/>
          </p:nvSpPr>
          <p:spPr>
            <a:xfrm>
              <a:off x="0" y="-57150"/>
              <a:ext cx="4816500" cy="12540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cxnSp>
        <p:nvCxnSpPr>
          <p:cNvPr id="399" name="Google Shape;399;g341d387c2eb_2_164"/>
          <p:cNvCxnSpPr/>
          <p:nvPr/>
        </p:nvCxnSpPr>
        <p:spPr>
          <a:xfrm>
            <a:off x="1028700" y="601417"/>
            <a:ext cx="16230600" cy="0"/>
          </a:xfrm>
          <a:prstGeom prst="straightConnector1">
            <a:avLst/>
          </a:prstGeom>
          <a:noFill/>
          <a:ln cap="flat" cmpd="sng" w="19050">
            <a:solidFill>
              <a:srgbClr val="D9D9D9"/>
            </a:solidFill>
            <a:prstDash val="solid"/>
            <a:round/>
            <a:headEnd len="sm" w="sm" type="none"/>
            <a:tailEnd len="sm" w="sm" type="none"/>
          </a:ln>
        </p:spPr>
      </p:cxnSp>
      <p:grpSp>
        <p:nvGrpSpPr>
          <p:cNvPr id="400" name="Google Shape;400;g341d387c2eb_2_164"/>
          <p:cNvGrpSpPr/>
          <p:nvPr/>
        </p:nvGrpSpPr>
        <p:grpSpPr>
          <a:xfrm>
            <a:off x="-225" y="2395770"/>
            <a:ext cx="9144454" cy="560483"/>
            <a:chOff x="0" y="-57150"/>
            <a:chExt cx="2408400" cy="147616"/>
          </a:xfrm>
        </p:grpSpPr>
        <p:sp>
          <p:nvSpPr>
            <p:cNvPr id="401" name="Google Shape;401;g341d387c2eb_2_164"/>
            <p:cNvSpPr/>
            <p:nvPr/>
          </p:nvSpPr>
          <p:spPr>
            <a:xfrm>
              <a:off x="0" y="0"/>
              <a:ext cx="2408296" cy="90466"/>
            </a:xfrm>
            <a:custGeom>
              <a:rect b="b" l="l" r="r" t="t"/>
              <a:pathLst>
                <a:path extrusionOk="0" h="90466" w="2408296">
                  <a:moveTo>
                    <a:pt x="0" y="0"/>
                  </a:moveTo>
                  <a:lnTo>
                    <a:pt x="2408296" y="0"/>
                  </a:lnTo>
                  <a:lnTo>
                    <a:pt x="2408296" y="90466"/>
                  </a:lnTo>
                  <a:lnTo>
                    <a:pt x="0" y="90466"/>
                  </a:lnTo>
                  <a:close/>
                </a:path>
              </a:pathLst>
            </a:custGeom>
            <a:solidFill>
              <a:srgbClr val="4DE1C7"/>
            </a:solidFill>
            <a:ln>
              <a:noFill/>
            </a:ln>
          </p:spPr>
        </p:sp>
        <p:sp>
          <p:nvSpPr>
            <p:cNvPr id="402" name="Google Shape;402;g341d387c2eb_2_164"/>
            <p:cNvSpPr txBox="1"/>
            <p:nvPr/>
          </p:nvSpPr>
          <p:spPr>
            <a:xfrm>
              <a:off x="0" y="-57150"/>
              <a:ext cx="2408400" cy="1476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403" name="Google Shape;403;g341d387c2eb_2_164"/>
          <p:cNvSpPr/>
          <p:nvPr/>
        </p:nvSpPr>
        <p:spPr>
          <a:xfrm rot="4689340">
            <a:off x="10301249" y="-1427487"/>
            <a:ext cx="13952441" cy="5389130"/>
          </a:xfrm>
          <a:custGeom>
            <a:rect b="b" l="l" r="r" t="t"/>
            <a:pathLst>
              <a:path extrusionOk="0" h="5395795" w="13969695">
                <a:moveTo>
                  <a:pt x="0" y="0"/>
                </a:moveTo>
                <a:lnTo>
                  <a:pt x="13969695" y="0"/>
                </a:lnTo>
                <a:lnTo>
                  <a:pt x="13969695" y="5395795"/>
                </a:lnTo>
                <a:lnTo>
                  <a:pt x="0" y="5395795"/>
                </a:lnTo>
                <a:lnTo>
                  <a:pt x="0" y="0"/>
                </a:lnTo>
                <a:close/>
              </a:path>
            </a:pathLst>
          </a:custGeom>
          <a:blipFill rotWithShape="1">
            <a:blip r:embed="rId3">
              <a:alphaModFix/>
            </a:blip>
            <a:stretch>
              <a:fillRect b="0" l="0" r="0" t="0"/>
            </a:stretch>
          </a:blipFill>
          <a:ln>
            <a:noFill/>
          </a:ln>
        </p:spPr>
      </p:sp>
      <p:sp>
        <p:nvSpPr>
          <p:cNvPr id="404" name="Google Shape;404;g341d387c2eb_2_164"/>
          <p:cNvSpPr txBox="1"/>
          <p:nvPr/>
        </p:nvSpPr>
        <p:spPr>
          <a:xfrm>
            <a:off x="1028702" y="748551"/>
            <a:ext cx="11071500" cy="861900"/>
          </a:xfrm>
          <a:prstGeom prst="rect">
            <a:avLst/>
          </a:prstGeom>
          <a:noFill/>
          <a:ln>
            <a:noFill/>
          </a:ln>
        </p:spPr>
        <p:txBody>
          <a:bodyPr anchorCtr="0" anchor="t" bIns="0" lIns="0" spcFirstLastPara="1" rIns="0" wrap="square" tIns="0">
            <a:spAutoFit/>
          </a:bodyPr>
          <a:lstStyle/>
          <a:p>
            <a:pPr indent="0" lvl="0" marL="0" marR="0" rtl="0" algn="l">
              <a:lnSpc>
                <a:spcPct val="120003"/>
              </a:lnSpc>
              <a:spcBef>
                <a:spcPts val="0"/>
              </a:spcBef>
              <a:spcAft>
                <a:spcPts val="0"/>
              </a:spcAft>
              <a:buNone/>
            </a:pPr>
            <a:r>
              <a:rPr b="1" i="0" lang="en-US" sz="5599" u="none" cap="none" strike="noStrike">
                <a:solidFill>
                  <a:srgbClr val="FFFFFF"/>
                </a:solidFill>
                <a:latin typeface="Poppins"/>
                <a:ea typeface="Poppins"/>
                <a:cs typeface="Poppins"/>
                <a:sym typeface="Poppins"/>
              </a:rPr>
              <a:t>SMART Question </a:t>
            </a:r>
            <a:r>
              <a:rPr b="1" lang="en-US" sz="5599">
                <a:solidFill>
                  <a:srgbClr val="FFFFFF"/>
                </a:solidFill>
                <a:latin typeface="Poppins"/>
                <a:ea typeface="Poppins"/>
                <a:cs typeface="Poppins"/>
                <a:sym typeface="Poppins"/>
              </a:rPr>
              <a:t>3</a:t>
            </a:r>
            <a:endParaRPr/>
          </a:p>
        </p:txBody>
      </p:sp>
      <p:sp>
        <p:nvSpPr>
          <p:cNvPr id="405" name="Google Shape;405;g341d387c2eb_2_164"/>
          <p:cNvSpPr txBox="1"/>
          <p:nvPr/>
        </p:nvSpPr>
        <p:spPr>
          <a:xfrm>
            <a:off x="918825" y="2956250"/>
            <a:ext cx="10127100" cy="75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3200">
                <a:solidFill>
                  <a:schemeClr val="dk1"/>
                </a:solidFill>
                <a:latin typeface="Calibri"/>
                <a:ea typeface="Calibri"/>
                <a:cs typeface="Calibri"/>
                <a:sym typeface="Calibri"/>
              </a:rPr>
              <a:t>Determining the </a:t>
            </a:r>
            <a:r>
              <a:rPr b="1" lang="en-US" sz="3200">
                <a:solidFill>
                  <a:schemeClr val="dk1"/>
                </a:solidFill>
                <a:latin typeface="Calibri"/>
                <a:ea typeface="Calibri"/>
                <a:cs typeface="Calibri"/>
                <a:sym typeface="Calibri"/>
              </a:rPr>
              <a:t>optimal number of clusters</a:t>
            </a:r>
            <a:endParaRPr b="1" sz="3200">
              <a:solidFill>
                <a:schemeClr val="dk1"/>
              </a:solidFill>
              <a:latin typeface="Calibri"/>
              <a:ea typeface="Calibri"/>
              <a:cs typeface="Calibri"/>
              <a:sym typeface="Calibri"/>
            </a:endParaRPr>
          </a:p>
        </p:txBody>
      </p:sp>
      <p:pic>
        <p:nvPicPr>
          <p:cNvPr id="406" name="Google Shape;406;g341d387c2eb_2_164"/>
          <p:cNvPicPr preferRelativeResize="0"/>
          <p:nvPr/>
        </p:nvPicPr>
        <p:blipFill>
          <a:blip r:embed="rId4">
            <a:alphaModFix/>
          </a:blip>
          <a:stretch>
            <a:fillRect/>
          </a:stretch>
        </p:blipFill>
        <p:spPr>
          <a:xfrm>
            <a:off x="-225" y="3827725"/>
            <a:ext cx="9419774" cy="5820075"/>
          </a:xfrm>
          <a:prstGeom prst="rect">
            <a:avLst/>
          </a:prstGeom>
          <a:noFill/>
          <a:ln>
            <a:noFill/>
          </a:ln>
        </p:spPr>
      </p:pic>
      <p:pic>
        <p:nvPicPr>
          <p:cNvPr id="407" name="Google Shape;407;g341d387c2eb_2_164"/>
          <p:cNvPicPr preferRelativeResize="0"/>
          <p:nvPr/>
        </p:nvPicPr>
        <p:blipFill>
          <a:blip r:embed="rId5">
            <a:alphaModFix/>
          </a:blip>
          <a:stretch>
            <a:fillRect/>
          </a:stretch>
        </p:blipFill>
        <p:spPr>
          <a:xfrm>
            <a:off x="8686879" y="3715250"/>
            <a:ext cx="9601795" cy="5932551"/>
          </a:xfrm>
          <a:prstGeom prst="rect">
            <a:avLst/>
          </a:prstGeom>
          <a:noFill/>
          <a:ln>
            <a:noFill/>
          </a:ln>
        </p:spPr>
      </p:pic>
      <p:sp>
        <p:nvSpPr>
          <p:cNvPr id="408" name="Google Shape;408;g341d387c2eb_2_164"/>
          <p:cNvSpPr txBox="1"/>
          <p:nvPr/>
        </p:nvSpPr>
        <p:spPr>
          <a:xfrm>
            <a:off x="339575" y="9609900"/>
            <a:ext cx="115056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100">
                <a:solidFill>
                  <a:schemeClr val="dk1"/>
                </a:solidFill>
                <a:latin typeface="Calibri"/>
                <a:ea typeface="Calibri"/>
                <a:cs typeface="Calibri"/>
                <a:sym typeface="Calibri"/>
              </a:rPr>
              <a:t>Based on the elbow curve AND the </a:t>
            </a:r>
            <a:r>
              <a:rPr lang="en-US" sz="2100">
                <a:solidFill>
                  <a:schemeClr val="dk1"/>
                </a:solidFill>
                <a:latin typeface="Calibri"/>
                <a:ea typeface="Calibri"/>
                <a:cs typeface="Calibri"/>
                <a:sym typeface="Calibri"/>
              </a:rPr>
              <a:t>silhouette</a:t>
            </a:r>
            <a:r>
              <a:rPr lang="en-US" sz="2100">
                <a:solidFill>
                  <a:schemeClr val="dk1"/>
                </a:solidFill>
                <a:latin typeface="Calibri"/>
                <a:ea typeface="Calibri"/>
                <a:cs typeface="Calibri"/>
                <a:sym typeface="Calibri"/>
              </a:rPr>
              <a:t> score, we chose k = 6</a:t>
            </a:r>
            <a:endParaRPr sz="2100">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grpSp>
        <p:nvGrpSpPr>
          <p:cNvPr id="413" name="Google Shape;413;g341d387c2eb_2_183"/>
          <p:cNvGrpSpPr/>
          <p:nvPr/>
        </p:nvGrpSpPr>
        <p:grpSpPr>
          <a:xfrm>
            <a:off x="0" y="-216996"/>
            <a:ext cx="18288118" cy="3173246"/>
            <a:chOff x="0" y="-57150"/>
            <a:chExt cx="4816592" cy="1254049"/>
          </a:xfrm>
        </p:grpSpPr>
        <p:sp>
          <p:nvSpPr>
            <p:cNvPr id="414" name="Google Shape;414;g341d387c2eb_2_183"/>
            <p:cNvSpPr/>
            <p:nvPr/>
          </p:nvSpPr>
          <p:spPr>
            <a:xfrm>
              <a:off x="0" y="0"/>
              <a:ext cx="4816592" cy="1196899"/>
            </a:xfrm>
            <a:custGeom>
              <a:rect b="b" l="l" r="r" t="t"/>
              <a:pathLst>
                <a:path extrusionOk="0" h="1196899" w="4816592">
                  <a:moveTo>
                    <a:pt x="0" y="0"/>
                  </a:moveTo>
                  <a:lnTo>
                    <a:pt x="4816592" y="0"/>
                  </a:lnTo>
                  <a:lnTo>
                    <a:pt x="4816592" y="1196899"/>
                  </a:lnTo>
                  <a:lnTo>
                    <a:pt x="0" y="1196899"/>
                  </a:lnTo>
                  <a:close/>
                </a:path>
              </a:pathLst>
            </a:custGeom>
            <a:solidFill>
              <a:srgbClr val="071C42"/>
            </a:solidFill>
            <a:ln>
              <a:noFill/>
            </a:ln>
          </p:spPr>
        </p:sp>
        <p:sp>
          <p:nvSpPr>
            <p:cNvPr id="415" name="Google Shape;415;g341d387c2eb_2_183"/>
            <p:cNvSpPr txBox="1"/>
            <p:nvPr/>
          </p:nvSpPr>
          <p:spPr>
            <a:xfrm>
              <a:off x="0" y="-57150"/>
              <a:ext cx="4816500" cy="12540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cxnSp>
        <p:nvCxnSpPr>
          <p:cNvPr id="416" name="Google Shape;416;g341d387c2eb_2_183"/>
          <p:cNvCxnSpPr/>
          <p:nvPr/>
        </p:nvCxnSpPr>
        <p:spPr>
          <a:xfrm>
            <a:off x="1028700" y="601417"/>
            <a:ext cx="16230600" cy="0"/>
          </a:xfrm>
          <a:prstGeom prst="straightConnector1">
            <a:avLst/>
          </a:prstGeom>
          <a:noFill/>
          <a:ln cap="flat" cmpd="sng" w="19050">
            <a:solidFill>
              <a:srgbClr val="D9D9D9"/>
            </a:solidFill>
            <a:prstDash val="solid"/>
            <a:round/>
            <a:headEnd len="sm" w="sm" type="none"/>
            <a:tailEnd len="sm" w="sm" type="none"/>
          </a:ln>
        </p:spPr>
      </p:cxnSp>
      <p:grpSp>
        <p:nvGrpSpPr>
          <p:cNvPr id="417" name="Google Shape;417;g341d387c2eb_2_183"/>
          <p:cNvGrpSpPr/>
          <p:nvPr/>
        </p:nvGrpSpPr>
        <p:grpSpPr>
          <a:xfrm>
            <a:off x="-225" y="2395770"/>
            <a:ext cx="9144454" cy="560483"/>
            <a:chOff x="0" y="-57150"/>
            <a:chExt cx="2408400" cy="147616"/>
          </a:xfrm>
        </p:grpSpPr>
        <p:sp>
          <p:nvSpPr>
            <p:cNvPr id="418" name="Google Shape;418;g341d387c2eb_2_183"/>
            <p:cNvSpPr/>
            <p:nvPr/>
          </p:nvSpPr>
          <p:spPr>
            <a:xfrm>
              <a:off x="0" y="0"/>
              <a:ext cx="2408296" cy="90466"/>
            </a:xfrm>
            <a:custGeom>
              <a:rect b="b" l="l" r="r" t="t"/>
              <a:pathLst>
                <a:path extrusionOk="0" h="90466" w="2408296">
                  <a:moveTo>
                    <a:pt x="0" y="0"/>
                  </a:moveTo>
                  <a:lnTo>
                    <a:pt x="2408296" y="0"/>
                  </a:lnTo>
                  <a:lnTo>
                    <a:pt x="2408296" y="90466"/>
                  </a:lnTo>
                  <a:lnTo>
                    <a:pt x="0" y="90466"/>
                  </a:lnTo>
                  <a:close/>
                </a:path>
              </a:pathLst>
            </a:custGeom>
            <a:solidFill>
              <a:srgbClr val="4DE1C7"/>
            </a:solidFill>
            <a:ln>
              <a:noFill/>
            </a:ln>
          </p:spPr>
        </p:sp>
        <p:sp>
          <p:nvSpPr>
            <p:cNvPr id="419" name="Google Shape;419;g341d387c2eb_2_183"/>
            <p:cNvSpPr txBox="1"/>
            <p:nvPr/>
          </p:nvSpPr>
          <p:spPr>
            <a:xfrm>
              <a:off x="0" y="-57150"/>
              <a:ext cx="2408400" cy="1476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420" name="Google Shape;420;g341d387c2eb_2_183"/>
          <p:cNvSpPr/>
          <p:nvPr/>
        </p:nvSpPr>
        <p:spPr>
          <a:xfrm rot="4689340">
            <a:off x="10301249" y="-1427487"/>
            <a:ext cx="13952441" cy="5389130"/>
          </a:xfrm>
          <a:custGeom>
            <a:rect b="b" l="l" r="r" t="t"/>
            <a:pathLst>
              <a:path extrusionOk="0" h="5395795" w="13969695">
                <a:moveTo>
                  <a:pt x="0" y="0"/>
                </a:moveTo>
                <a:lnTo>
                  <a:pt x="13969695" y="0"/>
                </a:lnTo>
                <a:lnTo>
                  <a:pt x="13969695" y="5395795"/>
                </a:lnTo>
                <a:lnTo>
                  <a:pt x="0" y="5395795"/>
                </a:lnTo>
                <a:lnTo>
                  <a:pt x="0" y="0"/>
                </a:lnTo>
                <a:close/>
              </a:path>
            </a:pathLst>
          </a:custGeom>
          <a:blipFill rotWithShape="1">
            <a:blip r:embed="rId3">
              <a:alphaModFix/>
            </a:blip>
            <a:stretch>
              <a:fillRect b="0" l="0" r="0" t="0"/>
            </a:stretch>
          </a:blipFill>
          <a:ln>
            <a:noFill/>
          </a:ln>
        </p:spPr>
      </p:sp>
      <p:sp>
        <p:nvSpPr>
          <p:cNvPr id="421" name="Google Shape;421;g341d387c2eb_2_183"/>
          <p:cNvSpPr txBox="1"/>
          <p:nvPr/>
        </p:nvSpPr>
        <p:spPr>
          <a:xfrm>
            <a:off x="1028702" y="748551"/>
            <a:ext cx="11071500" cy="861900"/>
          </a:xfrm>
          <a:prstGeom prst="rect">
            <a:avLst/>
          </a:prstGeom>
          <a:noFill/>
          <a:ln>
            <a:noFill/>
          </a:ln>
        </p:spPr>
        <p:txBody>
          <a:bodyPr anchorCtr="0" anchor="t" bIns="0" lIns="0" spcFirstLastPara="1" rIns="0" wrap="square" tIns="0">
            <a:spAutoFit/>
          </a:bodyPr>
          <a:lstStyle/>
          <a:p>
            <a:pPr indent="0" lvl="0" marL="0" marR="0" rtl="0" algn="l">
              <a:lnSpc>
                <a:spcPct val="120003"/>
              </a:lnSpc>
              <a:spcBef>
                <a:spcPts val="0"/>
              </a:spcBef>
              <a:spcAft>
                <a:spcPts val="0"/>
              </a:spcAft>
              <a:buNone/>
            </a:pPr>
            <a:r>
              <a:rPr b="1" i="0" lang="en-US" sz="5599" u="none" cap="none" strike="noStrike">
                <a:solidFill>
                  <a:srgbClr val="FFFFFF"/>
                </a:solidFill>
                <a:latin typeface="Poppins"/>
                <a:ea typeface="Poppins"/>
                <a:cs typeface="Poppins"/>
                <a:sym typeface="Poppins"/>
              </a:rPr>
              <a:t>SMART Question </a:t>
            </a:r>
            <a:r>
              <a:rPr b="1" lang="en-US" sz="5599">
                <a:solidFill>
                  <a:srgbClr val="FFFFFF"/>
                </a:solidFill>
                <a:latin typeface="Poppins"/>
                <a:ea typeface="Poppins"/>
                <a:cs typeface="Poppins"/>
                <a:sym typeface="Poppins"/>
              </a:rPr>
              <a:t>3</a:t>
            </a:r>
            <a:endParaRPr/>
          </a:p>
        </p:txBody>
      </p:sp>
      <p:sp>
        <p:nvSpPr>
          <p:cNvPr id="422" name="Google Shape;422;g341d387c2eb_2_183"/>
          <p:cNvSpPr txBox="1"/>
          <p:nvPr/>
        </p:nvSpPr>
        <p:spPr>
          <a:xfrm>
            <a:off x="627200" y="3049500"/>
            <a:ext cx="10127100" cy="75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3200">
                <a:solidFill>
                  <a:schemeClr val="dk1"/>
                </a:solidFill>
                <a:latin typeface="Calibri"/>
                <a:ea typeface="Calibri"/>
                <a:cs typeface="Calibri"/>
                <a:sym typeface="Calibri"/>
              </a:rPr>
              <a:t>Cluster Summary</a:t>
            </a:r>
            <a:endParaRPr b="1" sz="3200">
              <a:solidFill>
                <a:schemeClr val="dk1"/>
              </a:solidFill>
              <a:latin typeface="Calibri"/>
              <a:ea typeface="Calibri"/>
              <a:cs typeface="Calibri"/>
              <a:sym typeface="Calibri"/>
            </a:endParaRPr>
          </a:p>
        </p:txBody>
      </p:sp>
      <p:pic>
        <p:nvPicPr>
          <p:cNvPr id="423" name="Google Shape;423;g341d387c2eb_2_183"/>
          <p:cNvPicPr preferRelativeResize="0"/>
          <p:nvPr/>
        </p:nvPicPr>
        <p:blipFill>
          <a:blip r:embed="rId4">
            <a:alphaModFix/>
          </a:blip>
          <a:stretch>
            <a:fillRect/>
          </a:stretch>
        </p:blipFill>
        <p:spPr>
          <a:xfrm>
            <a:off x="8145075" y="3429000"/>
            <a:ext cx="10143042" cy="6266951"/>
          </a:xfrm>
          <a:prstGeom prst="rect">
            <a:avLst/>
          </a:prstGeom>
          <a:noFill/>
          <a:ln>
            <a:noFill/>
          </a:ln>
        </p:spPr>
      </p:pic>
      <p:graphicFrame>
        <p:nvGraphicFramePr>
          <p:cNvPr id="424" name="Google Shape;424;g341d387c2eb_2_183"/>
          <p:cNvGraphicFramePr/>
          <p:nvPr/>
        </p:nvGraphicFramePr>
        <p:xfrm>
          <a:off x="232300" y="3937425"/>
          <a:ext cx="3000000" cy="3000000"/>
        </p:xfrm>
        <a:graphic>
          <a:graphicData uri="http://schemas.openxmlformats.org/drawingml/2006/table">
            <a:tbl>
              <a:tblPr>
                <a:noFill/>
                <a:tableStyleId>{F586E2BA-46AD-47D7-B54C-4D726C516257}</a:tableStyleId>
              </a:tblPr>
              <a:tblGrid>
                <a:gridCol w="837625"/>
                <a:gridCol w="758050"/>
                <a:gridCol w="2233425"/>
                <a:gridCol w="2133750"/>
                <a:gridCol w="1635325"/>
              </a:tblGrid>
              <a:tr h="676600">
                <a:tc>
                  <a:txBody>
                    <a:bodyPr/>
                    <a:lstStyle/>
                    <a:p>
                      <a:pPr indent="0" lvl="0" marL="0" rtl="0" algn="l">
                        <a:spcBef>
                          <a:spcPts val="0"/>
                        </a:spcBef>
                        <a:spcAft>
                          <a:spcPts val="0"/>
                        </a:spcAft>
                        <a:buNone/>
                      </a:pPr>
                      <a:r>
                        <a:rPr b="1" lang="en-US"/>
                        <a:t>Cluster</a:t>
                      </a:r>
                      <a:endParaRPr b="1"/>
                    </a:p>
                  </a:txBody>
                  <a:tcPr marT="91425" marB="91425" marR="91425" marL="91425"/>
                </a:tc>
                <a:tc>
                  <a:txBody>
                    <a:bodyPr/>
                    <a:lstStyle/>
                    <a:p>
                      <a:pPr indent="0" lvl="0" marL="0" rtl="0" algn="l">
                        <a:spcBef>
                          <a:spcPts val="0"/>
                        </a:spcBef>
                        <a:spcAft>
                          <a:spcPts val="0"/>
                        </a:spcAft>
                        <a:buNone/>
                      </a:pPr>
                      <a:r>
                        <a:rPr b="1" lang="en-US"/>
                        <a:t>Count</a:t>
                      </a:r>
                      <a:endParaRPr b="1"/>
                    </a:p>
                  </a:txBody>
                  <a:tcPr marT="91425" marB="91425" marR="91425" marL="91425"/>
                </a:tc>
                <a:tc>
                  <a:txBody>
                    <a:bodyPr/>
                    <a:lstStyle/>
                    <a:p>
                      <a:pPr indent="0" lvl="0" marL="0" rtl="0" algn="l">
                        <a:spcBef>
                          <a:spcPts val="0"/>
                        </a:spcBef>
                        <a:spcAft>
                          <a:spcPts val="0"/>
                        </a:spcAft>
                        <a:buNone/>
                      </a:pPr>
                      <a:r>
                        <a:rPr b="1" lang="en-US"/>
                        <a:t>Avg_Workout_Duration</a:t>
                      </a:r>
                      <a:endParaRPr b="1"/>
                    </a:p>
                  </a:txBody>
                  <a:tcPr marT="91425" marB="91425" marR="91425" marL="91425"/>
                </a:tc>
                <a:tc>
                  <a:txBody>
                    <a:bodyPr/>
                    <a:lstStyle/>
                    <a:p>
                      <a:pPr indent="0" lvl="0" marL="0" rtl="0" algn="l">
                        <a:spcBef>
                          <a:spcPts val="0"/>
                        </a:spcBef>
                        <a:spcAft>
                          <a:spcPts val="0"/>
                        </a:spcAft>
                        <a:buNone/>
                      </a:pPr>
                      <a:r>
                        <a:rPr b="1" lang="en-US"/>
                        <a:t>Avg_Calories_Burned</a:t>
                      </a:r>
                      <a:endParaRPr b="1"/>
                    </a:p>
                  </a:txBody>
                  <a:tcPr marT="91425" marB="91425" marR="91425" marL="91425"/>
                </a:tc>
                <a:tc>
                  <a:txBody>
                    <a:bodyPr/>
                    <a:lstStyle/>
                    <a:p>
                      <a:pPr indent="0" lvl="0" marL="0" rtl="0" algn="l">
                        <a:spcBef>
                          <a:spcPts val="0"/>
                        </a:spcBef>
                        <a:spcAft>
                          <a:spcPts val="0"/>
                        </a:spcAft>
                        <a:buNone/>
                      </a:pPr>
                      <a:r>
                        <a:rPr b="1" lang="en-US"/>
                        <a:t>Avg_Heart_Rate</a:t>
                      </a:r>
                      <a:endParaRPr b="1"/>
                    </a:p>
                  </a:txBody>
                  <a:tcPr marT="91425" marB="91425" marR="91425" marL="91425"/>
                </a:tc>
              </a:tr>
              <a:tr h="762250">
                <a:tc>
                  <a:txBody>
                    <a:bodyPr/>
                    <a:lstStyle/>
                    <a:p>
                      <a:pPr indent="0" lvl="0" marL="0" rtl="0" algn="r">
                        <a:lnSpc>
                          <a:spcPct val="115000"/>
                        </a:lnSpc>
                        <a:spcBef>
                          <a:spcPts val="0"/>
                        </a:spcBef>
                        <a:spcAft>
                          <a:spcPts val="0"/>
                        </a:spcAft>
                        <a:buNone/>
                      </a:pPr>
                      <a:r>
                        <a:rPr b="1" lang="en-US" sz="1600"/>
                        <a:t>1</a:t>
                      </a:r>
                      <a:endParaRPr b="1" sz="1600"/>
                    </a:p>
                  </a:txBody>
                  <a:tcPr marT="91425" marB="91425" marR="91425" marL="91425"/>
                </a:tc>
                <a:tc>
                  <a:txBody>
                    <a:bodyPr/>
                    <a:lstStyle/>
                    <a:p>
                      <a:pPr indent="0" lvl="0" marL="0" rtl="0" algn="r">
                        <a:lnSpc>
                          <a:spcPct val="115000"/>
                        </a:lnSpc>
                        <a:spcBef>
                          <a:spcPts val="0"/>
                        </a:spcBef>
                        <a:spcAft>
                          <a:spcPts val="0"/>
                        </a:spcAft>
                        <a:buNone/>
                      </a:pPr>
                      <a:r>
                        <a:rPr b="1" lang="en-US" sz="1600"/>
                        <a:t>1664</a:t>
                      </a:r>
                      <a:endParaRPr b="1" sz="1600"/>
                    </a:p>
                  </a:txBody>
                  <a:tcPr marT="91425" marB="91425" marR="91425" marL="91425"/>
                </a:tc>
                <a:tc>
                  <a:txBody>
                    <a:bodyPr/>
                    <a:lstStyle/>
                    <a:p>
                      <a:pPr indent="0" lvl="0" marL="0" rtl="0" algn="r">
                        <a:lnSpc>
                          <a:spcPct val="115000"/>
                        </a:lnSpc>
                        <a:spcBef>
                          <a:spcPts val="0"/>
                        </a:spcBef>
                        <a:spcAft>
                          <a:spcPts val="0"/>
                        </a:spcAft>
                        <a:buNone/>
                      </a:pPr>
                      <a:r>
                        <a:rPr b="1" lang="en-US" sz="1600"/>
                        <a:t>72.56</a:t>
                      </a:r>
                      <a:endParaRPr b="1" sz="1600"/>
                    </a:p>
                  </a:txBody>
                  <a:tcPr marT="91425" marB="91425" marR="91425" marL="91425"/>
                </a:tc>
                <a:tc>
                  <a:txBody>
                    <a:bodyPr/>
                    <a:lstStyle/>
                    <a:p>
                      <a:pPr indent="0" lvl="0" marL="0" rtl="0" algn="r">
                        <a:lnSpc>
                          <a:spcPct val="115000"/>
                        </a:lnSpc>
                        <a:spcBef>
                          <a:spcPts val="0"/>
                        </a:spcBef>
                        <a:spcAft>
                          <a:spcPts val="0"/>
                        </a:spcAft>
                        <a:buNone/>
                      </a:pPr>
                      <a:r>
                        <a:rPr b="1" lang="en-US" sz="1600"/>
                        <a:t>292.66</a:t>
                      </a:r>
                      <a:endParaRPr b="1" sz="1600"/>
                    </a:p>
                  </a:txBody>
                  <a:tcPr marT="91425" marB="91425" marR="91425" marL="91425"/>
                </a:tc>
                <a:tc>
                  <a:txBody>
                    <a:bodyPr/>
                    <a:lstStyle/>
                    <a:p>
                      <a:pPr indent="0" lvl="0" marL="0" rtl="0" algn="r">
                        <a:lnSpc>
                          <a:spcPct val="115000"/>
                        </a:lnSpc>
                        <a:spcBef>
                          <a:spcPts val="0"/>
                        </a:spcBef>
                        <a:spcAft>
                          <a:spcPts val="0"/>
                        </a:spcAft>
                        <a:buNone/>
                      </a:pPr>
                      <a:r>
                        <a:rPr b="1" lang="en-US" sz="1600"/>
                        <a:t>157.92</a:t>
                      </a:r>
                      <a:endParaRPr b="1" sz="1600"/>
                    </a:p>
                  </a:txBody>
                  <a:tcPr marT="91425" marB="91425" marR="91425" marL="91425"/>
                </a:tc>
              </a:tr>
              <a:tr h="762250">
                <a:tc>
                  <a:txBody>
                    <a:bodyPr/>
                    <a:lstStyle/>
                    <a:p>
                      <a:pPr indent="0" lvl="0" marL="0" rtl="0" algn="r">
                        <a:lnSpc>
                          <a:spcPct val="115000"/>
                        </a:lnSpc>
                        <a:spcBef>
                          <a:spcPts val="0"/>
                        </a:spcBef>
                        <a:spcAft>
                          <a:spcPts val="0"/>
                        </a:spcAft>
                        <a:buNone/>
                      </a:pPr>
                      <a:r>
                        <a:rPr b="1" lang="en-US" sz="1600"/>
                        <a:t>2</a:t>
                      </a:r>
                      <a:endParaRPr b="1" sz="1600"/>
                    </a:p>
                  </a:txBody>
                  <a:tcPr marT="91425" marB="91425" marR="91425" marL="91425"/>
                </a:tc>
                <a:tc>
                  <a:txBody>
                    <a:bodyPr/>
                    <a:lstStyle/>
                    <a:p>
                      <a:pPr indent="0" lvl="0" marL="0" rtl="0" algn="r">
                        <a:lnSpc>
                          <a:spcPct val="115000"/>
                        </a:lnSpc>
                        <a:spcBef>
                          <a:spcPts val="0"/>
                        </a:spcBef>
                        <a:spcAft>
                          <a:spcPts val="0"/>
                        </a:spcAft>
                        <a:buNone/>
                      </a:pPr>
                      <a:r>
                        <a:rPr b="1" lang="en-US" sz="1600"/>
                        <a:t>1817</a:t>
                      </a:r>
                      <a:endParaRPr b="1" sz="1600"/>
                    </a:p>
                  </a:txBody>
                  <a:tcPr marT="91425" marB="91425" marR="91425" marL="91425"/>
                </a:tc>
                <a:tc>
                  <a:txBody>
                    <a:bodyPr/>
                    <a:lstStyle/>
                    <a:p>
                      <a:pPr indent="0" lvl="0" marL="0" rtl="0" algn="r">
                        <a:lnSpc>
                          <a:spcPct val="115000"/>
                        </a:lnSpc>
                        <a:spcBef>
                          <a:spcPts val="0"/>
                        </a:spcBef>
                        <a:spcAft>
                          <a:spcPts val="0"/>
                        </a:spcAft>
                        <a:buNone/>
                      </a:pPr>
                      <a:r>
                        <a:rPr b="1" lang="en-US" sz="1600"/>
                        <a:t>61.58</a:t>
                      </a:r>
                      <a:endParaRPr b="1" sz="1600"/>
                    </a:p>
                  </a:txBody>
                  <a:tcPr marT="91425" marB="91425" marR="91425" marL="91425"/>
                </a:tc>
                <a:tc>
                  <a:txBody>
                    <a:bodyPr/>
                    <a:lstStyle/>
                    <a:p>
                      <a:pPr indent="0" lvl="0" marL="0" rtl="0" algn="r">
                        <a:lnSpc>
                          <a:spcPct val="115000"/>
                        </a:lnSpc>
                        <a:spcBef>
                          <a:spcPts val="0"/>
                        </a:spcBef>
                        <a:spcAft>
                          <a:spcPts val="0"/>
                        </a:spcAft>
                        <a:buNone/>
                      </a:pPr>
                      <a:r>
                        <a:rPr b="1" lang="en-US" sz="1600"/>
                        <a:t>805.68</a:t>
                      </a:r>
                      <a:endParaRPr b="1" sz="1600"/>
                    </a:p>
                  </a:txBody>
                  <a:tcPr marT="91425" marB="91425" marR="91425" marL="91425"/>
                </a:tc>
                <a:tc>
                  <a:txBody>
                    <a:bodyPr/>
                    <a:lstStyle/>
                    <a:p>
                      <a:pPr indent="0" lvl="0" marL="0" rtl="0" algn="r">
                        <a:lnSpc>
                          <a:spcPct val="115000"/>
                        </a:lnSpc>
                        <a:spcBef>
                          <a:spcPts val="0"/>
                        </a:spcBef>
                        <a:spcAft>
                          <a:spcPts val="0"/>
                        </a:spcAft>
                        <a:buNone/>
                      </a:pPr>
                      <a:r>
                        <a:rPr b="1" lang="en-US" sz="1600"/>
                        <a:t>100.97</a:t>
                      </a:r>
                      <a:endParaRPr b="1" sz="1600"/>
                    </a:p>
                  </a:txBody>
                  <a:tcPr marT="91425" marB="91425" marR="91425" marL="91425"/>
                </a:tc>
              </a:tr>
              <a:tr h="762250">
                <a:tc>
                  <a:txBody>
                    <a:bodyPr/>
                    <a:lstStyle/>
                    <a:p>
                      <a:pPr indent="0" lvl="0" marL="0" rtl="0" algn="r">
                        <a:lnSpc>
                          <a:spcPct val="115000"/>
                        </a:lnSpc>
                        <a:spcBef>
                          <a:spcPts val="0"/>
                        </a:spcBef>
                        <a:spcAft>
                          <a:spcPts val="0"/>
                        </a:spcAft>
                        <a:buNone/>
                      </a:pPr>
                      <a:r>
                        <a:rPr b="1" lang="en-US" sz="1600"/>
                        <a:t>3</a:t>
                      </a:r>
                      <a:endParaRPr b="1" sz="1600"/>
                    </a:p>
                  </a:txBody>
                  <a:tcPr marT="91425" marB="91425" marR="91425" marL="91425"/>
                </a:tc>
                <a:tc>
                  <a:txBody>
                    <a:bodyPr/>
                    <a:lstStyle/>
                    <a:p>
                      <a:pPr indent="0" lvl="0" marL="0" rtl="0" algn="r">
                        <a:lnSpc>
                          <a:spcPct val="115000"/>
                        </a:lnSpc>
                        <a:spcBef>
                          <a:spcPts val="0"/>
                        </a:spcBef>
                        <a:spcAft>
                          <a:spcPts val="0"/>
                        </a:spcAft>
                        <a:buNone/>
                      </a:pPr>
                      <a:r>
                        <a:rPr b="1" lang="en-US" sz="1600"/>
                        <a:t>1683</a:t>
                      </a:r>
                      <a:endParaRPr b="1" sz="1600"/>
                    </a:p>
                  </a:txBody>
                  <a:tcPr marT="91425" marB="91425" marR="91425" marL="91425"/>
                </a:tc>
                <a:tc>
                  <a:txBody>
                    <a:bodyPr/>
                    <a:lstStyle/>
                    <a:p>
                      <a:pPr indent="0" lvl="0" marL="0" rtl="0" algn="r">
                        <a:lnSpc>
                          <a:spcPct val="115000"/>
                        </a:lnSpc>
                        <a:spcBef>
                          <a:spcPts val="0"/>
                        </a:spcBef>
                        <a:spcAft>
                          <a:spcPts val="0"/>
                        </a:spcAft>
                        <a:buNone/>
                      </a:pPr>
                      <a:r>
                        <a:rPr b="1" lang="en-US" sz="1600"/>
                        <a:t>33.35</a:t>
                      </a:r>
                      <a:endParaRPr b="1" sz="1600"/>
                    </a:p>
                  </a:txBody>
                  <a:tcPr marT="91425" marB="91425" marR="91425" marL="91425"/>
                </a:tc>
                <a:tc>
                  <a:txBody>
                    <a:bodyPr/>
                    <a:lstStyle/>
                    <a:p>
                      <a:pPr indent="0" lvl="0" marL="0" rtl="0" algn="r">
                        <a:lnSpc>
                          <a:spcPct val="115000"/>
                        </a:lnSpc>
                        <a:spcBef>
                          <a:spcPts val="0"/>
                        </a:spcBef>
                        <a:spcAft>
                          <a:spcPts val="0"/>
                        </a:spcAft>
                        <a:buNone/>
                      </a:pPr>
                      <a:r>
                        <a:rPr b="1" lang="en-US" sz="1600"/>
                        <a:t>718.77</a:t>
                      </a:r>
                      <a:endParaRPr b="1" sz="1600"/>
                    </a:p>
                  </a:txBody>
                  <a:tcPr marT="91425" marB="91425" marR="91425" marL="91425"/>
                </a:tc>
                <a:tc>
                  <a:txBody>
                    <a:bodyPr/>
                    <a:lstStyle/>
                    <a:p>
                      <a:pPr indent="0" lvl="0" marL="0" rtl="0" algn="r">
                        <a:lnSpc>
                          <a:spcPct val="115000"/>
                        </a:lnSpc>
                        <a:spcBef>
                          <a:spcPts val="0"/>
                        </a:spcBef>
                        <a:spcAft>
                          <a:spcPts val="0"/>
                        </a:spcAft>
                        <a:buNone/>
                      </a:pPr>
                      <a:r>
                        <a:rPr b="1" lang="en-US" sz="1600"/>
                        <a:t>153.06</a:t>
                      </a:r>
                      <a:endParaRPr b="1" sz="1600"/>
                    </a:p>
                  </a:txBody>
                  <a:tcPr marT="91425" marB="91425" marR="91425" marL="91425"/>
                </a:tc>
              </a:tr>
              <a:tr h="762250">
                <a:tc>
                  <a:txBody>
                    <a:bodyPr/>
                    <a:lstStyle/>
                    <a:p>
                      <a:pPr indent="0" lvl="0" marL="0" rtl="0" algn="r">
                        <a:lnSpc>
                          <a:spcPct val="115000"/>
                        </a:lnSpc>
                        <a:spcBef>
                          <a:spcPts val="0"/>
                        </a:spcBef>
                        <a:spcAft>
                          <a:spcPts val="0"/>
                        </a:spcAft>
                        <a:buNone/>
                      </a:pPr>
                      <a:r>
                        <a:rPr b="1" lang="en-US" sz="1600"/>
                        <a:t>4</a:t>
                      </a:r>
                      <a:endParaRPr b="1" sz="1600"/>
                    </a:p>
                  </a:txBody>
                  <a:tcPr marT="91425" marB="91425" marR="91425" marL="91425"/>
                </a:tc>
                <a:tc>
                  <a:txBody>
                    <a:bodyPr/>
                    <a:lstStyle/>
                    <a:p>
                      <a:pPr indent="0" lvl="0" marL="0" rtl="0" algn="r">
                        <a:lnSpc>
                          <a:spcPct val="115000"/>
                        </a:lnSpc>
                        <a:spcBef>
                          <a:spcPts val="0"/>
                        </a:spcBef>
                        <a:spcAft>
                          <a:spcPts val="0"/>
                        </a:spcAft>
                        <a:buNone/>
                      </a:pPr>
                      <a:r>
                        <a:rPr b="1" lang="en-US" sz="1600"/>
                        <a:t>1598</a:t>
                      </a:r>
                      <a:endParaRPr b="1" sz="1600"/>
                    </a:p>
                  </a:txBody>
                  <a:tcPr marT="91425" marB="91425" marR="91425" marL="91425"/>
                </a:tc>
                <a:tc>
                  <a:txBody>
                    <a:bodyPr/>
                    <a:lstStyle/>
                    <a:p>
                      <a:pPr indent="0" lvl="0" marL="0" rtl="0" algn="r">
                        <a:lnSpc>
                          <a:spcPct val="115000"/>
                        </a:lnSpc>
                        <a:spcBef>
                          <a:spcPts val="0"/>
                        </a:spcBef>
                        <a:spcAft>
                          <a:spcPts val="0"/>
                        </a:spcAft>
                        <a:buNone/>
                      </a:pPr>
                      <a:r>
                        <a:rPr b="1" lang="en-US" sz="1600"/>
                        <a:t>94.82</a:t>
                      </a:r>
                      <a:endParaRPr b="1" sz="1600"/>
                    </a:p>
                  </a:txBody>
                  <a:tcPr marT="91425" marB="91425" marR="91425" marL="91425"/>
                </a:tc>
                <a:tc>
                  <a:txBody>
                    <a:bodyPr/>
                    <a:lstStyle/>
                    <a:p>
                      <a:pPr indent="0" lvl="0" marL="0" rtl="0" algn="r">
                        <a:lnSpc>
                          <a:spcPct val="115000"/>
                        </a:lnSpc>
                        <a:spcBef>
                          <a:spcPts val="0"/>
                        </a:spcBef>
                        <a:spcAft>
                          <a:spcPts val="0"/>
                        </a:spcAft>
                        <a:buNone/>
                      </a:pPr>
                      <a:r>
                        <a:rPr b="1" lang="en-US" sz="1600"/>
                        <a:t>761.76</a:t>
                      </a:r>
                      <a:endParaRPr b="1" sz="1600"/>
                    </a:p>
                  </a:txBody>
                  <a:tcPr marT="91425" marB="91425" marR="91425" marL="91425"/>
                </a:tc>
                <a:tc>
                  <a:txBody>
                    <a:bodyPr/>
                    <a:lstStyle/>
                    <a:p>
                      <a:pPr indent="0" lvl="0" marL="0" rtl="0" algn="r">
                        <a:lnSpc>
                          <a:spcPct val="115000"/>
                        </a:lnSpc>
                        <a:spcBef>
                          <a:spcPts val="0"/>
                        </a:spcBef>
                        <a:spcAft>
                          <a:spcPts val="0"/>
                        </a:spcAft>
                        <a:buNone/>
                      </a:pPr>
                      <a:r>
                        <a:rPr b="1" lang="en-US" sz="1600"/>
                        <a:t>149.43</a:t>
                      </a:r>
                      <a:endParaRPr b="1" sz="1600"/>
                    </a:p>
                  </a:txBody>
                  <a:tcPr marT="91425" marB="91425" marR="91425" marL="91425"/>
                </a:tc>
              </a:tr>
              <a:tr h="762250">
                <a:tc>
                  <a:txBody>
                    <a:bodyPr/>
                    <a:lstStyle/>
                    <a:p>
                      <a:pPr indent="0" lvl="0" marL="0" rtl="0" algn="r">
                        <a:lnSpc>
                          <a:spcPct val="115000"/>
                        </a:lnSpc>
                        <a:spcBef>
                          <a:spcPts val="0"/>
                        </a:spcBef>
                        <a:spcAft>
                          <a:spcPts val="0"/>
                        </a:spcAft>
                        <a:buNone/>
                      </a:pPr>
                      <a:r>
                        <a:rPr b="1" lang="en-US" sz="1600"/>
                        <a:t>5</a:t>
                      </a:r>
                      <a:endParaRPr b="1" sz="1600"/>
                    </a:p>
                  </a:txBody>
                  <a:tcPr marT="91425" marB="91425" marR="91425" marL="91425"/>
                </a:tc>
                <a:tc>
                  <a:txBody>
                    <a:bodyPr/>
                    <a:lstStyle/>
                    <a:p>
                      <a:pPr indent="0" lvl="0" marL="0" rtl="0" algn="r">
                        <a:lnSpc>
                          <a:spcPct val="115000"/>
                        </a:lnSpc>
                        <a:spcBef>
                          <a:spcPts val="0"/>
                        </a:spcBef>
                        <a:spcAft>
                          <a:spcPts val="0"/>
                        </a:spcAft>
                        <a:buNone/>
                      </a:pPr>
                      <a:r>
                        <a:rPr b="1" lang="en-US" sz="1600"/>
                        <a:t>1660</a:t>
                      </a:r>
                      <a:endParaRPr b="1" sz="1600"/>
                    </a:p>
                  </a:txBody>
                  <a:tcPr marT="91425" marB="91425" marR="91425" marL="91425"/>
                </a:tc>
                <a:tc>
                  <a:txBody>
                    <a:bodyPr/>
                    <a:lstStyle/>
                    <a:p>
                      <a:pPr indent="0" lvl="0" marL="0" rtl="0" algn="r">
                        <a:lnSpc>
                          <a:spcPct val="115000"/>
                        </a:lnSpc>
                        <a:spcBef>
                          <a:spcPts val="0"/>
                        </a:spcBef>
                        <a:spcAft>
                          <a:spcPts val="0"/>
                        </a:spcAft>
                        <a:buNone/>
                      </a:pPr>
                      <a:r>
                        <a:rPr b="1" lang="en-US" sz="1600"/>
                        <a:t>33.64</a:t>
                      </a:r>
                      <a:endParaRPr b="1" sz="1600"/>
                    </a:p>
                  </a:txBody>
                  <a:tcPr marT="91425" marB="91425" marR="91425" marL="91425"/>
                </a:tc>
                <a:tc>
                  <a:txBody>
                    <a:bodyPr/>
                    <a:lstStyle/>
                    <a:p>
                      <a:pPr indent="0" lvl="0" marL="0" rtl="0" algn="r">
                        <a:lnSpc>
                          <a:spcPct val="115000"/>
                        </a:lnSpc>
                        <a:spcBef>
                          <a:spcPts val="0"/>
                        </a:spcBef>
                        <a:spcAft>
                          <a:spcPts val="0"/>
                        </a:spcAft>
                        <a:buNone/>
                      </a:pPr>
                      <a:r>
                        <a:rPr b="1" lang="en-US" sz="1600"/>
                        <a:t>341.49</a:t>
                      </a:r>
                      <a:endParaRPr b="1" sz="1600"/>
                    </a:p>
                  </a:txBody>
                  <a:tcPr marT="91425" marB="91425" marR="91425" marL="91425"/>
                </a:tc>
                <a:tc>
                  <a:txBody>
                    <a:bodyPr/>
                    <a:lstStyle/>
                    <a:p>
                      <a:pPr indent="0" lvl="0" marL="0" rtl="0" algn="r">
                        <a:lnSpc>
                          <a:spcPct val="115000"/>
                        </a:lnSpc>
                        <a:spcBef>
                          <a:spcPts val="0"/>
                        </a:spcBef>
                        <a:spcAft>
                          <a:spcPts val="0"/>
                        </a:spcAft>
                        <a:buNone/>
                      </a:pPr>
                      <a:r>
                        <a:rPr b="1" lang="en-US" sz="1600"/>
                        <a:t>111.7</a:t>
                      </a:r>
                      <a:endParaRPr b="1" sz="1600"/>
                    </a:p>
                  </a:txBody>
                  <a:tcPr marT="91425" marB="91425" marR="91425" marL="91425"/>
                </a:tc>
              </a:tr>
              <a:tr h="762250">
                <a:tc>
                  <a:txBody>
                    <a:bodyPr/>
                    <a:lstStyle/>
                    <a:p>
                      <a:pPr indent="0" lvl="0" marL="0" rtl="0" algn="r">
                        <a:lnSpc>
                          <a:spcPct val="115000"/>
                        </a:lnSpc>
                        <a:spcBef>
                          <a:spcPts val="0"/>
                        </a:spcBef>
                        <a:spcAft>
                          <a:spcPts val="0"/>
                        </a:spcAft>
                        <a:buNone/>
                      </a:pPr>
                      <a:r>
                        <a:rPr b="1" lang="en-US" sz="1600"/>
                        <a:t>6</a:t>
                      </a:r>
                      <a:endParaRPr b="1" sz="1600"/>
                    </a:p>
                  </a:txBody>
                  <a:tcPr marT="91425" marB="91425" marR="91425" marL="91425"/>
                </a:tc>
                <a:tc>
                  <a:txBody>
                    <a:bodyPr/>
                    <a:lstStyle/>
                    <a:p>
                      <a:pPr indent="0" lvl="0" marL="0" rtl="0" algn="r">
                        <a:lnSpc>
                          <a:spcPct val="115000"/>
                        </a:lnSpc>
                        <a:spcBef>
                          <a:spcPts val="0"/>
                        </a:spcBef>
                        <a:spcAft>
                          <a:spcPts val="0"/>
                        </a:spcAft>
                        <a:buNone/>
                      </a:pPr>
                      <a:r>
                        <a:rPr b="1" lang="en-US" sz="1600"/>
                        <a:t>1578</a:t>
                      </a:r>
                      <a:endParaRPr b="1" sz="1600"/>
                    </a:p>
                  </a:txBody>
                  <a:tcPr marT="91425" marB="91425" marR="91425" marL="91425"/>
                </a:tc>
                <a:tc>
                  <a:txBody>
                    <a:bodyPr/>
                    <a:lstStyle/>
                    <a:p>
                      <a:pPr indent="0" lvl="0" marL="0" rtl="0" algn="r">
                        <a:lnSpc>
                          <a:spcPct val="115000"/>
                        </a:lnSpc>
                        <a:spcBef>
                          <a:spcPts val="0"/>
                        </a:spcBef>
                        <a:spcAft>
                          <a:spcPts val="0"/>
                        </a:spcAft>
                        <a:buNone/>
                      </a:pPr>
                      <a:r>
                        <a:rPr b="1" lang="en-US" sz="1600"/>
                        <a:t>94.12</a:t>
                      </a:r>
                      <a:endParaRPr b="1" sz="1600"/>
                    </a:p>
                  </a:txBody>
                  <a:tcPr marT="91425" marB="91425" marR="91425" marL="91425"/>
                </a:tc>
                <a:tc>
                  <a:txBody>
                    <a:bodyPr/>
                    <a:lstStyle/>
                    <a:p>
                      <a:pPr indent="0" lvl="0" marL="0" rtl="0" algn="r">
                        <a:lnSpc>
                          <a:spcPct val="115000"/>
                        </a:lnSpc>
                        <a:spcBef>
                          <a:spcPts val="0"/>
                        </a:spcBef>
                        <a:spcAft>
                          <a:spcPts val="0"/>
                        </a:spcAft>
                        <a:buNone/>
                      </a:pPr>
                      <a:r>
                        <a:rPr b="1" lang="en-US" sz="1600"/>
                        <a:t>365.18</a:t>
                      </a:r>
                      <a:endParaRPr b="1" sz="1600"/>
                    </a:p>
                  </a:txBody>
                  <a:tcPr marT="91425" marB="91425" marR="91425" marL="91425"/>
                </a:tc>
                <a:tc>
                  <a:txBody>
                    <a:bodyPr/>
                    <a:lstStyle/>
                    <a:p>
                      <a:pPr indent="0" lvl="0" marL="0" rtl="0" algn="r">
                        <a:lnSpc>
                          <a:spcPct val="115000"/>
                        </a:lnSpc>
                        <a:spcBef>
                          <a:spcPts val="0"/>
                        </a:spcBef>
                        <a:spcAft>
                          <a:spcPts val="0"/>
                        </a:spcAft>
                        <a:buNone/>
                      </a:pPr>
                      <a:r>
                        <a:rPr b="1" lang="en-US" sz="1600"/>
                        <a:t>105.96</a:t>
                      </a:r>
                      <a:endParaRPr b="1" sz="1600"/>
                    </a:p>
                  </a:txBody>
                  <a:tcPr marT="91425" marB="91425" marR="91425" marL="91425"/>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grpSp>
        <p:nvGrpSpPr>
          <p:cNvPr id="429" name="Google Shape;429;g341d387c2eb_2_202"/>
          <p:cNvGrpSpPr/>
          <p:nvPr/>
        </p:nvGrpSpPr>
        <p:grpSpPr>
          <a:xfrm>
            <a:off x="0" y="-216996"/>
            <a:ext cx="18288118" cy="3173246"/>
            <a:chOff x="0" y="-57150"/>
            <a:chExt cx="4816592" cy="1254049"/>
          </a:xfrm>
        </p:grpSpPr>
        <p:sp>
          <p:nvSpPr>
            <p:cNvPr id="430" name="Google Shape;430;g341d387c2eb_2_202"/>
            <p:cNvSpPr/>
            <p:nvPr/>
          </p:nvSpPr>
          <p:spPr>
            <a:xfrm>
              <a:off x="0" y="0"/>
              <a:ext cx="4816592" cy="1196899"/>
            </a:xfrm>
            <a:custGeom>
              <a:rect b="b" l="l" r="r" t="t"/>
              <a:pathLst>
                <a:path extrusionOk="0" h="1196899" w="4816592">
                  <a:moveTo>
                    <a:pt x="0" y="0"/>
                  </a:moveTo>
                  <a:lnTo>
                    <a:pt x="4816592" y="0"/>
                  </a:lnTo>
                  <a:lnTo>
                    <a:pt x="4816592" y="1196899"/>
                  </a:lnTo>
                  <a:lnTo>
                    <a:pt x="0" y="1196899"/>
                  </a:lnTo>
                  <a:close/>
                </a:path>
              </a:pathLst>
            </a:custGeom>
            <a:solidFill>
              <a:srgbClr val="071C42"/>
            </a:solidFill>
            <a:ln>
              <a:noFill/>
            </a:ln>
          </p:spPr>
        </p:sp>
        <p:sp>
          <p:nvSpPr>
            <p:cNvPr id="431" name="Google Shape;431;g341d387c2eb_2_202"/>
            <p:cNvSpPr txBox="1"/>
            <p:nvPr/>
          </p:nvSpPr>
          <p:spPr>
            <a:xfrm>
              <a:off x="0" y="-57150"/>
              <a:ext cx="4816500" cy="12540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cxnSp>
        <p:nvCxnSpPr>
          <p:cNvPr id="432" name="Google Shape;432;g341d387c2eb_2_202"/>
          <p:cNvCxnSpPr/>
          <p:nvPr/>
        </p:nvCxnSpPr>
        <p:spPr>
          <a:xfrm>
            <a:off x="1028700" y="601417"/>
            <a:ext cx="16230600" cy="0"/>
          </a:xfrm>
          <a:prstGeom prst="straightConnector1">
            <a:avLst/>
          </a:prstGeom>
          <a:noFill/>
          <a:ln cap="flat" cmpd="sng" w="19050">
            <a:solidFill>
              <a:srgbClr val="D9D9D9"/>
            </a:solidFill>
            <a:prstDash val="solid"/>
            <a:round/>
            <a:headEnd len="sm" w="sm" type="none"/>
            <a:tailEnd len="sm" w="sm" type="none"/>
          </a:ln>
        </p:spPr>
      </p:cxnSp>
      <p:grpSp>
        <p:nvGrpSpPr>
          <p:cNvPr id="433" name="Google Shape;433;g341d387c2eb_2_202"/>
          <p:cNvGrpSpPr/>
          <p:nvPr/>
        </p:nvGrpSpPr>
        <p:grpSpPr>
          <a:xfrm>
            <a:off x="-225" y="2395770"/>
            <a:ext cx="9144454" cy="560483"/>
            <a:chOff x="0" y="-57150"/>
            <a:chExt cx="2408400" cy="147616"/>
          </a:xfrm>
        </p:grpSpPr>
        <p:sp>
          <p:nvSpPr>
            <p:cNvPr id="434" name="Google Shape;434;g341d387c2eb_2_202"/>
            <p:cNvSpPr/>
            <p:nvPr/>
          </p:nvSpPr>
          <p:spPr>
            <a:xfrm>
              <a:off x="0" y="0"/>
              <a:ext cx="2408296" cy="90466"/>
            </a:xfrm>
            <a:custGeom>
              <a:rect b="b" l="l" r="r" t="t"/>
              <a:pathLst>
                <a:path extrusionOk="0" h="90466" w="2408296">
                  <a:moveTo>
                    <a:pt x="0" y="0"/>
                  </a:moveTo>
                  <a:lnTo>
                    <a:pt x="2408296" y="0"/>
                  </a:lnTo>
                  <a:lnTo>
                    <a:pt x="2408296" y="90466"/>
                  </a:lnTo>
                  <a:lnTo>
                    <a:pt x="0" y="90466"/>
                  </a:lnTo>
                  <a:close/>
                </a:path>
              </a:pathLst>
            </a:custGeom>
            <a:solidFill>
              <a:srgbClr val="4DE1C7"/>
            </a:solidFill>
            <a:ln>
              <a:noFill/>
            </a:ln>
          </p:spPr>
        </p:sp>
        <p:sp>
          <p:nvSpPr>
            <p:cNvPr id="435" name="Google Shape;435;g341d387c2eb_2_202"/>
            <p:cNvSpPr txBox="1"/>
            <p:nvPr/>
          </p:nvSpPr>
          <p:spPr>
            <a:xfrm>
              <a:off x="0" y="-57150"/>
              <a:ext cx="2408400" cy="1476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436" name="Google Shape;436;g341d387c2eb_2_202"/>
          <p:cNvSpPr/>
          <p:nvPr/>
        </p:nvSpPr>
        <p:spPr>
          <a:xfrm rot="4689340">
            <a:off x="10301249" y="-1427487"/>
            <a:ext cx="13952441" cy="5389130"/>
          </a:xfrm>
          <a:custGeom>
            <a:rect b="b" l="l" r="r" t="t"/>
            <a:pathLst>
              <a:path extrusionOk="0" h="5395795" w="13969695">
                <a:moveTo>
                  <a:pt x="0" y="0"/>
                </a:moveTo>
                <a:lnTo>
                  <a:pt x="13969695" y="0"/>
                </a:lnTo>
                <a:lnTo>
                  <a:pt x="13969695" y="5395795"/>
                </a:lnTo>
                <a:lnTo>
                  <a:pt x="0" y="5395795"/>
                </a:lnTo>
                <a:lnTo>
                  <a:pt x="0" y="0"/>
                </a:lnTo>
                <a:close/>
              </a:path>
            </a:pathLst>
          </a:custGeom>
          <a:blipFill rotWithShape="1">
            <a:blip r:embed="rId3">
              <a:alphaModFix/>
            </a:blip>
            <a:stretch>
              <a:fillRect b="0" l="0" r="0" t="0"/>
            </a:stretch>
          </a:blipFill>
          <a:ln>
            <a:noFill/>
          </a:ln>
        </p:spPr>
      </p:sp>
      <p:sp>
        <p:nvSpPr>
          <p:cNvPr id="437" name="Google Shape;437;g341d387c2eb_2_202"/>
          <p:cNvSpPr txBox="1"/>
          <p:nvPr/>
        </p:nvSpPr>
        <p:spPr>
          <a:xfrm>
            <a:off x="1028702" y="748551"/>
            <a:ext cx="11071500" cy="861900"/>
          </a:xfrm>
          <a:prstGeom prst="rect">
            <a:avLst/>
          </a:prstGeom>
          <a:noFill/>
          <a:ln>
            <a:noFill/>
          </a:ln>
        </p:spPr>
        <p:txBody>
          <a:bodyPr anchorCtr="0" anchor="t" bIns="0" lIns="0" spcFirstLastPara="1" rIns="0" wrap="square" tIns="0">
            <a:spAutoFit/>
          </a:bodyPr>
          <a:lstStyle/>
          <a:p>
            <a:pPr indent="0" lvl="0" marL="0" marR="0" rtl="0" algn="l">
              <a:lnSpc>
                <a:spcPct val="120003"/>
              </a:lnSpc>
              <a:spcBef>
                <a:spcPts val="0"/>
              </a:spcBef>
              <a:spcAft>
                <a:spcPts val="0"/>
              </a:spcAft>
              <a:buNone/>
            </a:pPr>
            <a:r>
              <a:rPr b="1" i="0" lang="en-US" sz="5599" u="none" cap="none" strike="noStrike">
                <a:solidFill>
                  <a:srgbClr val="FFFFFF"/>
                </a:solidFill>
                <a:latin typeface="Poppins"/>
                <a:ea typeface="Poppins"/>
                <a:cs typeface="Poppins"/>
                <a:sym typeface="Poppins"/>
              </a:rPr>
              <a:t>SMART Question </a:t>
            </a:r>
            <a:r>
              <a:rPr b="1" lang="en-US" sz="5599">
                <a:solidFill>
                  <a:srgbClr val="FFFFFF"/>
                </a:solidFill>
                <a:latin typeface="Poppins"/>
                <a:ea typeface="Poppins"/>
                <a:cs typeface="Poppins"/>
                <a:sym typeface="Poppins"/>
              </a:rPr>
              <a:t>3</a:t>
            </a:r>
            <a:endParaRPr/>
          </a:p>
        </p:txBody>
      </p:sp>
      <p:sp>
        <p:nvSpPr>
          <p:cNvPr id="438" name="Google Shape;438;g341d387c2eb_2_202"/>
          <p:cNvSpPr txBox="1"/>
          <p:nvPr/>
        </p:nvSpPr>
        <p:spPr>
          <a:xfrm>
            <a:off x="1158525" y="3036175"/>
            <a:ext cx="7890000" cy="8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3200">
                <a:solidFill>
                  <a:schemeClr val="dk1"/>
                </a:solidFill>
                <a:latin typeface="Calibri"/>
                <a:ea typeface="Calibri"/>
                <a:cs typeface="Calibri"/>
                <a:sym typeface="Calibri"/>
              </a:rPr>
              <a:t>Results: Cluster characteristics</a:t>
            </a:r>
            <a:endParaRPr b="1" sz="3200">
              <a:solidFill>
                <a:schemeClr val="dk1"/>
              </a:solidFill>
              <a:latin typeface="Calibri"/>
              <a:ea typeface="Calibri"/>
              <a:cs typeface="Calibri"/>
              <a:sym typeface="Calibri"/>
            </a:endParaRPr>
          </a:p>
        </p:txBody>
      </p:sp>
      <p:sp>
        <p:nvSpPr>
          <p:cNvPr id="439" name="Google Shape;439;g341d387c2eb_2_202"/>
          <p:cNvSpPr txBox="1"/>
          <p:nvPr/>
        </p:nvSpPr>
        <p:spPr>
          <a:xfrm>
            <a:off x="1158525" y="3675350"/>
            <a:ext cx="11605500" cy="599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US" sz="2100">
                <a:solidFill>
                  <a:schemeClr val="dk1"/>
                </a:solidFill>
              </a:rPr>
              <a:t>Cluster 1</a:t>
            </a:r>
            <a:r>
              <a:rPr lang="en-US" sz="2100">
                <a:solidFill>
                  <a:schemeClr val="dk1"/>
                </a:solidFill>
              </a:rPr>
              <a:t> </a:t>
            </a:r>
            <a:r>
              <a:rPr i="1" lang="en-US" sz="2100">
                <a:solidFill>
                  <a:schemeClr val="dk1"/>
                </a:solidFill>
              </a:rPr>
              <a:t>(Moderate Duration, Low Calorie, High Intensity)</a:t>
            </a:r>
            <a:r>
              <a:rPr lang="en-US" sz="2100">
                <a:solidFill>
                  <a:schemeClr val="dk1"/>
                </a:solidFill>
              </a:rPr>
              <a:t>:</a:t>
            </a:r>
            <a:endParaRPr sz="2100">
              <a:solidFill>
                <a:schemeClr val="dk1"/>
              </a:solidFill>
            </a:endParaRPr>
          </a:p>
          <a:p>
            <a:pPr indent="-361950" lvl="0" marL="457200" rtl="0" algn="l">
              <a:lnSpc>
                <a:spcPct val="115000"/>
              </a:lnSpc>
              <a:spcBef>
                <a:spcPts val="1200"/>
              </a:spcBef>
              <a:spcAft>
                <a:spcPts val="0"/>
              </a:spcAft>
              <a:buClr>
                <a:schemeClr val="dk1"/>
              </a:buClr>
              <a:buSzPts val="2100"/>
              <a:buChar char="●"/>
            </a:pPr>
            <a:r>
              <a:rPr lang="en-US" sz="2100">
                <a:solidFill>
                  <a:schemeClr val="dk1"/>
                </a:solidFill>
              </a:rPr>
              <a:t>High intensity, cardio-focused workouts</a:t>
            </a:r>
            <a:endParaRPr sz="2100">
              <a:solidFill>
                <a:schemeClr val="dk1"/>
              </a:solidFill>
            </a:endParaRPr>
          </a:p>
          <a:p>
            <a:pPr indent="0" lvl="0" marL="0" rtl="0" algn="l">
              <a:lnSpc>
                <a:spcPct val="115000"/>
              </a:lnSpc>
              <a:spcBef>
                <a:spcPts val="1200"/>
              </a:spcBef>
              <a:spcAft>
                <a:spcPts val="0"/>
              </a:spcAft>
              <a:buNone/>
            </a:pPr>
            <a:r>
              <a:rPr b="1" lang="en-US" sz="2100">
                <a:solidFill>
                  <a:schemeClr val="dk1"/>
                </a:solidFill>
              </a:rPr>
              <a:t>Cluster 2</a:t>
            </a:r>
            <a:r>
              <a:rPr lang="en-US" sz="2100">
                <a:solidFill>
                  <a:schemeClr val="dk1"/>
                </a:solidFill>
              </a:rPr>
              <a:t> </a:t>
            </a:r>
            <a:r>
              <a:rPr i="1" lang="en-US" sz="2100">
                <a:solidFill>
                  <a:schemeClr val="dk1"/>
                </a:solidFill>
              </a:rPr>
              <a:t>(Moderate Duration, High Calorie, Low Intensity)</a:t>
            </a:r>
            <a:r>
              <a:rPr lang="en-US" sz="2100">
                <a:solidFill>
                  <a:schemeClr val="dk1"/>
                </a:solidFill>
              </a:rPr>
              <a:t>:</a:t>
            </a:r>
            <a:endParaRPr sz="2100">
              <a:solidFill>
                <a:schemeClr val="dk1"/>
              </a:solidFill>
            </a:endParaRPr>
          </a:p>
          <a:p>
            <a:pPr indent="-361950" lvl="0" marL="457200" rtl="0" algn="l">
              <a:lnSpc>
                <a:spcPct val="115000"/>
              </a:lnSpc>
              <a:spcBef>
                <a:spcPts val="1200"/>
              </a:spcBef>
              <a:spcAft>
                <a:spcPts val="0"/>
              </a:spcAft>
              <a:buClr>
                <a:schemeClr val="dk1"/>
              </a:buClr>
              <a:buSzPts val="2100"/>
              <a:buChar char="●"/>
            </a:pPr>
            <a:r>
              <a:rPr lang="en-US" sz="2100">
                <a:solidFill>
                  <a:schemeClr val="dk1"/>
                </a:solidFill>
              </a:rPr>
              <a:t>Very high calorie burn</a:t>
            </a:r>
            <a:endParaRPr sz="2100">
              <a:solidFill>
                <a:schemeClr val="dk1"/>
              </a:solidFill>
            </a:endParaRPr>
          </a:p>
          <a:p>
            <a:pPr indent="-361950" lvl="0" marL="457200" rtl="0" algn="l">
              <a:lnSpc>
                <a:spcPct val="115000"/>
              </a:lnSpc>
              <a:spcBef>
                <a:spcPts val="0"/>
              </a:spcBef>
              <a:spcAft>
                <a:spcPts val="0"/>
              </a:spcAft>
              <a:buClr>
                <a:schemeClr val="dk1"/>
              </a:buClr>
              <a:buSzPts val="2100"/>
              <a:buChar char="●"/>
            </a:pPr>
            <a:r>
              <a:rPr lang="en-US" sz="2100">
                <a:solidFill>
                  <a:schemeClr val="dk1"/>
                </a:solidFill>
              </a:rPr>
              <a:t>Low intensity, strength-focused or resistance workouts</a:t>
            </a:r>
            <a:endParaRPr sz="2100">
              <a:solidFill>
                <a:schemeClr val="dk1"/>
              </a:solidFill>
            </a:endParaRPr>
          </a:p>
          <a:p>
            <a:pPr indent="0" lvl="0" marL="0" rtl="0" algn="l">
              <a:lnSpc>
                <a:spcPct val="115000"/>
              </a:lnSpc>
              <a:spcBef>
                <a:spcPts val="1200"/>
              </a:spcBef>
              <a:spcAft>
                <a:spcPts val="0"/>
              </a:spcAft>
              <a:buNone/>
            </a:pPr>
            <a:r>
              <a:rPr b="1" lang="en-US" sz="2100">
                <a:solidFill>
                  <a:schemeClr val="dk1"/>
                </a:solidFill>
              </a:rPr>
              <a:t>Cluster 3</a:t>
            </a:r>
            <a:r>
              <a:rPr lang="en-US" sz="2100">
                <a:solidFill>
                  <a:schemeClr val="dk1"/>
                </a:solidFill>
              </a:rPr>
              <a:t> </a:t>
            </a:r>
            <a:r>
              <a:rPr i="1" lang="en-US" sz="2100">
                <a:solidFill>
                  <a:schemeClr val="dk1"/>
                </a:solidFill>
              </a:rPr>
              <a:t>(Short Duration, High Calorie, High Intensity)</a:t>
            </a:r>
            <a:r>
              <a:rPr lang="en-US" sz="2100">
                <a:solidFill>
                  <a:schemeClr val="dk1"/>
                </a:solidFill>
              </a:rPr>
              <a:t>:</a:t>
            </a:r>
            <a:endParaRPr b="1" sz="2100">
              <a:solidFill>
                <a:schemeClr val="dk1"/>
              </a:solidFill>
            </a:endParaRPr>
          </a:p>
          <a:p>
            <a:pPr indent="-361950" lvl="0" marL="457200" rtl="0" algn="l">
              <a:lnSpc>
                <a:spcPct val="115000"/>
              </a:lnSpc>
              <a:spcBef>
                <a:spcPts val="1200"/>
              </a:spcBef>
              <a:spcAft>
                <a:spcPts val="0"/>
              </a:spcAft>
              <a:buClr>
                <a:schemeClr val="dk1"/>
              </a:buClr>
              <a:buSzPts val="2100"/>
              <a:buChar char="●"/>
            </a:pPr>
            <a:r>
              <a:rPr lang="en-US" sz="2100">
                <a:solidFill>
                  <a:schemeClr val="dk1"/>
                </a:solidFill>
              </a:rPr>
              <a:t>Short but intense workouts, possibly HIIT</a:t>
            </a:r>
            <a:endParaRPr sz="2100">
              <a:solidFill>
                <a:schemeClr val="dk1"/>
              </a:solidFill>
            </a:endParaRPr>
          </a:p>
          <a:p>
            <a:pPr indent="0" lvl="0" marL="0" rtl="0" algn="l">
              <a:lnSpc>
                <a:spcPct val="115000"/>
              </a:lnSpc>
              <a:spcBef>
                <a:spcPts val="1200"/>
              </a:spcBef>
              <a:spcAft>
                <a:spcPts val="0"/>
              </a:spcAft>
              <a:buNone/>
            </a:pPr>
            <a:r>
              <a:rPr b="1" lang="en-US" sz="2100">
                <a:solidFill>
                  <a:schemeClr val="dk1"/>
                </a:solidFill>
              </a:rPr>
              <a:t>Cluster 4</a:t>
            </a:r>
            <a:r>
              <a:rPr lang="en-US" sz="2100">
                <a:solidFill>
                  <a:schemeClr val="dk1"/>
                </a:solidFill>
              </a:rPr>
              <a:t> </a:t>
            </a:r>
            <a:r>
              <a:rPr i="1" lang="en-US" sz="2100">
                <a:solidFill>
                  <a:schemeClr val="dk1"/>
                </a:solidFill>
              </a:rPr>
              <a:t>(Long Duration, High Calorie, High Intensity)</a:t>
            </a:r>
            <a:r>
              <a:rPr lang="en-US" sz="2100">
                <a:solidFill>
                  <a:schemeClr val="dk1"/>
                </a:solidFill>
              </a:rPr>
              <a:t>:</a:t>
            </a:r>
            <a:endParaRPr b="1" sz="2100">
              <a:solidFill>
                <a:schemeClr val="dk1"/>
              </a:solidFill>
            </a:endParaRPr>
          </a:p>
          <a:p>
            <a:pPr indent="-361950" lvl="0" marL="457200" rtl="0" algn="l">
              <a:lnSpc>
                <a:spcPct val="115000"/>
              </a:lnSpc>
              <a:spcBef>
                <a:spcPts val="1200"/>
              </a:spcBef>
              <a:spcAft>
                <a:spcPts val="0"/>
              </a:spcAft>
              <a:buClr>
                <a:schemeClr val="dk1"/>
              </a:buClr>
              <a:buSzPts val="2100"/>
              <a:buChar char="●"/>
            </a:pPr>
            <a:r>
              <a:rPr lang="en-US" sz="2100">
                <a:solidFill>
                  <a:schemeClr val="dk1"/>
                </a:solidFill>
              </a:rPr>
              <a:t>Extended cardio or endurance sessions</a:t>
            </a:r>
            <a:endParaRPr sz="2100">
              <a:solidFill>
                <a:schemeClr val="dk1"/>
              </a:solidFill>
            </a:endParaRPr>
          </a:p>
          <a:p>
            <a:pPr indent="0" lvl="0" marL="0" rtl="0" algn="l">
              <a:lnSpc>
                <a:spcPct val="115000"/>
              </a:lnSpc>
              <a:spcBef>
                <a:spcPts val="1200"/>
              </a:spcBef>
              <a:spcAft>
                <a:spcPts val="0"/>
              </a:spcAft>
              <a:buNone/>
            </a:pPr>
            <a:r>
              <a:rPr b="1" lang="en-US" sz="2100">
                <a:solidFill>
                  <a:schemeClr val="dk1"/>
                </a:solidFill>
              </a:rPr>
              <a:t>Cluster 5</a:t>
            </a:r>
            <a:r>
              <a:rPr lang="en-US" sz="2100">
                <a:solidFill>
                  <a:schemeClr val="dk1"/>
                </a:solidFill>
              </a:rPr>
              <a:t> </a:t>
            </a:r>
            <a:r>
              <a:rPr i="1" lang="en-US" sz="2100">
                <a:solidFill>
                  <a:schemeClr val="dk1"/>
                </a:solidFill>
              </a:rPr>
              <a:t>(Short Duration, Low Calorie, Moderate Intensity)</a:t>
            </a:r>
            <a:r>
              <a:rPr lang="en-US" sz="2100">
                <a:solidFill>
                  <a:schemeClr val="dk1"/>
                </a:solidFill>
              </a:rPr>
              <a:t>:</a:t>
            </a:r>
            <a:endParaRPr b="1" sz="2100">
              <a:solidFill>
                <a:schemeClr val="dk1"/>
              </a:solidFill>
            </a:endParaRPr>
          </a:p>
          <a:p>
            <a:pPr indent="-361950" lvl="0" marL="457200" rtl="0" algn="l">
              <a:lnSpc>
                <a:spcPct val="115000"/>
              </a:lnSpc>
              <a:spcBef>
                <a:spcPts val="1200"/>
              </a:spcBef>
              <a:spcAft>
                <a:spcPts val="0"/>
              </a:spcAft>
              <a:buClr>
                <a:schemeClr val="dk1"/>
              </a:buClr>
              <a:buSzPts val="2100"/>
              <a:buChar char="●"/>
            </a:pPr>
            <a:r>
              <a:rPr lang="en-US" sz="2100">
                <a:solidFill>
                  <a:schemeClr val="dk1"/>
                </a:solidFill>
              </a:rPr>
              <a:t>Short duration, moderate effort, possibly low-intensity cardio or stretching</a:t>
            </a:r>
            <a:endParaRPr sz="2100">
              <a:solidFill>
                <a:schemeClr val="dk1"/>
              </a:solidFill>
            </a:endParaRPr>
          </a:p>
          <a:p>
            <a:pPr indent="0" lvl="0" marL="0" rtl="0" algn="l">
              <a:lnSpc>
                <a:spcPct val="115000"/>
              </a:lnSpc>
              <a:spcBef>
                <a:spcPts val="1200"/>
              </a:spcBef>
              <a:spcAft>
                <a:spcPts val="0"/>
              </a:spcAft>
              <a:buNone/>
            </a:pPr>
            <a:r>
              <a:rPr b="1" lang="en-US" sz="2100">
                <a:solidFill>
                  <a:schemeClr val="dk1"/>
                </a:solidFill>
              </a:rPr>
              <a:t>Cluster 6</a:t>
            </a:r>
            <a:r>
              <a:rPr lang="en-US" sz="2100">
                <a:solidFill>
                  <a:schemeClr val="dk1"/>
                </a:solidFill>
              </a:rPr>
              <a:t> </a:t>
            </a:r>
            <a:r>
              <a:rPr i="1" lang="en-US" sz="2100">
                <a:solidFill>
                  <a:schemeClr val="dk1"/>
                </a:solidFill>
              </a:rPr>
              <a:t>(Long Duration, Moderate Calorie, Low Intensity)</a:t>
            </a:r>
            <a:r>
              <a:rPr lang="en-US" sz="2100">
                <a:solidFill>
                  <a:schemeClr val="dk1"/>
                </a:solidFill>
              </a:rPr>
              <a:t>:</a:t>
            </a:r>
            <a:endParaRPr b="1" sz="2100">
              <a:solidFill>
                <a:schemeClr val="dk1"/>
              </a:solidFill>
            </a:endParaRPr>
          </a:p>
          <a:p>
            <a:pPr indent="-361950" lvl="0" marL="457200" rtl="0" algn="l">
              <a:lnSpc>
                <a:spcPct val="115000"/>
              </a:lnSpc>
              <a:spcBef>
                <a:spcPts val="1200"/>
              </a:spcBef>
              <a:spcAft>
                <a:spcPts val="0"/>
              </a:spcAft>
              <a:buClr>
                <a:schemeClr val="dk1"/>
              </a:buClr>
              <a:buSzPts val="2100"/>
              <a:buChar char="●"/>
            </a:pPr>
            <a:r>
              <a:rPr lang="en-US" sz="2100">
                <a:solidFill>
                  <a:schemeClr val="dk1"/>
                </a:solidFill>
              </a:rPr>
              <a:t>Extended low-intensity workouts, e.g., walking or yoga</a:t>
            </a:r>
            <a:endParaRPr sz="2100">
              <a:solidFill>
                <a:schemeClr val="dk1"/>
              </a:solidFill>
            </a:endParaRPr>
          </a:p>
          <a:p>
            <a:pPr indent="0" lvl="0" marL="0" rtl="0" algn="l">
              <a:spcBef>
                <a:spcPts val="1200"/>
              </a:spcBef>
              <a:spcAft>
                <a:spcPts val="0"/>
              </a:spcAft>
              <a:buNone/>
            </a:pPr>
            <a:r>
              <a:t/>
            </a:r>
            <a:endParaRPr sz="3200">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grpSp>
        <p:nvGrpSpPr>
          <p:cNvPr id="444" name="Google Shape;444;p12"/>
          <p:cNvGrpSpPr/>
          <p:nvPr/>
        </p:nvGrpSpPr>
        <p:grpSpPr>
          <a:xfrm>
            <a:off x="0" y="-216991"/>
            <a:ext cx="18288000" cy="4761466"/>
            <a:chOff x="0" y="-57150"/>
            <a:chExt cx="4816593" cy="1254049"/>
          </a:xfrm>
        </p:grpSpPr>
        <p:sp>
          <p:nvSpPr>
            <p:cNvPr id="445" name="Google Shape;445;p12"/>
            <p:cNvSpPr/>
            <p:nvPr/>
          </p:nvSpPr>
          <p:spPr>
            <a:xfrm>
              <a:off x="0" y="0"/>
              <a:ext cx="4816592" cy="1196899"/>
            </a:xfrm>
            <a:custGeom>
              <a:rect b="b" l="l" r="r" t="t"/>
              <a:pathLst>
                <a:path extrusionOk="0" h="1196899" w="4816592">
                  <a:moveTo>
                    <a:pt x="0" y="0"/>
                  </a:moveTo>
                  <a:lnTo>
                    <a:pt x="4816592" y="0"/>
                  </a:lnTo>
                  <a:lnTo>
                    <a:pt x="4816592" y="1196899"/>
                  </a:lnTo>
                  <a:lnTo>
                    <a:pt x="0" y="1196899"/>
                  </a:lnTo>
                  <a:close/>
                </a:path>
              </a:pathLst>
            </a:custGeom>
            <a:solidFill>
              <a:srgbClr val="071C42"/>
            </a:solidFill>
            <a:ln>
              <a:noFill/>
            </a:ln>
          </p:spPr>
        </p:sp>
        <p:sp>
          <p:nvSpPr>
            <p:cNvPr id="446" name="Google Shape;446;p12"/>
            <p:cNvSpPr txBox="1"/>
            <p:nvPr/>
          </p:nvSpPr>
          <p:spPr>
            <a:xfrm>
              <a:off x="0" y="-57150"/>
              <a:ext cx="4816593" cy="1254049"/>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cxnSp>
        <p:nvCxnSpPr>
          <p:cNvPr id="447" name="Google Shape;447;p12"/>
          <p:cNvCxnSpPr/>
          <p:nvPr/>
        </p:nvCxnSpPr>
        <p:spPr>
          <a:xfrm>
            <a:off x="1028700" y="601417"/>
            <a:ext cx="16230600" cy="0"/>
          </a:xfrm>
          <a:prstGeom prst="straightConnector1">
            <a:avLst/>
          </a:prstGeom>
          <a:noFill/>
          <a:ln cap="flat" cmpd="sng" w="19050">
            <a:solidFill>
              <a:srgbClr val="D9D9D9"/>
            </a:solidFill>
            <a:prstDash val="solid"/>
            <a:round/>
            <a:headEnd len="sm" w="sm" type="none"/>
            <a:tailEnd len="sm" w="sm" type="none"/>
          </a:ln>
        </p:spPr>
      </p:cxnSp>
      <p:grpSp>
        <p:nvGrpSpPr>
          <p:cNvPr id="448" name="Google Shape;448;p12"/>
          <p:cNvGrpSpPr/>
          <p:nvPr/>
        </p:nvGrpSpPr>
        <p:grpSpPr>
          <a:xfrm>
            <a:off x="0" y="3983997"/>
            <a:ext cx="9144000" cy="560478"/>
            <a:chOff x="0" y="-57150"/>
            <a:chExt cx="2408296" cy="147616"/>
          </a:xfrm>
        </p:grpSpPr>
        <p:sp>
          <p:nvSpPr>
            <p:cNvPr id="449" name="Google Shape;449;p12"/>
            <p:cNvSpPr/>
            <p:nvPr/>
          </p:nvSpPr>
          <p:spPr>
            <a:xfrm>
              <a:off x="0" y="0"/>
              <a:ext cx="2408296" cy="90466"/>
            </a:xfrm>
            <a:custGeom>
              <a:rect b="b" l="l" r="r" t="t"/>
              <a:pathLst>
                <a:path extrusionOk="0" h="90466" w="2408296">
                  <a:moveTo>
                    <a:pt x="0" y="0"/>
                  </a:moveTo>
                  <a:lnTo>
                    <a:pt x="2408296" y="0"/>
                  </a:lnTo>
                  <a:lnTo>
                    <a:pt x="2408296" y="90466"/>
                  </a:lnTo>
                  <a:lnTo>
                    <a:pt x="0" y="90466"/>
                  </a:lnTo>
                  <a:close/>
                </a:path>
              </a:pathLst>
            </a:custGeom>
            <a:solidFill>
              <a:srgbClr val="4DE1C7"/>
            </a:solidFill>
            <a:ln>
              <a:noFill/>
            </a:ln>
          </p:spPr>
        </p:sp>
        <p:sp>
          <p:nvSpPr>
            <p:cNvPr id="450" name="Google Shape;450;p12"/>
            <p:cNvSpPr txBox="1"/>
            <p:nvPr/>
          </p:nvSpPr>
          <p:spPr>
            <a:xfrm>
              <a:off x="0" y="-57150"/>
              <a:ext cx="2408296" cy="147616"/>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451" name="Google Shape;451;p12"/>
          <p:cNvSpPr/>
          <p:nvPr/>
        </p:nvSpPr>
        <p:spPr>
          <a:xfrm rot="4689992">
            <a:off x="10289729" y="-1421921"/>
            <a:ext cx="13969695" cy="5395795"/>
          </a:xfrm>
          <a:custGeom>
            <a:rect b="b" l="l" r="r" t="t"/>
            <a:pathLst>
              <a:path extrusionOk="0" h="5395795" w="13969695">
                <a:moveTo>
                  <a:pt x="0" y="0"/>
                </a:moveTo>
                <a:lnTo>
                  <a:pt x="13969695" y="0"/>
                </a:lnTo>
                <a:lnTo>
                  <a:pt x="13969695" y="5395795"/>
                </a:lnTo>
                <a:lnTo>
                  <a:pt x="0" y="5395795"/>
                </a:lnTo>
                <a:lnTo>
                  <a:pt x="0" y="0"/>
                </a:lnTo>
                <a:close/>
              </a:path>
            </a:pathLst>
          </a:custGeom>
          <a:blipFill rotWithShape="1">
            <a:blip r:embed="rId3">
              <a:alphaModFix/>
            </a:blip>
            <a:stretch>
              <a:fillRect b="0" l="0" r="0" t="0"/>
            </a:stretch>
          </a:blipFill>
          <a:ln>
            <a:noFill/>
          </a:ln>
        </p:spPr>
      </p:sp>
      <p:sp>
        <p:nvSpPr>
          <p:cNvPr id="452" name="Google Shape;452;p12"/>
          <p:cNvSpPr txBox="1"/>
          <p:nvPr/>
        </p:nvSpPr>
        <p:spPr>
          <a:xfrm>
            <a:off x="1544727" y="2546276"/>
            <a:ext cx="11071500" cy="861900"/>
          </a:xfrm>
          <a:prstGeom prst="rect">
            <a:avLst/>
          </a:prstGeom>
          <a:noFill/>
          <a:ln>
            <a:noFill/>
          </a:ln>
        </p:spPr>
        <p:txBody>
          <a:bodyPr anchorCtr="0" anchor="t" bIns="0" lIns="0" spcFirstLastPara="1" rIns="0" wrap="square" tIns="0">
            <a:spAutoFit/>
          </a:bodyPr>
          <a:lstStyle/>
          <a:p>
            <a:pPr indent="0" lvl="0" marL="0" marR="0" rtl="0" algn="l">
              <a:lnSpc>
                <a:spcPct val="120003"/>
              </a:lnSpc>
              <a:spcBef>
                <a:spcPts val="0"/>
              </a:spcBef>
              <a:spcAft>
                <a:spcPts val="0"/>
              </a:spcAft>
              <a:buNone/>
            </a:pPr>
            <a:r>
              <a:rPr b="1" i="0" lang="en-US" sz="5599" u="none" cap="none" strike="noStrike">
                <a:solidFill>
                  <a:srgbClr val="FFFFFF"/>
                </a:solidFill>
                <a:latin typeface="Poppins"/>
                <a:ea typeface="Poppins"/>
                <a:cs typeface="Poppins"/>
                <a:sym typeface="Poppins"/>
              </a:rPr>
              <a:t>SMART Question </a:t>
            </a:r>
            <a:r>
              <a:rPr b="1" lang="en-US" sz="5599">
                <a:solidFill>
                  <a:srgbClr val="FFFFFF"/>
                </a:solidFill>
                <a:latin typeface="Poppins"/>
                <a:ea typeface="Poppins"/>
                <a:cs typeface="Poppins"/>
                <a:sym typeface="Poppins"/>
              </a:rPr>
              <a:t>4</a:t>
            </a:r>
            <a:endParaRPr/>
          </a:p>
        </p:txBody>
      </p:sp>
      <p:sp>
        <p:nvSpPr>
          <p:cNvPr id="453" name="Google Shape;453;p12"/>
          <p:cNvSpPr txBox="1"/>
          <p:nvPr/>
        </p:nvSpPr>
        <p:spPr>
          <a:xfrm>
            <a:off x="417375" y="4677425"/>
            <a:ext cx="7643100" cy="73152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SzPts val="1100"/>
              <a:buNone/>
            </a:pPr>
            <a:r>
              <a:rPr b="1" lang="en-US" sz="2800">
                <a:solidFill>
                  <a:srgbClr val="545454"/>
                </a:solidFill>
                <a:latin typeface="Calibri"/>
                <a:ea typeface="Calibri"/>
                <a:cs typeface="Calibri"/>
                <a:sym typeface="Calibri"/>
              </a:rPr>
              <a:t>Factorial ANOVA [ More than two Factors]</a:t>
            </a:r>
            <a:endParaRPr b="1" sz="2800">
              <a:solidFill>
                <a:srgbClr val="545454"/>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b="1" lang="en-US" sz="2800">
                <a:solidFill>
                  <a:srgbClr val="545454"/>
                </a:solidFill>
                <a:latin typeface="Calibri"/>
                <a:ea typeface="Calibri"/>
                <a:cs typeface="Calibri"/>
                <a:sym typeface="Calibri"/>
              </a:rPr>
              <a:t>Factor 1</a:t>
            </a:r>
            <a:r>
              <a:rPr lang="en-US" sz="2800">
                <a:solidFill>
                  <a:srgbClr val="545454"/>
                </a:solidFill>
                <a:latin typeface="Calibri"/>
                <a:ea typeface="Calibri"/>
                <a:cs typeface="Calibri"/>
                <a:sym typeface="Calibri"/>
              </a:rPr>
              <a:t>: BMI Category - Underweight, Normal, Overweight and Obese</a:t>
            </a:r>
            <a:endParaRPr sz="2800">
              <a:solidFill>
                <a:srgbClr val="545454"/>
              </a:solidFill>
              <a:latin typeface="Calibri"/>
              <a:ea typeface="Calibri"/>
              <a:cs typeface="Calibri"/>
              <a:sym typeface="Calibri"/>
            </a:endParaRPr>
          </a:p>
          <a:p>
            <a:pPr indent="0" lvl="0" marL="0" rtl="0" algn="l">
              <a:lnSpc>
                <a:spcPct val="115000"/>
              </a:lnSpc>
              <a:spcBef>
                <a:spcPts val="0"/>
              </a:spcBef>
              <a:spcAft>
                <a:spcPts val="0"/>
              </a:spcAft>
              <a:buSzPts val="1100"/>
              <a:buNone/>
            </a:pPr>
            <a:r>
              <a:rPr b="1" lang="en-US" sz="2800">
                <a:solidFill>
                  <a:srgbClr val="545454"/>
                </a:solidFill>
                <a:latin typeface="Calibri"/>
                <a:ea typeface="Calibri"/>
                <a:cs typeface="Calibri"/>
                <a:sym typeface="Calibri"/>
              </a:rPr>
              <a:t>Factor 2 </a:t>
            </a:r>
            <a:r>
              <a:rPr lang="en-US" sz="2800">
                <a:solidFill>
                  <a:srgbClr val="545454"/>
                </a:solidFill>
                <a:latin typeface="Calibri"/>
                <a:ea typeface="Calibri"/>
                <a:cs typeface="Calibri"/>
                <a:sym typeface="Calibri"/>
              </a:rPr>
              <a:t>: Workout Type - Cycling, Cardio, HIIT, Strength, Yoga, Running</a:t>
            </a:r>
            <a:endParaRPr sz="2800">
              <a:solidFill>
                <a:srgbClr val="545454"/>
              </a:solidFill>
              <a:latin typeface="Calibri"/>
              <a:ea typeface="Calibri"/>
              <a:cs typeface="Calibri"/>
              <a:sym typeface="Calibri"/>
            </a:endParaRPr>
          </a:p>
          <a:p>
            <a:pPr indent="0" lvl="0" marL="0" rtl="0" algn="l">
              <a:lnSpc>
                <a:spcPct val="115000"/>
              </a:lnSpc>
              <a:spcBef>
                <a:spcPts val="0"/>
              </a:spcBef>
              <a:spcAft>
                <a:spcPts val="0"/>
              </a:spcAft>
              <a:buSzPts val="1100"/>
              <a:buNone/>
            </a:pPr>
            <a:r>
              <a:rPr b="1" lang="en-US" sz="2800">
                <a:solidFill>
                  <a:srgbClr val="545454"/>
                </a:solidFill>
                <a:latin typeface="Calibri"/>
                <a:ea typeface="Calibri"/>
                <a:cs typeface="Calibri"/>
                <a:sym typeface="Calibri"/>
              </a:rPr>
              <a:t>Dependent Variable:</a:t>
            </a:r>
            <a:r>
              <a:rPr lang="en-US" sz="2800">
                <a:solidFill>
                  <a:srgbClr val="545454"/>
                </a:solidFill>
                <a:latin typeface="Calibri"/>
                <a:ea typeface="Calibri"/>
                <a:cs typeface="Calibri"/>
                <a:sym typeface="Calibri"/>
              </a:rPr>
              <a:t> Calories_Burned</a:t>
            </a:r>
            <a:endParaRPr sz="2800">
              <a:solidFill>
                <a:srgbClr val="545454"/>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t/>
            </a:r>
            <a:endParaRPr sz="2800">
              <a:solidFill>
                <a:srgbClr val="545454"/>
              </a:solidFill>
              <a:latin typeface="Calibri"/>
              <a:ea typeface="Calibri"/>
              <a:cs typeface="Calibri"/>
              <a:sym typeface="Calibri"/>
            </a:endParaRPr>
          </a:p>
          <a:p>
            <a:pPr indent="0" lvl="0" marL="0" rtl="0" algn="l">
              <a:lnSpc>
                <a:spcPct val="115000"/>
              </a:lnSpc>
              <a:spcBef>
                <a:spcPts val="0"/>
              </a:spcBef>
              <a:spcAft>
                <a:spcPts val="0"/>
              </a:spcAft>
              <a:buSzPts val="1100"/>
              <a:buNone/>
            </a:pPr>
            <a:r>
              <a:rPr b="1" lang="en-US" sz="3100">
                <a:solidFill>
                  <a:srgbClr val="545454"/>
                </a:solidFill>
                <a:latin typeface="Calibri"/>
                <a:ea typeface="Calibri"/>
                <a:cs typeface="Calibri"/>
                <a:sym typeface="Calibri"/>
              </a:rPr>
              <a:t>Main Effects</a:t>
            </a:r>
            <a:endParaRPr b="1" sz="3100">
              <a:solidFill>
                <a:srgbClr val="545454"/>
              </a:solidFill>
              <a:latin typeface="Calibri"/>
              <a:ea typeface="Calibri"/>
              <a:cs typeface="Calibri"/>
              <a:sym typeface="Calibri"/>
            </a:endParaRPr>
          </a:p>
          <a:p>
            <a:pPr indent="-406400" lvl="0" marL="457200" rtl="0" algn="l">
              <a:lnSpc>
                <a:spcPct val="115000"/>
              </a:lnSpc>
              <a:spcBef>
                <a:spcPts val="0"/>
              </a:spcBef>
              <a:spcAft>
                <a:spcPts val="0"/>
              </a:spcAft>
              <a:buClr>
                <a:srgbClr val="545454"/>
              </a:buClr>
              <a:buSzPts val="2800"/>
              <a:buFont typeface="Calibri"/>
              <a:buAutoNum type="arabicPeriod"/>
            </a:pPr>
            <a:r>
              <a:rPr lang="en-US" sz="2800">
                <a:solidFill>
                  <a:srgbClr val="545454"/>
                </a:solidFill>
                <a:latin typeface="Calibri"/>
                <a:ea typeface="Calibri"/>
                <a:cs typeface="Calibri"/>
                <a:sym typeface="Calibri"/>
              </a:rPr>
              <a:t>BMI Category</a:t>
            </a:r>
            <a:endParaRPr sz="2800">
              <a:solidFill>
                <a:srgbClr val="545454"/>
              </a:solidFill>
              <a:latin typeface="Calibri"/>
              <a:ea typeface="Calibri"/>
              <a:cs typeface="Calibri"/>
              <a:sym typeface="Calibri"/>
            </a:endParaRPr>
          </a:p>
          <a:p>
            <a:pPr indent="0" lvl="0" marL="457200" rtl="0" algn="l">
              <a:lnSpc>
                <a:spcPct val="115000"/>
              </a:lnSpc>
              <a:spcBef>
                <a:spcPts val="0"/>
              </a:spcBef>
              <a:spcAft>
                <a:spcPts val="0"/>
              </a:spcAft>
              <a:buNone/>
            </a:pPr>
            <a:r>
              <a:rPr lang="en-US" sz="2800">
                <a:solidFill>
                  <a:srgbClr val="545454"/>
                </a:solidFill>
                <a:latin typeface="Calibri"/>
                <a:ea typeface="Calibri"/>
                <a:cs typeface="Calibri"/>
                <a:sym typeface="Calibri"/>
              </a:rPr>
              <a:t>H</a:t>
            </a:r>
            <a:r>
              <a:rPr baseline="-25000" lang="en-US" sz="2800">
                <a:solidFill>
                  <a:srgbClr val="545454"/>
                </a:solidFill>
                <a:latin typeface="Calibri"/>
                <a:ea typeface="Calibri"/>
                <a:cs typeface="Calibri"/>
                <a:sym typeface="Calibri"/>
              </a:rPr>
              <a:t>0</a:t>
            </a:r>
            <a:r>
              <a:rPr lang="en-US" sz="2800">
                <a:solidFill>
                  <a:srgbClr val="545454"/>
                </a:solidFill>
                <a:latin typeface="Calibri"/>
                <a:ea typeface="Calibri"/>
                <a:cs typeface="Calibri"/>
                <a:sym typeface="Calibri"/>
              </a:rPr>
              <a:t>: μ</a:t>
            </a:r>
            <a:r>
              <a:rPr baseline="-25000" lang="en-US" sz="2800">
                <a:solidFill>
                  <a:srgbClr val="545454"/>
                </a:solidFill>
                <a:latin typeface="Calibri"/>
                <a:ea typeface="Calibri"/>
                <a:cs typeface="Calibri"/>
                <a:sym typeface="Calibri"/>
              </a:rPr>
              <a:t>underweight </a:t>
            </a:r>
            <a:r>
              <a:rPr lang="en-US" sz="2800">
                <a:solidFill>
                  <a:srgbClr val="545454"/>
                </a:solidFill>
                <a:latin typeface="Poppins"/>
                <a:ea typeface="Poppins"/>
                <a:cs typeface="Poppins"/>
                <a:sym typeface="Poppins"/>
              </a:rPr>
              <a:t>= </a:t>
            </a:r>
            <a:r>
              <a:rPr lang="en-US" sz="2800">
                <a:solidFill>
                  <a:srgbClr val="545454"/>
                </a:solidFill>
                <a:latin typeface="Calibri"/>
                <a:ea typeface="Calibri"/>
                <a:cs typeface="Calibri"/>
                <a:sym typeface="Calibri"/>
              </a:rPr>
              <a:t>μ</a:t>
            </a:r>
            <a:r>
              <a:rPr baseline="-25000" lang="en-US" sz="2800">
                <a:solidFill>
                  <a:srgbClr val="545454"/>
                </a:solidFill>
                <a:latin typeface="Calibri"/>
                <a:ea typeface="Calibri"/>
                <a:cs typeface="Calibri"/>
                <a:sym typeface="Calibri"/>
              </a:rPr>
              <a:t>normal </a:t>
            </a:r>
            <a:r>
              <a:rPr lang="en-US" sz="2800">
                <a:solidFill>
                  <a:srgbClr val="545454"/>
                </a:solidFill>
                <a:latin typeface="Poppins"/>
                <a:ea typeface="Poppins"/>
                <a:cs typeface="Poppins"/>
                <a:sym typeface="Poppins"/>
              </a:rPr>
              <a:t>= </a:t>
            </a:r>
            <a:r>
              <a:rPr lang="en-US" sz="2800">
                <a:solidFill>
                  <a:srgbClr val="545454"/>
                </a:solidFill>
                <a:latin typeface="Calibri"/>
                <a:ea typeface="Calibri"/>
                <a:cs typeface="Calibri"/>
                <a:sym typeface="Calibri"/>
              </a:rPr>
              <a:t>μ</a:t>
            </a:r>
            <a:r>
              <a:rPr baseline="-25000" lang="en-US" sz="2800">
                <a:solidFill>
                  <a:srgbClr val="545454"/>
                </a:solidFill>
                <a:latin typeface="Calibri"/>
                <a:ea typeface="Calibri"/>
                <a:cs typeface="Calibri"/>
                <a:sym typeface="Calibri"/>
              </a:rPr>
              <a:t>overweight </a:t>
            </a:r>
            <a:r>
              <a:rPr lang="en-US" sz="2800">
                <a:solidFill>
                  <a:srgbClr val="545454"/>
                </a:solidFill>
                <a:latin typeface="Poppins"/>
                <a:ea typeface="Poppins"/>
                <a:cs typeface="Poppins"/>
                <a:sym typeface="Poppins"/>
              </a:rPr>
              <a:t>= </a:t>
            </a:r>
            <a:r>
              <a:rPr lang="en-US" sz="2800">
                <a:solidFill>
                  <a:srgbClr val="545454"/>
                </a:solidFill>
                <a:latin typeface="Calibri"/>
                <a:ea typeface="Calibri"/>
                <a:cs typeface="Calibri"/>
                <a:sym typeface="Calibri"/>
              </a:rPr>
              <a:t>μ</a:t>
            </a:r>
            <a:r>
              <a:rPr baseline="-25000" lang="en-US" sz="2800">
                <a:solidFill>
                  <a:srgbClr val="545454"/>
                </a:solidFill>
                <a:latin typeface="Calibri"/>
                <a:ea typeface="Calibri"/>
                <a:cs typeface="Calibri"/>
                <a:sym typeface="Calibri"/>
              </a:rPr>
              <a:t>obese</a:t>
            </a:r>
            <a:endParaRPr baseline="-25000" sz="2800">
              <a:solidFill>
                <a:srgbClr val="545454"/>
              </a:solidFill>
              <a:latin typeface="Calibri"/>
              <a:ea typeface="Calibri"/>
              <a:cs typeface="Calibri"/>
              <a:sym typeface="Calibri"/>
            </a:endParaRPr>
          </a:p>
          <a:p>
            <a:pPr indent="0" lvl="0" marL="457200" rtl="0" algn="l">
              <a:lnSpc>
                <a:spcPct val="115000"/>
              </a:lnSpc>
              <a:spcBef>
                <a:spcPts val="0"/>
              </a:spcBef>
              <a:spcAft>
                <a:spcPts val="0"/>
              </a:spcAft>
              <a:buNone/>
            </a:pPr>
            <a:r>
              <a:t/>
            </a:r>
            <a:endParaRPr baseline="-25000" sz="2800">
              <a:solidFill>
                <a:srgbClr val="545454"/>
              </a:solidFill>
              <a:latin typeface="Calibri"/>
              <a:ea typeface="Calibri"/>
              <a:cs typeface="Calibri"/>
              <a:sym typeface="Calibri"/>
            </a:endParaRPr>
          </a:p>
          <a:p>
            <a:pPr indent="0" lvl="0" marL="0" marR="0" rtl="0" algn="l">
              <a:lnSpc>
                <a:spcPct val="160000"/>
              </a:lnSpc>
              <a:spcBef>
                <a:spcPts val="0"/>
              </a:spcBef>
              <a:spcAft>
                <a:spcPts val="0"/>
              </a:spcAft>
              <a:buNone/>
            </a:pPr>
            <a:r>
              <a:t/>
            </a:r>
            <a:endParaRPr baseline="-25000" sz="2800">
              <a:solidFill>
                <a:srgbClr val="545454"/>
              </a:solidFill>
              <a:latin typeface="Calibri"/>
              <a:ea typeface="Calibri"/>
              <a:cs typeface="Calibri"/>
              <a:sym typeface="Calibri"/>
            </a:endParaRPr>
          </a:p>
          <a:p>
            <a:pPr indent="0" lvl="0" marL="0" rtl="0" algn="l">
              <a:lnSpc>
                <a:spcPct val="160000"/>
              </a:lnSpc>
              <a:spcBef>
                <a:spcPts val="0"/>
              </a:spcBef>
              <a:spcAft>
                <a:spcPts val="0"/>
              </a:spcAft>
              <a:buClr>
                <a:schemeClr val="dk1"/>
              </a:buClr>
              <a:buFont typeface="Arial"/>
              <a:buNone/>
            </a:pPr>
            <a:r>
              <a:t/>
            </a:r>
            <a:endParaRPr sz="2800">
              <a:solidFill>
                <a:srgbClr val="545454"/>
              </a:solidFill>
              <a:latin typeface="Poppins"/>
              <a:ea typeface="Poppins"/>
              <a:cs typeface="Poppins"/>
              <a:sym typeface="Poppins"/>
            </a:endParaRPr>
          </a:p>
          <a:p>
            <a:pPr indent="0" lvl="0" marL="0" marR="0" rtl="0" algn="l">
              <a:lnSpc>
                <a:spcPct val="160000"/>
              </a:lnSpc>
              <a:spcBef>
                <a:spcPts val="0"/>
              </a:spcBef>
              <a:spcAft>
                <a:spcPts val="0"/>
              </a:spcAft>
              <a:buNone/>
            </a:pPr>
            <a:r>
              <a:t/>
            </a:r>
            <a:endParaRPr sz="2800">
              <a:solidFill>
                <a:srgbClr val="545454"/>
              </a:solidFill>
              <a:latin typeface="Poppins"/>
              <a:ea typeface="Poppins"/>
              <a:cs typeface="Poppins"/>
              <a:sym typeface="Poppins"/>
            </a:endParaRPr>
          </a:p>
        </p:txBody>
      </p:sp>
      <p:sp>
        <p:nvSpPr>
          <p:cNvPr id="454" name="Google Shape;454;p12"/>
          <p:cNvSpPr txBox="1"/>
          <p:nvPr/>
        </p:nvSpPr>
        <p:spPr>
          <a:xfrm>
            <a:off x="9516625" y="2065425"/>
            <a:ext cx="7975800" cy="14796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b="1" lang="en-US" sz="2800">
                <a:solidFill>
                  <a:srgbClr val="FFFFFF"/>
                </a:solidFill>
                <a:latin typeface="Poppins"/>
                <a:ea typeface="Poppins"/>
                <a:cs typeface="Poppins"/>
                <a:sym typeface="Poppins"/>
              </a:rPr>
              <a:t>Is there an effect on calorie burn based on your workout type and BMI Category? </a:t>
            </a:r>
            <a:endParaRPr b="1" sz="2800">
              <a:solidFill>
                <a:srgbClr val="FFFFFF"/>
              </a:solidFill>
              <a:latin typeface="Poppins"/>
              <a:ea typeface="Poppins"/>
              <a:cs typeface="Poppins"/>
              <a:sym typeface="Poppins"/>
            </a:endParaRPr>
          </a:p>
          <a:p>
            <a:pPr indent="0" lvl="0" marL="0" rtl="0" algn="l">
              <a:spcBef>
                <a:spcPts val="0"/>
              </a:spcBef>
              <a:spcAft>
                <a:spcPts val="0"/>
              </a:spcAft>
              <a:buNone/>
            </a:pPr>
            <a:r>
              <a:t/>
            </a:r>
            <a:endParaRPr sz="2800">
              <a:solidFill>
                <a:schemeClr val="dk1"/>
              </a:solidFill>
              <a:latin typeface="Calibri"/>
              <a:ea typeface="Calibri"/>
              <a:cs typeface="Calibri"/>
              <a:sym typeface="Calibri"/>
            </a:endParaRPr>
          </a:p>
        </p:txBody>
      </p:sp>
      <p:sp>
        <p:nvSpPr>
          <p:cNvPr id="455" name="Google Shape;455;p12"/>
          <p:cNvSpPr txBox="1"/>
          <p:nvPr/>
        </p:nvSpPr>
        <p:spPr>
          <a:xfrm>
            <a:off x="8037000" y="4908625"/>
            <a:ext cx="10005300" cy="1479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2800">
                <a:solidFill>
                  <a:srgbClr val="545454"/>
                </a:solidFill>
                <a:latin typeface="Calibri"/>
                <a:ea typeface="Calibri"/>
                <a:cs typeface="Calibri"/>
                <a:sym typeface="Calibri"/>
              </a:rPr>
              <a:t>2. Workout Type</a:t>
            </a:r>
            <a:endParaRPr sz="2800">
              <a:solidFill>
                <a:srgbClr val="545454"/>
              </a:solidFill>
              <a:latin typeface="Calibri"/>
              <a:ea typeface="Calibri"/>
              <a:cs typeface="Calibri"/>
              <a:sym typeface="Calibri"/>
            </a:endParaRPr>
          </a:p>
          <a:p>
            <a:pPr indent="0" lvl="0" marL="457200" rtl="0" algn="l">
              <a:lnSpc>
                <a:spcPct val="115000"/>
              </a:lnSpc>
              <a:spcBef>
                <a:spcPts val="0"/>
              </a:spcBef>
              <a:spcAft>
                <a:spcPts val="0"/>
              </a:spcAft>
              <a:buNone/>
            </a:pPr>
            <a:r>
              <a:rPr lang="en-US" sz="2800">
                <a:solidFill>
                  <a:srgbClr val="545454"/>
                </a:solidFill>
                <a:latin typeface="Calibri"/>
                <a:ea typeface="Calibri"/>
                <a:cs typeface="Calibri"/>
                <a:sym typeface="Calibri"/>
              </a:rPr>
              <a:t>H</a:t>
            </a:r>
            <a:r>
              <a:rPr baseline="-25000" lang="en-US" sz="2800">
                <a:solidFill>
                  <a:srgbClr val="545454"/>
                </a:solidFill>
                <a:latin typeface="Calibri"/>
                <a:ea typeface="Calibri"/>
                <a:cs typeface="Calibri"/>
                <a:sym typeface="Calibri"/>
              </a:rPr>
              <a:t>0</a:t>
            </a:r>
            <a:r>
              <a:rPr lang="en-US" sz="2800">
                <a:solidFill>
                  <a:srgbClr val="545454"/>
                </a:solidFill>
                <a:latin typeface="Calibri"/>
                <a:ea typeface="Calibri"/>
                <a:cs typeface="Calibri"/>
                <a:sym typeface="Calibri"/>
              </a:rPr>
              <a:t>: μ</a:t>
            </a:r>
            <a:r>
              <a:rPr baseline="-25000" lang="en-US" sz="2800">
                <a:solidFill>
                  <a:srgbClr val="545454"/>
                </a:solidFill>
                <a:latin typeface="Calibri"/>
                <a:ea typeface="Calibri"/>
                <a:cs typeface="Calibri"/>
                <a:sym typeface="Calibri"/>
              </a:rPr>
              <a:t>cycling</a:t>
            </a:r>
            <a:r>
              <a:rPr lang="en-US" sz="2800">
                <a:solidFill>
                  <a:srgbClr val="545454"/>
                </a:solidFill>
                <a:latin typeface="Poppins"/>
                <a:ea typeface="Poppins"/>
                <a:cs typeface="Poppins"/>
                <a:sym typeface="Poppins"/>
              </a:rPr>
              <a:t>= </a:t>
            </a:r>
            <a:r>
              <a:rPr lang="en-US" sz="2800">
                <a:solidFill>
                  <a:srgbClr val="545454"/>
                </a:solidFill>
                <a:latin typeface="Calibri"/>
                <a:ea typeface="Calibri"/>
                <a:cs typeface="Calibri"/>
                <a:sym typeface="Calibri"/>
              </a:rPr>
              <a:t>μ</a:t>
            </a:r>
            <a:r>
              <a:rPr baseline="-25000" lang="en-US" sz="2800">
                <a:solidFill>
                  <a:srgbClr val="545454"/>
                </a:solidFill>
                <a:latin typeface="Calibri"/>
                <a:ea typeface="Calibri"/>
                <a:cs typeface="Calibri"/>
                <a:sym typeface="Calibri"/>
              </a:rPr>
              <a:t>cardio </a:t>
            </a:r>
            <a:r>
              <a:rPr lang="en-US" sz="2800">
                <a:solidFill>
                  <a:srgbClr val="545454"/>
                </a:solidFill>
                <a:latin typeface="Poppins"/>
                <a:ea typeface="Poppins"/>
                <a:cs typeface="Poppins"/>
                <a:sym typeface="Poppins"/>
              </a:rPr>
              <a:t>= </a:t>
            </a:r>
            <a:r>
              <a:rPr lang="en-US" sz="2800">
                <a:solidFill>
                  <a:srgbClr val="545454"/>
                </a:solidFill>
                <a:latin typeface="Calibri"/>
                <a:ea typeface="Calibri"/>
                <a:cs typeface="Calibri"/>
                <a:sym typeface="Calibri"/>
              </a:rPr>
              <a:t>μ</a:t>
            </a:r>
            <a:r>
              <a:rPr baseline="-25000" lang="en-US" sz="2800">
                <a:solidFill>
                  <a:srgbClr val="545454"/>
                </a:solidFill>
                <a:latin typeface="Calibri"/>
                <a:ea typeface="Calibri"/>
                <a:cs typeface="Calibri"/>
                <a:sym typeface="Calibri"/>
              </a:rPr>
              <a:t>HIIT </a:t>
            </a:r>
            <a:r>
              <a:rPr lang="en-US" sz="2800">
                <a:solidFill>
                  <a:srgbClr val="545454"/>
                </a:solidFill>
                <a:latin typeface="Poppins"/>
                <a:ea typeface="Poppins"/>
                <a:cs typeface="Poppins"/>
                <a:sym typeface="Poppins"/>
              </a:rPr>
              <a:t>= </a:t>
            </a:r>
            <a:r>
              <a:rPr lang="en-US" sz="2800">
                <a:solidFill>
                  <a:srgbClr val="545454"/>
                </a:solidFill>
                <a:latin typeface="Calibri"/>
                <a:ea typeface="Calibri"/>
                <a:cs typeface="Calibri"/>
                <a:sym typeface="Calibri"/>
              </a:rPr>
              <a:t>μ</a:t>
            </a:r>
            <a:r>
              <a:rPr baseline="-25000" lang="en-US" sz="2800">
                <a:solidFill>
                  <a:srgbClr val="545454"/>
                </a:solidFill>
                <a:latin typeface="Calibri"/>
                <a:ea typeface="Calibri"/>
                <a:cs typeface="Calibri"/>
                <a:sym typeface="Calibri"/>
              </a:rPr>
              <a:t>Strengh</a:t>
            </a:r>
            <a:r>
              <a:rPr lang="en-US" sz="2800">
                <a:solidFill>
                  <a:srgbClr val="545454"/>
                </a:solidFill>
                <a:latin typeface="Poppins"/>
                <a:ea typeface="Poppins"/>
                <a:cs typeface="Poppins"/>
                <a:sym typeface="Poppins"/>
              </a:rPr>
              <a:t>= </a:t>
            </a:r>
            <a:r>
              <a:rPr lang="en-US" sz="2800">
                <a:solidFill>
                  <a:srgbClr val="545454"/>
                </a:solidFill>
                <a:latin typeface="Calibri"/>
                <a:ea typeface="Calibri"/>
                <a:cs typeface="Calibri"/>
                <a:sym typeface="Calibri"/>
              </a:rPr>
              <a:t>μ</a:t>
            </a:r>
            <a:r>
              <a:rPr baseline="-25000" lang="en-US" sz="2800">
                <a:solidFill>
                  <a:srgbClr val="545454"/>
                </a:solidFill>
                <a:latin typeface="Calibri"/>
                <a:ea typeface="Calibri"/>
                <a:cs typeface="Calibri"/>
                <a:sym typeface="Calibri"/>
              </a:rPr>
              <a:t>yoga</a:t>
            </a:r>
            <a:r>
              <a:rPr lang="en-US" sz="2800">
                <a:solidFill>
                  <a:srgbClr val="545454"/>
                </a:solidFill>
                <a:latin typeface="Poppins"/>
                <a:ea typeface="Poppins"/>
                <a:cs typeface="Poppins"/>
                <a:sym typeface="Poppins"/>
              </a:rPr>
              <a:t>= </a:t>
            </a:r>
            <a:r>
              <a:rPr lang="en-US" sz="2800">
                <a:solidFill>
                  <a:srgbClr val="545454"/>
                </a:solidFill>
                <a:latin typeface="Calibri"/>
                <a:ea typeface="Calibri"/>
                <a:cs typeface="Calibri"/>
                <a:sym typeface="Calibri"/>
              </a:rPr>
              <a:t>μ</a:t>
            </a:r>
            <a:r>
              <a:rPr baseline="-25000" lang="en-US" sz="2800">
                <a:solidFill>
                  <a:srgbClr val="545454"/>
                </a:solidFill>
                <a:latin typeface="Calibri"/>
                <a:ea typeface="Calibri"/>
                <a:cs typeface="Calibri"/>
                <a:sym typeface="Calibri"/>
              </a:rPr>
              <a:t>running</a:t>
            </a:r>
            <a:endParaRPr baseline="-25000" sz="2800">
              <a:solidFill>
                <a:srgbClr val="545454"/>
              </a:solidFill>
              <a:latin typeface="Calibri"/>
              <a:ea typeface="Calibri"/>
              <a:cs typeface="Calibri"/>
              <a:sym typeface="Calibri"/>
            </a:endParaRPr>
          </a:p>
          <a:p>
            <a:pPr indent="0" lvl="0" marL="0" rtl="0" algn="l">
              <a:lnSpc>
                <a:spcPct val="115000"/>
              </a:lnSpc>
              <a:spcBef>
                <a:spcPts val="0"/>
              </a:spcBef>
              <a:spcAft>
                <a:spcPts val="0"/>
              </a:spcAft>
              <a:buNone/>
            </a:pPr>
            <a:r>
              <a:t/>
            </a:r>
            <a:endParaRPr baseline="-25000" sz="2800">
              <a:solidFill>
                <a:srgbClr val="545454"/>
              </a:solidFill>
              <a:latin typeface="Calibri"/>
              <a:ea typeface="Calibri"/>
              <a:cs typeface="Calibri"/>
              <a:sym typeface="Calibri"/>
            </a:endParaRPr>
          </a:p>
          <a:p>
            <a:pPr indent="0" lvl="0" marL="0" rtl="0" algn="l">
              <a:lnSpc>
                <a:spcPct val="115000"/>
              </a:lnSpc>
              <a:spcBef>
                <a:spcPts val="0"/>
              </a:spcBef>
              <a:spcAft>
                <a:spcPts val="0"/>
              </a:spcAft>
              <a:buNone/>
            </a:pPr>
            <a:r>
              <a:t/>
            </a:r>
            <a:endParaRPr baseline="-25000" sz="2800">
              <a:solidFill>
                <a:srgbClr val="545454"/>
              </a:solidFill>
              <a:latin typeface="Calibri"/>
              <a:ea typeface="Calibri"/>
              <a:cs typeface="Calibri"/>
              <a:sym typeface="Calibri"/>
            </a:endParaRPr>
          </a:p>
          <a:p>
            <a:pPr indent="0" lvl="0" marL="457200" rtl="0" algn="l">
              <a:lnSpc>
                <a:spcPct val="115000"/>
              </a:lnSpc>
              <a:spcBef>
                <a:spcPts val="0"/>
              </a:spcBef>
              <a:spcAft>
                <a:spcPts val="0"/>
              </a:spcAft>
              <a:buNone/>
            </a:pPr>
            <a:r>
              <a:t/>
            </a:r>
            <a:endParaRPr baseline="-25000" sz="2800">
              <a:solidFill>
                <a:srgbClr val="545454"/>
              </a:solidFill>
              <a:latin typeface="Calibri"/>
              <a:ea typeface="Calibri"/>
              <a:cs typeface="Calibri"/>
              <a:sym typeface="Calibri"/>
            </a:endParaRPr>
          </a:p>
          <a:p>
            <a:pPr indent="0" lvl="0" marL="457200" rtl="0" algn="l">
              <a:lnSpc>
                <a:spcPct val="115000"/>
              </a:lnSpc>
              <a:spcBef>
                <a:spcPts val="0"/>
              </a:spcBef>
              <a:spcAft>
                <a:spcPts val="0"/>
              </a:spcAft>
              <a:buNone/>
            </a:pPr>
            <a:r>
              <a:t/>
            </a:r>
            <a:endParaRPr baseline="-25000" sz="2800">
              <a:solidFill>
                <a:srgbClr val="545454"/>
              </a:solidFill>
              <a:latin typeface="Calibri"/>
              <a:ea typeface="Calibri"/>
              <a:cs typeface="Calibri"/>
              <a:sym typeface="Calibri"/>
            </a:endParaRPr>
          </a:p>
          <a:p>
            <a:pPr indent="0" lvl="0" marL="457200" rtl="0" algn="l">
              <a:lnSpc>
                <a:spcPct val="115000"/>
              </a:lnSpc>
              <a:spcBef>
                <a:spcPts val="0"/>
              </a:spcBef>
              <a:spcAft>
                <a:spcPts val="0"/>
              </a:spcAft>
              <a:buNone/>
            </a:pPr>
            <a:r>
              <a:t/>
            </a:r>
            <a:endParaRPr baseline="-25000" sz="2800">
              <a:solidFill>
                <a:srgbClr val="545454"/>
              </a:solidFill>
              <a:latin typeface="Calibri"/>
              <a:ea typeface="Calibri"/>
              <a:cs typeface="Calibri"/>
              <a:sym typeface="Calibri"/>
            </a:endParaRPr>
          </a:p>
          <a:p>
            <a:pPr indent="0" lvl="0" marL="457200" rtl="0" algn="l">
              <a:lnSpc>
                <a:spcPct val="115000"/>
              </a:lnSpc>
              <a:spcBef>
                <a:spcPts val="0"/>
              </a:spcBef>
              <a:spcAft>
                <a:spcPts val="0"/>
              </a:spcAft>
              <a:buClr>
                <a:schemeClr val="dk1"/>
              </a:buClr>
              <a:buSzPts val="1100"/>
              <a:buFont typeface="Arial"/>
              <a:buNone/>
            </a:pPr>
            <a:r>
              <a:t/>
            </a:r>
            <a:endParaRPr baseline="-25000" sz="2800">
              <a:solidFill>
                <a:srgbClr val="545454"/>
              </a:solidFill>
              <a:latin typeface="Calibri"/>
              <a:ea typeface="Calibri"/>
              <a:cs typeface="Calibri"/>
              <a:sym typeface="Calibri"/>
            </a:endParaRPr>
          </a:p>
        </p:txBody>
      </p:sp>
      <p:sp>
        <p:nvSpPr>
          <p:cNvPr id="456" name="Google Shape;456;p12"/>
          <p:cNvSpPr txBox="1"/>
          <p:nvPr/>
        </p:nvSpPr>
        <p:spPr>
          <a:xfrm>
            <a:off x="8060500" y="6646625"/>
            <a:ext cx="9817200" cy="324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3200">
                <a:solidFill>
                  <a:srgbClr val="434343"/>
                </a:solidFill>
                <a:latin typeface="Calibri"/>
                <a:ea typeface="Calibri"/>
                <a:cs typeface="Calibri"/>
                <a:sym typeface="Calibri"/>
              </a:rPr>
              <a:t>I</a:t>
            </a:r>
            <a:r>
              <a:rPr b="1" lang="en-US" sz="3100">
                <a:solidFill>
                  <a:srgbClr val="434343"/>
                </a:solidFill>
                <a:latin typeface="Calibri"/>
                <a:ea typeface="Calibri"/>
                <a:cs typeface="Calibri"/>
                <a:sym typeface="Calibri"/>
              </a:rPr>
              <a:t>nteraction effect</a:t>
            </a:r>
            <a:endParaRPr b="1" sz="3100">
              <a:solidFill>
                <a:srgbClr val="434343"/>
              </a:solidFill>
              <a:latin typeface="Calibri"/>
              <a:ea typeface="Calibri"/>
              <a:cs typeface="Calibri"/>
              <a:sym typeface="Calibri"/>
            </a:endParaRPr>
          </a:p>
          <a:p>
            <a:pPr indent="0" lvl="0" marL="457200" rtl="0" algn="l">
              <a:lnSpc>
                <a:spcPct val="115000"/>
              </a:lnSpc>
              <a:spcBef>
                <a:spcPts val="0"/>
              </a:spcBef>
              <a:spcAft>
                <a:spcPts val="0"/>
              </a:spcAft>
              <a:buNone/>
            </a:pPr>
            <a:r>
              <a:rPr i="1" lang="en-US" sz="2800">
                <a:solidFill>
                  <a:srgbClr val="434343"/>
                </a:solidFill>
                <a:latin typeface="Calibri"/>
                <a:ea typeface="Calibri"/>
                <a:cs typeface="Calibri"/>
                <a:sym typeface="Calibri"/>
              </a:rPr>
              <a:t>H</a:t>
            </a:r>
            <a:r>
              <a:rPr baseline="-25000" i="1" lang="en-US" sz="2800">
                <a:solidFill>
                  <a:srgbClr val="434343"/>
                </a:solidFill>
                <a:latin typeface="Calibri"/>
                <a:ea typeface="Calibri"/>
                <a:cs typeface="Calibri"/>
                <a:sym typeface="Calibri"/>
              </a:rPr>
              <a:t>0</a:t>
            </a:r>
            <a:r>
              <a:rPr i="1" lang="en-US" sz="2800">
                <a:solidFill>
                  <a:srgbClr val="434343"/>
                </a:solidFill>
                <a:latin typeface="Calibri"/>
                <a:ea typeface="Calibri"/>
                <a:cs typeface="Calibri"/>
                <a:sym typeface="Calibri"/>
              </a:rPr>
              <a:t>:  There is no interaction between BMI level and workout type on Calorie burn</a:t>
            </a:r>
            <a:endParaRPr i="1" sz="2800">
              <a:solidFill>
                <a:srgbClr val="434343"/>
              </a:solidFill>
              <a:latin typeface="Calibri"/>
              <a:ea typeface="Calibri"/>
              <a:cs typeface="Calibri"/>
              <a:sym typeface="Calibri"/>
            </a:endParaRPr>
          </a:p>
          <a:p>
            <a:pPr indent="0" lvl="0" marL="457200" rtl="0" algn="l">
              <a:lnSpc>
                <a:spcPct val="115000"/>
              </a:lnSpc>
              <a:spcBef>
                <a:spcPts val="0"/>
              </a:spcBef>
              <a:spcAft>
                <a:spcPts val="0"/>
              </a:spcAft>
              <a:buNone/>
            </a:pPr>
            <a:r>
              <a:rPr i="1" lang="en-US" sz="2800">
                <a:solidFill>
                  <a:srgbClr val="434343"/>
                </a:solidFill>
                <a:latin typeface="Calibri"/>
                <a:ea typeface="Calibri"/>
                <a:cs typeface="Calibri"/>
                <a:sym typeface="Calibri"/>
              </a:rPr>
              <a:t>H</a:t>
            </a:r>
            <a:r>
              <a:rPr baseline="-25000" i="1" lang="en-US" sz="2800">
                <a:solidFill>
                  <a:srgbClr val="434343"/>
                </a:solidFill>
                <a:latin typeface="Calibri"/>
                <a:ea typeface="Calibri"/>
                <a:cs typeface="Calibri"/>
                <a:sym typeface="Calibri"/>
              </a:rPr>
              <a:t>1</a:t>
            </a:r>
            <a:r>
              <a:rPr i="1" lang="en-US" sz="2800">
                <a:solidFill>
                  <a:srgbClr val="434343"/>
                </a:solidFill>
                <a:latin typeface="Calibri"/>
                <a:ea typeface="Calibri"/>
                <a:cs typeface="Calibri"/>
                <a:sym typeface="Calibri"/>
              </a:rPr>
              <a:t>:  There is no interaction between BMI level and workout type on Calorie burn</a:t>
            </a:r>
            <a:endParaRPr i="1" sz="2800">
              <a:solidFill>
                <a:srgbClr val="434343"/>
              </a:solidFill>
              <a:latin typeface="Calibri"/>
              <a:ea typeface="Calibri"/>
              <a:cs typeface="Calibri"/>
              <a:sym typeface="Calibri"/>
            </a:endParaRPr>
          </a:p>
          <a:p>
            <a:pPr indent="0" lvl="0" marL="457200" rtl="0" algn="l">
              <a:lnSpc>
                <a:spcPct val="115000"/>
              </a:lnSpc>
              <a:spcBef>
                <a:spcPts val="0"/>
              </a:spcBef>
              <a:spcAft>
                <a:spcPts val="0"/>
              </a:spcAft>
              <a:buClr>
                <a:schemeClr val="dk1"/>
              </a:buClr>
              <a:buSzPts val="1100"/>
              <a:buFont typeface="Arial"/>
              <a:buNone/>
            </a:pPr>
            <a:r>
              <a:t/>
            </a:r>
            <a:endParaRPr i="1" sz="2800">
              <a:solidFill>
                <a:srgbClr val="434343"/>
              </a:solidFill>
              <a:latin typeface="Calibri"/>
              <a:ea typeface="Calibri"/>
              <a:cs typeface="Calibri"/>
              <a:sym typeface="Calibri"/>
            </a:endParaRPr>
          </a:p>
          <a:p>
            <a:pPr indent="0" lvl="0" marL="0" rtl="0" algn="l">
              <a:spcBef>
                <a:spcPts val="0"/>
              </a:spcBef>
              <a:spcAft>
                <a:spcPts val="0"/>
              </a:spcAft>
              <a:buNone/>
            </a:pPr>
            <a:r>
              <a:t/>
            </a:r>
            <a:endParaRPr sz="3200">
              <a:solidFill>
                <a:srgbClr val="434343"/>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grpSp>
        <p:nvGrpSpPr>
          <p:cNvPr id="461" name="Google Shape;461;p13"/>
          <p:cNvGrpSpPr/>
          <p:nvPr/>
        </p:nvGrpSpPr>
        <p:grpSpPr>
          <a:xfrm>
            <a:off x="0" y="-216999"/>
            <a:ext cx="18288118" cy="3909410"/>
            <a:chOff x="0" y="-57152"/>
            <a:chExt cx="4816592" cy="1029632"/>
          </a:xfrm>
        </p:grpSpPr>
        <p:sp>
          <p:nvSpPr>
            <p:cNvPr id="462" name="Google Shape;462;p13"/>
            <p:cNvSpPr/>
            <p:nvPr/>
          </p:nvSpPr>
          <p:spPr>
            <a:xfrm>
              <a:off x="0" y="0"/>
              <a:ext cx="4816592" cy="972480"/>
            </a:xfrm>
            <a:custGeom>
              <a:rect b="b" l="l" r="r" t="t"/>
              <a:pathLst>
                <a:path extrusionOk="0" h="1196899" w="4816592">
                  <a:moveTo>
                    <a:pt x="0" y="0"/>
                  </a:moveTo>
                  <a:lnTo>
                    <a:pt x="4816592" y="0"/>
                  </a:lnTo>
                  <a:lnTo>
                    <a:pt x="4816592" y="1196899"/>
                  </a:lnTo>
                  <a:lnTo>
                    <a:pt x="0" y="1196899"/>
                  </a:lnTo>
                  <a:close/>
                </a:path>
              </a:pathLst>
            </a:custGeom>
            <a:solidFill>
              <a:srgbClr val="071C42"/>
            </a:solidFill>
            <a:ln>
              <a:noFill/>
            </a:ln>
          </p:spPr>
        </p:sp>
        <p:sp>
          <p:nvSpPr>
            <p:cNvPr id="463" name="Google Shape;463;p13"/>
            <p:cNvSpPr txBox="1"/>
            <p:nvPr/>
          </p:nvSpPr>
          <p:spPr>
            <a:xfrm>
              <a:off x="0" y="-57152"/>
              <a:ext cx="4816500" cy="10296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cxnSp>
        <p:nvCxnSpPr>
          <p:cNvPr id="464" name="Google Shape;464;p13"/>
          <p:cNvCxnSpPr/>
          <p:nvPr/>
        </p:nvCxnSpPr>
        <p:spPr>
          <a:xfrm>
            <a:off x="1028700" y="601417"/>
            <a:ext cx="16230600" cy="0"/>
          </a:xfrm>
          <a:prstGeom prst="straightConnector1">
            <a:avLst/>
          </a:prstGeom>
          <a:noFill/>
          <a:ln cap="flat" cmpd="sng" w="19050">
            <a:solidFill>
              <a:srgbClr val="D9D9D9"/>
            </a:solidFill>
            <a:prstDash val="solid"/>
            <a:round/>
            <a:headEnd len="sm" w="sm" type="none"/>
            <a:tailEnd len="sm" w="sm" type="none"/>
          </a:ln>
        </p:spPr>
      </p:cxnSp>
      <p:grpSp>
        <p:nvGrpSpPr>
          <p:cNvPr id="465" name="Google Shape;465;p13"/>
          <p:cNvGrpSpPr/>
          <p:nvPr/>
        </p:nvGrpSpPr>
        <p:grpSpPr>
          <a:xfrm>
            <a:off x="-25" y="3148758"/>
            <a:ext cx="9144059" cy="560483"/>
            <a:chOff x="0" y="-57150"/>
            <a:chExt cx="2408296" cy="147616"/>
          </a:xfrm>
        </p:grpSpPr>
        <p:sp>
          <p:nvSpPr>
            <p:cNvPr id="466" name="Google Shape;466;p13"/>
            <p:cNvSpPr/>
            <p:nvPr/>
          </p:nvSpPr>
          <p:spPr>
            <a:xfrm>
              <a:off x="0" y="0"/>
              <a:ext cx="2408296" cy="90466"/>
            </a:xfrm>
            <a:custGeom>
              <a:rect b="b" l="l" r="r" t="t"/>
              <a:pathLst>
                <a:path extrusionOk="0" h="90466" w="2408296">
                  <a:moveTo>
                    <a:pt x="0" y="0"/>
                  </a:moveTo>
                  <a:lnTo>
                    <a:pt x="2408296" y="0"/>
                  </a:lnTo>
                  <a:lnTo>
                    <a:pt x="2408296" y="90466"/>
                  </a:lnTo>
                  <a:lnTo>
                    <a:pt x="0" y="90466"/>
                  </a:lnTo>
                  <a:close/>
                </a:path>
              </a:pathLst>
            </a:custGeom>
            <a:solidFill>
              <a:srgbClr val="4DE1C7"/>
            </a:solidFill>
            <a:ln>
              <a:noFill/>
            </a:ln>
          </p:spPr>
        </p:sp>
        <p:sp>
          <p:nvSpPr>
            <p:cNvPr id="467" name="Google Shape;467;p13"/>
            <p:cNvSpPr txBox="1"/>
            <p:nvPr/>
          </p:nvSpPr>
          <p:spPr>
            <a:xfrm>
              <a:off x="0" y="-57150"/>
              <a:ext cx="2408296" cy="147616"/>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468" name="Google Shape;468;p13"/>
          <p:cNvSpPr/>
          <p:nvPr/>
        </p:nvSpPr>
        <p:spPr>
          <a:xfrm rot="4689992">
            <a:off x="10289729" y="-1421921"/>
            <a:ext cx="13969695" cy="5395795"/>
          </a:xfrm>
          <a:custGeom>
            <a:rect b="b" l="l" r="r" t="t"/>
            <a:pathLst>
              <a:path extrusionOk="0" h="5395795" w="13969695">
                <a:moveTo>
                  <a:pt x="0" y="0"/>
                </a:moveTo>
                <a:lnTo>
                  <a:pt x="13969695" y="0"/>
                </a:lnTo>
                <a:lnTo>
                  <a:pt x="13969695" y="5395795"/>
                </a:lnTo>
                <a:lnTo>
                  <a:pt x="0" y="5395795"/>
                </a:lnTo>
                <a:lnTo>
                  <a:pt x="0" y="0"/>
                </a:lnTo>
                <a:close/>
              </a:path>
            </a:pathLst>
          </a:custGeom>
          <a:blipFill rotWithShape="1">
            <a:blip r:embed="rId3">
              <a:alphaModFix/>
            </a:blip>
            <a:stretch>
              <a:fillRect b="0" l="0" r="0" t="0"/>
            </a:stretch>
          </a:blipFill>
          <a:ln>
            <a:noFill/>
          </a:ln>
        </p:spPr>
      </p:sp>
      <p:sp>
        <p:nvSpPr>
          <p:cNvPr id="469" name="Google Shape;469;p13"/>
          <p:cNvSpPr txBox="1"/>
          <p:nvPr/>
        </p:nvSpPr>
        <p:spPr>
          <a:xfrm>
            <a:off x="769677" y="1536376"/>
            <a:ext cx="11071500" cy="861900"/>
          </a:xfrm>
          <a:prstGeom prst="rect">
            <a:avLst/>
          </a:prstGeom>
          <a:noFill/>
          <a:ln>
            <a:noFill/>
          </a:ln>
        </p:spPr>
        <p:txBody>
          <a:bodyPr anchorCtr="0" anchor="t" bIns="0" lIns="0" spcFirstLastPara="1" rIns="0" wrap="square" tIns="0">
            <a:spAutoFit/>
          </a:bodyPr>
          <a:lstStyle/>
          <a:p>
            <a:pPr indent="0" lvl="0" marL="0" marR="0" rtl="0" algn="l">
              <a:lnSpc>
                <a:spcPct val="120003"/>
              </a:lnSpc>
              <a:spcBef>
                <a:spcPts val="0"/>
              </a:spcBef>
              <a:spcAft>
                <a:spcPts val="0"/>
              </a:spcAft>
              <a:buNone/>
            </a:pPr>
            <a:r>
              <a:rPr b="1" i="0" lang="en-US" sz="5599" u="none" cap="none" strike="noStrike">
                <a:solidFill>
                  <a:srgbClr val="FFFFFF"/>
                </a:solidFill>
                <a:latin typeface="Poppins"/>
                <a:ea typeface="Poppins"/>
                <a:cs typeface="Poppins"/>
                <a:sym typeface="Poppins"/>
              </a:rPr>
              <a:t>SMART Question </a:t>
            </a:r>
            <a:r>
              <a:rPr b="1" lang="en-US" sz="5599">
                <a:solidFill>
                  <a:srgbClr val="FFFFFF"/>
                </a:solidFill>
                <a:latin typeface="Poppins"/>
                <a:ea typeface="Poppins"/>
                <a:cs typeface="Poppins"/>
                <a:sym typeface="Poppins"/>
              </a:rPr>
              <a:t>4</a:t>
            </a:r>
            <a:endParaRPr/>
          </a:p>
        </p:txBody>
      </p:sp>
      <p:sp>
        <p:nvSpPr>
          <p:cNvPr id="470" name="Google Shape;470;p13"/>
          <p:cNvSpPr txBox="1"/>
          <p:nvPr/>
        </p:nvSpPr>
        <p:spPr>
          <a:xfrm>
            <a:off x="1544727" y="6368415"/>
            <a:ext cx="7083300" cy="215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t/>
            </a:r>
            <a:endParaRPr/>
          </a:p>
        </p:txBody>
      </p:sp>
      <p:pic>
        <p:nvPicPr>
          <p:cNvPr id="471" name="Google Shape;471;p13"/>
          <p:cNvPicPr preferRelativeResize="0"/>
          <p:nvPr/>
        </p:nvPicPr>
        <p:blipFill>
          <a:blip r:embed="rId4">
            <a:alphaModFix/>
          </a:blip>
          <a:stretch>
            <a:fillRect/>
          </a:stretch>
        </p:blipFill>
        <p:spPr>
          <a:xfrm>
            <a:off x="5311675" y="4095375"/>
            <a:ext cx="5081450" cy="5308550"/>
          </a:xfrm>
          <a:prstGeom prst="rect">
            <a:avLst/>
          </a:prstGeom>
          <a:noFill/>
          <a:ln>
            <a:noFill/>
          </a:ln>
        </p:spPr>
      </p:pic>
      <p:pic>
        <p:nvPicPr>
          <p:cNvPr id="472" name="Google Shape;472;p13"/>
          <p:cNvPicPr preferRelativeResize="0"/>
          <p:nvPr/>
        </p:nvPicPr>
        <p:blipFill>
          <a:blip r:embed="rId5">
            <a:alphaModFix/>
          </a:blip>
          <a:stretch>
            <a:fillRect/>
          </a:stretch>
        </p:blipFill>
        <p:spPr>
          <a:xfrm>
            <a:off x="136275" y="4095375"/>
            <a:ext cx="5081450" cy="5308550"/>
          </a:xfrm>
          <a:prstGeom prst="rect">
            <a:avLst/>
          </a:prstGeom>
          <a:noFill/>
          <a:ln>
            <a:noFill/>
          </a:ln>
        </p:spPr>
      </p:pic>
      <p:sp>
        <p:nvSpPr>
          <p:cNvPr id="473" name="Google Shape;473;p13"/>
          <p:cNvSpPr txBox="1"/>
          <p:nvPr/>
        </p:nvSpPr>
        <p:spPr>
          <a:xfrm>
            <a:off x="10878850" y="4033525"/>
            <a:ext cx="7409400" cy="55818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Clr>
                <a:schemeClr val="dk1"/>
              </a:buClr>
              <a:buSzPts val="1100"/>
              <a:buFont typeface="Arial"/>
              <a:buNone/>
            </a:pPr>
            <a:r>
              <a:rPr lang="en-US" sz="3200">
                <a:solidFill>
                  <a:srgbClr val="434343"/>
                </a:solidFill>
                <a:latin typeface="Calibri"/>
                <a:ea typeface="Calibri"/>
                <a:cs typeface="Calibri"/>
                <a:sym typeface="Calibri"/>
              </a:rPr>
              <a:t>ANOVA Results</a:t>
            </a:r>
            <a:endParaRPr sz="3200">
              <a:solidFill>
                <a:srgbClr val="434343"/>
              </a:solidFill>
              <a:latin typeface="Calibri"/>
              <a:ea typeface="Calibri"/>
              <a:cs typeface="Calibri"/>
              <a:sym typeface="Calibri"/>
            </a:endParaRPr>
          </a:p>
          <a:p>
            <a:pPr indent="0" lvl="0" marL="0" rtl="0" algn="just">
              <a:spcBef>
                <a:spcPts val="0"/>
              </a:spcBef>
              <a:spcAft>
                <a:spcPts val="0"/>
              </a:spcAft>
              <a:buClr>
                <a:schemeClr val="dk1"/>
              </a:buClr>
              <a:buSzPts val="1100"/>
              <a:buFont typeface="Arial"/>
              <a:buNone/>
            </a:pPr>
            <a:r>
              <a:rPr lang="en-US" sz="3200">
                <a:solidFill>
                  <a:srgbClr val="434343"/>
                </a:solidFill>
                <a:latin typeface="Calibri"/>
                <a:ea typeface="Calibri"/>
                <a:cs typeface="Calibri"/>
                <a:sym typeface="Calibri"/>
              </a:rPr>
              <a:t>1. </a:t>
            </a:r>
            <a:r>
              <a:rPr b="1" lang="en-US" sz="3200">
                <a:solidFill>
                  <a:srgbClr val="434343"/>
                </a:solidFill>
                <a:latin typeface="Calibri"/>
                <a:ea typeface="Calibri"/>
                <a:cs typeface="Calibri"/>
                <a:sym typeface="Calibri"/>
              </a:rPr>
              <a:t>Main effects</a:t>
            </a:r>
            <a:endParaRPr b="1" sz="3200">
              <a:solidFill>
                <a:srgbClr val="434343"/>
              </a:solidFill>
              <a:latin typeface="Calibri"/>
              <a:ea typeface="Calibri"/>
              <a:cs typeface="Calibri"/>
              <a:sym typeface="Calibri"/>
            </a:endParaRPr>
          </a:p>
          <a:p>
            <a:pPr indent="0" lvl="0" marL="0" rtl="0" algn="just">
              <a:spcBef>
                <a:spcPts val="0"/>
              </a:spcBef>
              <a:spcAft>
                <a:spcPts val="0"/>
              </a:spcAft>
              <a:buClr>
                <a:schemeClr val="dk1"/>
              </a:buClr>
              <a:buSzPts val="1100"/>
              <a:buFont typeface="Arial"/>
              <a:buNone/>
            </a:pPr>
            <a:r>
              <a:t/>
            </a:r>
            <a:endParaRPr sz="3200">
              <a:solidFill>
                <a:srgbClr val="434343"/>
              </a:solidFill>
              <a:latin typeface="Calibri"/>
              <a:ea typeface="Calibri"/>
              <a:cs typeface="Calibri"/>
              <a:sym typeface="Calibri"/>
            </a:endParaRPr>
          </a:p>
          <a:p>
            <a:pPr indent="0" lvl="0" marL="0" rtl="0" algn="just">
              <a:spcBef>
                <a:spcPts val="0"/>
              </a:spcBef>
              <a:spcAft>
                <a:spcPts val="0"/>
              </a:spcAft>
              <a:buNone/>
            </a:pPr>
            <a:r>
              <a:rPr lang="en-US" sz="3200">
                <a:solidFill>
                  <a:srgbClr val="434343"/>
                </a:solidFill>
                <a:latin typeface="Calibri"/>
                <a:ea typeface="Calibri"/>
                <a:cs typeface="Calibri"/>
                <a:sym typeface="Calibri"/>
              </a:rPr>
              <a:t>-   BMI Level: Cannot Reject HO as P value </a:t>
            </a:r>
            <a:endParaRPr sz="3200">
              <a:solidFill>
                <a:srgbClr val="434343"/>
              </a:solidFill>
              <a:latin typeface="Calibri"/>
              <a:ea typeface="Calibri"/>
              <a:cs typeface="Calibri"/>
              <a:sym typeface="Calibri"/>
            </a:endParaRPr>
          </a:p>
          <a:p>
            <a:pPr indent="0" lvl="0" marL="0" rtl="0" algn="just">
              <a:spcBef>
                <a:spcPts val="0"/>
              </a:spcBef>
              <a:spcAft>
                <a:spcPts val="0"/>
              </a:spcAft>
              <a:buNone/>
            </a:pPr>
            <a:r>
              <a:rPr lang="en-US" sz="3200">
                <a:solidFill>
                  <a:srgbClr val="434343"/>
                </a:solidFill>
                <a:latin typeface="Calibri"/>
                <a:ea typeface="Calibri"/>
                <a:cs typeface="Calibri"/>
                <a:sym typeface="Calibri"/>
              </a:rPr>
              <a:t>is &gt; 0.05</a:t>
            </a:r>
            <a:endParaRPr sz="3200">
              <a:solidFill>
                <a:srgbClr val="434343"/>
              </a:solidFill>
              <a:latin typeface="Calibri"/>
              <a:ea typeface="Calibri"/>
              <a:cs typeface="Calibri"/>
              <a:sym typeface="Calibri"/>
            </a:endParaRPr>
          </a:p>
          <a:p>
            <a:pPr indent="0" lvl="0" marL="0" rtl="0" algn="just">
              <a:spcBef>
                <a:spcPts val="0"/>
              </a:spcBef>
              <a:spcAft>
                <a:spcPts val="0"/>
              </a:spcAft>
              <a:buNone/>
            </a:pPr>
            <a:r>
              <a:rPr lang="en-US" sz="3200">
                <a:solidFill>
                  <a:srgbClr val="434343"/>
                </a:solidFill>
                <a:latin typeface="Calibri"/>
                <a:ea typeface="Calibri"/>
                <a:cs typeface="Calibri"/>
                <a:sym typeface="Calibri"/>
              </a:rPr>
              <a:t>- Workout Type: Cannot Reject HO as P value is &gt; 0.05</a:t>
            </a:r>
            <a:endParaRPr sz="3200">
              <a:solidFill>
                <a:srgbClr val="434343"/>
              </a:solidFill>
              <a:latin typeface="Calibri"/>
              <a:ea typeface="Calibri"/>
              <a:cs typeface="Calibri"/>
              <a:sym typeface="Calibri"/>
            </a:endParaRPr>
          </a:p>
          <a:p>
            <a:pPr indent="0" lvl="0" marL="0" rtl="0" algn="just">
              <a:spcBef>
                <a:spcPts val="0"/>
              </a:spcBef>
              <a:spcAft>
                <a:spcPts val="0"/>
              </a:spcAft>
              <a:buClr>
                <a:schemeClr val="dk1"/>
              </a:buClr>
              <a:buSzPts val="1100"/>
              <a:buFont typeface="Arial"/>
              <a:buNone/>
            </a:pPr>
            <a:r>
              <a:t/>
            </a:r>
            <a:endParaRPr sz="3200">
              <a:solidFill>
                <a:srgbClr val="434343"/>
              </a:solidFill>
              <a:latin typeface="Calibri"/>
              <a:ea typeface="Calibri"/>
              <a:cs typeface="Calibri"/>
              <a:sym typeface="Calibri"/>
            </a:endParaRPr>
          </a:p>
          <a:p>
            <a:pPr indent="0" lvl="0" marL="0" rtl="0" algn="just">
              <a:spcBef>
                <a:spcPts val="0"/>
              </a:spcBef>
              <a:spcAft>
                <a:spcPts val="0"/>
              </a:spcAft>
              <a:buNone/>
            </a:pPr>
            <a:r>
              <a:rPr lang="en-US" sz="3200">
                <a:solidFill>
                  <a:srgbClr val="434343"/>
                </a:solidFill>
                <a:latin typeface="Calibri"/>
                <a:ea typeface="Calibri"/>
                <a:cs typeface="Calibri"/>
                <a:sym typeface="Calibri"/>
              </a:rPr>
              <a:t>2.  </a:t>
            </a:r>
            <a:r>
              <a:rPr b="1" lang="en-US" sz="3200">
                <a:solidFill>
                  <a:srgbClr val="434343"/>
                </a:solidFill>
                <a:latin typeface="Calibri"/>
                <a:ea typeface="Calibri"/>
                <a:cs typeface="Calibri"/>
                <a:sym typeface="Calibri"/>
              </a:rPr>
              <a:t>Interaction Effect</a:t>
            </a:r>
            <a:endParaRPr b="1" sz="3200">
              <a:solidFill>
                <a:srgbClr val="434343"/>
              </a:solidFill>
              <a:latin typeface="Calibri"/>
              <a:ea typeface="Calibri"/>
              <a:cs typeface="Calibri"/>
              <a:sym typeface="Calibri"/>
            </a:endParaRPr>
          </a:p>
          <a:p>
            <a:pPr indent="0" lvl="0" marL="0" rtl="0" algn="just">
              <a:spcBef>
                <a:spcPts val="0"/>
              </a:spcBef>
              <a:spcAft>
                <a:spcPts val="0"/>
              </a:spcAft>
              <a:buNone/>
            </a:pPr>
            <a:r>
              <a:rPr lang="en-US" sz="3200">
                <a:solidFill>
                  <a:srgbClr val="434343"/>
                </a:solidFill>
                <a:latin typeface="Calibri"/>
                <a:ea typeface="Calibri"/>
                <a:cs typeface="Calibri"/>
                <a:sym typeface="Calibri"/>
              </a:rPr>
              <a:t>-   Cannot Reject HO as P value is &gt; 0.05</a:t>
            </a:r>
            <a:endParaRPr sz="3200">
              <a:solidFill>
                <a:srgbClr val="434343"/>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grpSp>
        <p:nvGrpSpPr>
          <p:cNvPr id="478" name="Google Shape;478;g341a6d35792_0_27"/>
          <p:cNvGrpSpPr/>
          <p:nvPr/>
        </p:nvGrpSpPr>
        <p:grpSpPr>
          <a:xfrm>
            <a:off x="0" y="-216993"/>
            <a:ext cx="18288118" cy="4761499"/>
            <a:chOff x="0" y="-57150"/>
            <a:chExt cx="4816592" cy="1254049"/>
          </a:xfrm>
        </p:grpSpPr>
        <p:sp>
          <p:nvSpPr>
            <p:cNvPr id="479" name="Google Shape;479;g341a6d35792_0_27"/>
            <p:cNvSpPr/>
            <p:nvPr/>
          </p:nvSpPr>
          <p:spPr>
            <a:xfrm>
              <a:off x="0" y="0"/>
              <a:ext cx="4816592" cy="1196899"/>
            </a:xfrm>
            <a:custGeom>
              <a:rect b="b" l="l" r="r" t="t"/>
              <a:pathLst>
                <a:path extrusionOk="0" h="1196899" w="4816592">
                  <a:moveTo>
                    <a:pt x="0" y="0"/>
                  </a:moveTo>
                  <a:lnTo>
                    <a:pt x="4816592" y="0"/>
                  </a:lnTo>
                  <a:lnTo>
                    <a:pt x="4816592" y="1196899"/>
                  </a:lnTo>
                  <a:lnTo>
                    <a:pt x="0" y="1196899"/>
                  </a:lnTo>
                  <a:close/>
                </a:path>
              </a:pathLst>
            </a:custGeom>
            <a:solidFill>
              <a:srgbClr val="071C42"/>
            </a:solidFill>
            <a:ln>
              <a:noFill/>
            </a:ln>
          </p:spPr>
        </p:sp>
        <p:sp>
          <p:nvSpPr>
            <p:cNvPr id="480" name="Google Shape;480;g341a6d35792_0_27"/>
            <p:cNvSpPr txBox="1"/>
            <p:nvPr/>
          </p:nvSpPr>
          <p:spPr>
            <a:xfrm>
              <a:off x="0" y="-57150"/>
              <a:ext cx="4816500" cy="12540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cxnSp>
        <p:nvCxnSpPr>
          <p:cNvPr id="481" name="Google Shape;481;g341a6d35792_0_27"/>
          <p:cNvCxnSpPr/>
          <p:nvPr/>
        </p:nvCxnSpPr>
        <p:spPr>
          <a:xfrm>
            <a:off x="1028700" y="601417"/>
            <a:ext cx="16230600" cy="0"/>
          </a:xfrm>
          <a:prstGeom prst="straightConnector1">
            <a:avLst/>
          </a:prstGeom>
          <a:noFill/>
          <a:ln cap="flat" cmpd="sng" w="19050">
            <a:solidFill>
              <a:srgbClr val="D9D9D9"/>
            </a:solidFill>
            <a:prstDash val="solid"/>
            <a:round/>
            <a:headEnd len="sm" w="sm" type="none"/>
            <a:tailEnd len="sm" w="sm" type="none"/>
          </a:ln>
        </p:spPr>
      </p:cxnSp>
      <p:grpSp>
        <p:nvGrpSpPr>
          <p:cNvPr id="482" name="Google Shape;482;g341a6d35792_0_27"/>
          <p:cNvGrpSpPr/>
          <p:nvPr/>
        </p:nvGrpSpPr>
        <p:grpSpPr>
          <a:xfrm>
            <a:off x="0" y="3983995"/>
            <a:ext cx="9144454" cy="560483"/>
            <a:chOff x="0" y="-57150"/>
            <a:chExt cx="2408400" cy="147616"/>
          </a:xfrm>
        </p:grpSpPr>
        <p:sp>
          <p:nvSpPr>
            <p:cNvPr id="483" name="Google Shape;483;g341a6d35792_0_27"/>
            <p:cNvSpPr/>
            <p:nvPr/>
          </p:nvSpPr>
          <p:spPr>
            <a:xfrm>
              <a:off x="0" y="0"/>
              <a:ext cx="2408296" cy="90466"/>
            </a:xfrm>
            <a:custGeom>
              <a:rect b="b" l="l" r="r" t="t"/>
              <a:pathLst>
                <a:path extrusionOk="0" h="90466" w="2408296">
                  <a:moveTo>
                    <a:pt x="0" y="0"/>
                  </a:moveTo>
                  <a:lnTo>
                    <a:pt x="2408296" y="0"/>
                  </a:lnTo>
                  <a:lnTo>
                    <a:pt x="2408296" y="90466"/>
                  </a:lnTo>
                  <a:lnTo>
                    <a:pt x="0" y="90466"/>
                  </a:lnTo>
                  <a:close/>
                </a:path>
              </a:pathLst>
            </a:custGeom>
            <a:solidFill>
              <a:srgbClr val="4DE1C7"/>
            </a:solidFill>
            <a:ln>
              <a:noFill/>
            </a:ln>
          </p:spPr>
        </p:sp>
        <p:sp>
          <p:nvSpPr>
            <p:cNvPr id="484" name="Google Shape;484;g341a6d35792_0_27"/>
            <p:cNvSpPr txBox="1"/>
            <p:nvPr/>
          </p:nvSpPr>
          <p:spPr>
            <a:xfrm>
              <a:off x="0" y="-57150"/>
              <a:ext cx="2408400" cy="1476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485" name="Google Shape;485;g341a6d35792_0_27"/>
          <p:cNvSpPr/>
          <p:nvPr/>
        </p:nvSpPr>
        <p:spPr>
          <a:xfrm rot="4689340">
            <a:off x="10301249" y="-1427487"/>
            <a:ext cx="13952441" cy="5389130"/>
          </a:xfrm>
          <a:custGeom>
            <a:rect b="b" l="l" r="r" t="t"/>
            <a:pathLst>
              <a:path extrusionOk="0" h="5395795" w="13969695">
                <a:moveTo>
                  <a:pt x="0" y="0"/>
                </a:moveTo>
                <a:lnTo>
                  <a:pt x="13969695" y="0"/>
                </a:lnTo>
                <a:lnTo>
                  <a:pt x="13969695" y="5395795"/>
                </a:lnTo>
                <a:lnTo>
                  <a:pt x="0" y="5395795"/>
                </a:lnTo>
                <a:lnTo>
                  <a:pt x="0" y="0"/>
                </a:lnTo>
                <a:close/>
              </a:path>
            </a:pathLst>
          </a:custGeom>
          <a:blipFill rotWithShape="1">
            <a:blip r:embed="rId3">
              <a:alphaModFix/>
            </a:blip>
            <a:stretch>
              <a:fillRect b="0" l="0" r="0" t="0"/>
            </a:stretch>
          </a:blipFill>
          <a:ln>
            <a:noFill/>
          </a:ln>
        </p:spPr>
      </p:sp>
      <p:sp>
        <p:nvSpPr>
          <p:cNvPr id="486" name="Google Shape;486;g341a6d35792_0_27"/>
          <p:cNvSpPr txBox="1"/>
          <p:nvPr/>
        </p:nvSpPr>
        <p:spPr>
          <a:xfrm>
            <a:off x="1544727" y="2546276"/>
            <a:ext cx="11071500" cy="861900"/>
          </a:xfrm>
          <a:prstGeom prst="rect">
            <a:avLst/>
          </a:prstGeom>
          <a:noFill/>
          <a:ln>
            <a:noFill/>
          </a:ln>
        </p:spPr>
        <p:txBody>
          <a:bodyPr anchorCtr="0" anchor="t" bIns="0" lIns="0" spcFirstLastPara="1" rIns="0" wrap="square" tIns="0">
            <a:spAutoFit/>
          </a:bodyPr>
          <a:lstStyle/>
          <a:p>
            <a:pPr indent="0" lvl="0" marL="0" marR="0" rtl="0" algn="l">
              <a:lnSpc>
                <a:spcPct val="120003"/>
              </a:lnSpc>
              <a:spcBef>
                <a:spcPts val="0"/>
              </a:spcBef>
              <a:spcAft>
                <a:spcPts val="0"/>
              </a:spcAft>
              <a:buNone/>
            </a:pPr>
            <a:r>
              <a:rPr b="1" i="0" lang="en-US" sz="5599" u="none" cap="none" strike="noStrike">
                <a:solidFill>
                  <a:srgbClr val="FFFFFF"/>
                </a:solidFill>
                <a:latin typeface="Poppins"/>
                <a:ea typeface="Poppins"/>
                <a:cs typeface="Poppins"/>
                <a:sym typeface="Poppins"/>
              </a:rPr>
              <a:t>SMART Question </a:t>
            </a:r>
            <a:r>
              <a:rPr b="1" lang="en-US" sz="5599">
                <a:solidFill>
                  <a:srgbClr val="FFFFFF"/>
                </a:solidFill>
                <a:latin typeface="Poppins"/>
                <a:ea typeface="Poppins"/>
                <a:cs typeface="Poppins"/>
                <a:sym typeface="Poppins"/>
              </a:rPr>
              <a:t>5</a:t>
            </a:r>
            <a:endParaRPr/>
          </a:p>
        </p:txBody>
      </p:sp>
      <p:sp>
        <p:nvSpPr>
          <p:cNvPr id="487" name="Google Shape;487;g341a6d35792_0_27"/>
          <p:cNvSpPr txBox="1"/>
          <p:nvPr/>
        </p:nvSpPr>
        <p:spPr>
          <a:xfrm>
            <a:off x="585450" y="4818330"/>
            <a:ext cx="8559000" cy="6541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lang="en-US" sz="2500">
                <a:solidFill>
                  <a:srgbClr val="545454"/>
                </a:solidFill>
                <a:latin typeface="Poppins"/>
                <a:ea typeface="Poppins"/>
                <a:cs typeface="Poppins"/>
                <a:sym typeface="Poppins"/>
              </a:rPr>
              <a:t>It is </a:t>
            </a:r>
            <a:r>
              <a:rPr lang="en-US" sz="2500">
                <a:solidFill>
                  <a:srgbClr val="545454"/>
                </a:solidFill>
                <a:latin typeface="Poppins"/>
                <a:ea typeface="Poppins"/>
                <a:cs typeface="Poppins"/>
                <a:sym typeface="Poppins"/>
              </a:rPr>
              <a:t>medically</a:t>
            </a:r>
            <a:r>
              <a:rPr lang="en-US" sz="2500">
                <a:solidFill>
                  <a:srgbClr val="545454"/>
                </a:solidFill>
                <a:latin typeface="Poppins"/>
                <a:ea typeface="Poppins"/>
                <a:cs typeface="Poppins"/>
                <a:sym typeface="Poppins"/>
              </a:rPr>
              <a:t> </a:t>
            </a:r>
            <a:r>
              <a:rPr lang="en-US" sz="2500">
                <a:solidFill>
                  <a:srgbClr val="545454"/>
                </a:solidFill>
                <a:latin typeface="Poppins"/>
                <a:ea typeface="Poppins"/>
                <a:cs typeface="Poppins"/>
                <a:sym typeface="Poppins"/>
              </a:rPr>
              <a:t>proven that fewer the hours of sleep and higher resting heart rate.</a:t>
            </a:r>
            <a:endParaRPr sz="2500">
              <a:solidFill>
                <a:srgbClr val="545454"/>
              </a:solidFill>
              <a:latin typeface="Poppins"/>
              <a:ea typeface="Poppins"/>
              <a:cs typeface="Poppins"/>
              <a:sym typeface="Poppins"/>
            </a:endParaRPr>
          </a:p>
          <a:p>
            <a:pPr indent="0" lvl="0" marL="0" marR="0" rtl="0" algn="l">
              <a:lnSpc>
                <a:spcPct val="160000"/>
              </a:lnSpc>
              <a:spcBef>
                <a:spcPts val="0"/>
              </a:spcBef>
              <a:spcAft>
                <a:spcPts val="0"/>
              </a:spcAft>
              <a:buNone/>
            </a:pPr>
            <a:r>
              <a:t/>
            </a:r>
            <a:endParaRPr sz="2500">
              <a:solidFill>
                <a:srgbClr val="545454"/>
              </a:solidFill>
              <a:latin typeface="Poppins"/>
              <a:ea typeface="Poppins"/>
              <a:cs typeface="Poppins"/>
              <a:sym typeface="Poppins"/>
            </a:endParaRPr>
          </a:p>
          <a:p>
            <a:pPr indent="0" lvl="0" marL="0" marR="0" rtl="0" algn="l">
              <a:lnSpc>
                <a:spcPct val="160000"/>
              </a:lnSpc>
              <a:spcBef>
                <a:spcPts val="0"/>
              </a:spcBef>
              <a:spcAft>
                <a:spcPts val="0"/>
              </a:spcAft>
              <a:buNone/>
            </a:pPr>
            <a:r>
              <a:rPr b="1" lang="en-US" sz="2500">
                <a:solidFill>
                  <a:srgbClr val="545454"/>
                </a:solidFill>
                <a:latin typeface="Poppins"/>
                <a:ea typeface="Poppins"/>
                <a:cs typeface="Poppins"/>
                <a:sym typeface="Poppins"/>
              </a:rPr>
              <a:t>Correlation Test Results </a:t>
            </a:r>
            <a:endParaRPr b="1" sz="2500">
              <a:solidFill>
                <a:srgbClr val="545454"/>
              </a:solidFill>
              <a:latin typeface="Poppins"/>
              <a:ea typeface="Poppins"/>
              <a:cs typeface="Poppins"/>
              <a:sym typeface="Poppins"/>
            </a:endParaRPr>
          </a:p>
          <a:p>
            <a:pPr indent="0" lvl="0" marL="0" rtl="0" algn="l">
              <a:lnSpc>
                <a:spcPct val="160000"/>
              </a:lnSpc>
              <a:spcBef>
                <a:spcPts val="0"/>
              </a:spcBef>
              <a:spcAft>
                <a:spcPts val="0"/>
              </a:spcAft>
              <a:buSzPts val="1100"/>
              <a:buNone/>
            </a:pPr>
            <a:r>
              <a:rPr lang="en-US" sz="2500">
                <a:solidFill>
                  <a:srgbClr val="545454"/>
                </a:solidFill>
                <a:latin typeface="Poppins"/>
                <a:ea typeface="Poppins"/>
                <a:cs typeface="Poppins"/>
                <a:sym typeface="Poppins"/>
              </a:rPr>
              <a:t>Coefficient : -0.0125. </a:t>
            </a:r>
            <a:endParaRPr sz="2500">
              <a:solidFill>
                <a:srgbClr val="545454"/>
              </a:solidFill>
              <a:latin typeface="Poppins"/>
              <a:ea typeface="Poppins"/>
              <a:cs typeface="Poppins"/>
              <a:sym typeface="Poppins"/>
            </a:endParaRPr>
          </a:p>
          <a:p>
            <a:pPr indent="0" lvl="0" marL="0" rtl="0" algn="l">
              <a:lnSpc>
                <a:spcPct val="160000"/>
              </a:lnSpc>
              <a:spcBef>
                <a:spcPts val="0"/>
              </a:spcBef>
              <a:spcAft>
                <a:spcPts val="0"/>
              </a:spcAft>
              <a:buSzPts val="1100"/>
              <a:buNone/>
            </a:pPr>
            <a:r>
              <a:t/>
            </a:r>
            <a:endParaRPr sz="2500">
              <a:solidFill>
                <a:srgbClr val="545454"/>
              </a:solidFill>
              <a:latin typeface="Poppins"/>
              <a:ea typeface="Poppins"/>
              <a:cs typeface="Poppins"/>
              <a:sym typeface="Poppins"/>
            </a:endParaRPr>
          </a:p>
          <a:p>
            <a:pPr indent="0" lvl="0" marL="0" rtl="0" algn="l">
              <a:lnSpc>
                <a:spcPct val="160000"/>
              </a:lnSpc>
              <a:spcBef>
                <a:spcPts val="0"/>
              </a:spcBef>
              <a:spcAft>
                <a:spcPts val="0"/>
              </a:spcAft>
              <a:buClr>
                <a:schemeClr val="dk1"/>
              </a:buClr>
              <a:buSzPts val="1100"/>
              <a:buFont typeface="Arial"/>
              <a:buNone/>
            </a:pPr>
            <a:r>
              <a:rPr lang="en-US" sz="2500">
                <a:solidFill>
                  <a:srgbClr val="545454"/>
                </a:solidFill>
                <a:latin typeface="Poppins"/>
                <a:ea typeface="Poppins"/>
                <a:cs typeface="Poppins"/>
                <a:sym typeface="Poppins"/>
              </a:rPr>
              <a:t>It is negatively correlated as expected, however the strength of the relationship is low.</a:t>
            </a:r>
            <a:endParaRPr sz="2500">
              <a:solidFill>
                <a:srgbClr val="545454"/>
              </a:solidFill>
              <a:latin typeface="Poppins"/>
              <a:ea typeface="Poppins"/>
              <a:cs typeface="Poppins"/>
              <a:sym typeface="Poppins"/>
            </a:endParaRPr>
          </a:p>
          <a:p>
            <a:pPr indent="0" lvl="0" marL="0" rtl="0" algn="l">
              <a:lnSpc>
                <a:spcPct val="160000"/>
              </a:lnSpc>
              <a:spcBef>
                <a:spcPts val="0"/>
              </a:spcBef>
              <a:spcAft>
                <a:spcPts val="0"/>
              </a:spcAft>
              <a:buClr>
                <a:schemeClr val="dk1"/>
              </a:buClr>
              <a:buSzPts val="1100"/>
              <a:buFont typeface="Arial"/>
              <a:buNone/>
            </a:pPr>
            <a:r>
              <a:t/>
            </a:r>
            <a:endParaRPr sz="2500">
              <a:solidFill>
                <a:srgbClr val="545454"/>
              </a:solidFill>
              <a:latin typeface="Poppins"/>
              <a:ea typeface="Poppins"/>
              <a:cs typeface="Poppins"/>
              <a:sym typeface="Poppins"/>
            </a:endParaRPr>
          </a:p>
          <a:p>
            <a:pPr indent="0" lvl="0" marL="0" rtl="0" algn="l">
              <a:lnSpc>
                <a:spcPct val="160000"/>
              </a:lnSpc>
              <a:spcBef>
                <a:spcPts val="0"/>
              </a:spcBef>
              <a:spcAft>
                <a:spcPts val="0"/>
              </a:spcAft>
              <a:buClr>
                <a:schemeClr val="dk1"/>
              </a:buClr>
              <a:buSzPts val="1100"/>
              <a:buFont typeface="Arial"/>
              <a:buNone/>
            </a:pPr>
            <a:r>
              <a:t/>
            </a:r>
            <a:endParaRPr sz="2500">
              <a:solidFill>
                <a:srgbClr val="545454"/>
              </a:solidFill>
              <a:latin typeface="Poppins"/>
              <a:ea typeface="Poppins"/>
              <a:cs typeface="Poppins"/>
              <a:sym typeface="Poppins"/>
            </a:endParaRPr>
          </a:p>
          <a:p>
            <a:pPr indent="0" lvl="0" marL="0" marR="0" rtl="0" algn="l">
              <a:lnSpc>
                <a:spcPct val="160000"/>
              </a:lnSpc>
              <a:spcBef>
                <a:spcPts val="0"/>
              </a:spcBef>
              <a:spcAft>
                <a:spcPts val="0"/>
              </a:spcAft>
              <a:buNone/>
            </a:pPr>
            <a:r>
              <a:t/>
            </a:r>
            <a:endParaRPr sz="2500">
              <a:solidFill>
                <a:srgbClr val="545454"/>
              </a:solidFill>
              <a:latin typeface="Poppins"/>
              <a:ea typeface="Poppins"/>
              <a:cs typeface="Poppins"/>
              <a:sym typeface="Poppins"/>
            </a:endParaRPr>
          </a:p>
        </p:txBody>
      </p:sp>
      <p:sp>
        <p:nvSpPr>
          <p:cNvPr id="488" name="Google Shape;488;g341a6d35792_0_27"/>
          <p:cNvSpPr txBox="1"/>
          <p:nvPr/>
        </p:nvSpPr>
        <p:spPr>
          <a:xfrm>
            <a:off x="8896175" y="2360400"/>
            <a:ext cx="8559000" cy="21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3400">
                <a:solidFill>
                  <a:schemeClr val="lt1"/>
                </a:solidFill>
                <a:latin typeface="Calibri"/>
                <a:ea typeface="Calibri"/>
                <a:cs typeface="Calibri"/>
                <a:sym typeface="Calibri"/>
              </a:rPr>
              <a:t>Is there a link between poor sleep and </a:t>
            </a:r>
            <a:r>
              <a:rPr b="1" lang="en-US" sz="3400">
                <a:solidFill>
                  <a:schemeClr val="lt1"/>
                </a:solidFill>
                <a:latin typeface="Calibri"/>
                <a:ea typeface="Calibri"/>
                <a:cs typeface="Calibri"/>
                <a:sym typeface="Calibri"/>
              </a:rPr>
              <a:t>resting heart rate?</a:t>
            </a:r>
            <a:endParaRPr b="1" sz="3400">
              <a:solidFill>
                <a:schemeClr val="lt1"/>
              </a:solidFill>
              <a:latin typeface="Calibri"/>
              <a:ea typeface="Calibri"/>
              <a:cs typeface="Calibri"/>
              <a:sym typeface="Calibri"/>
            </a:endParaRPr>
          </a:p>
        </p:txBody>
      </p:sp>
      <p:sp>
        <p:nvSpPr>
          <p:cNvPr id="489" name="Google Shape;489;g341a6d35792_0_27"/>
          <p:cNvSpPr txBox="1"/>
          <p:nvPr/>
        </p:nvSpPr>
        <p:spPr>
          <a:xfrm>
            <a:off x="9410700" y="8950200"/>
            <a:ext cx="8748900" cy="1221300"/>
          </a:xfrm>
          <a:prstGeom prst="rect">
            <a:avLst/>
          </a:prstGeom>
          <a:noFill/>
          <a:ln>
            <a:noFill/>
          </a:ln>
        </p:spPr>
        <p:txBody>
          <a:bodyPr anchorCtr="0" anchor="t" bIns="91425" lIns="91425" spcFirstLastPara="1" rIns="91425" wrap="square" tIns="91425">
            <a:noAutofit/>
          </a:bodyPr>
          <a:lstStyle/>
          <a:p>
            <a:pPr indent="0" lvl="0" marL="0" rtl="0" algn="l">
              <a:lnSpc>
                <a:spcPct val="160000"/>
              </a:lnSpc>
              <a:spcBef>
                <a:spcPts val="0"/>
              </a:spcBef>
              <a:spcAft>
                <a:spcPts val="0"/>
              </a:spcAft>
              <a:buClr>
                <a:schemeClr val="dk1"/>
              </a:buClr>
              <a:buSzPts val="1100"/>
              <a:buFont typeface="Arial"/>
              <a:buNone/>
            </a:pPr>
            <a:r>
              <a:rPr lang="en-US" sz="2300">
                <a:solidFill>
                  <a:srgbClr val="545454"/>
                </a:solidFill>
                <a:latin typeface="Poppins"/>
                <a:ea typeface="Poppins"/>
                <a:cs typeface="Poppins"/>
                <a:sym typeface="Poppins"/>
              </a:rPr>
              <a:t>Source: &lt;https://pmc.ncbi.nlm.nih.gov/articles/PMC7680518/&gt;</a:t>
            </a:r>
            <a:endParaRPr sz="3000">
              <a:solidFill>
                <a:schemeClr val="dk1"/>
              </a:solidFill>
              <a:latin typeface="Calibri"/>
              <a:ea typeface="Calibri"/>
              <a:cs typeface="Calibri"/>
              <a:sym typeface="Calibri"/>
            </a:endParaRPr>
          </a:p>
        </p:txBody>
      </p:sp>
      <p:pic>
        <p:nvPicPr>
          <p:cNvPr id="490" name="Google Shape;490;g341a6d35792_0_27"/>
          <p:cNvPicPr preferRelativeResize="0"/>
          <p:nvPr/>
        </p:nvPicPr>
        <p:blipFill rotWithShape="1">
          <a:blip r:embed="rId4">
            <a:alphaModFix/>
          </a:blip>
          <a:srcRect b="15576" l="15843" r="16680" t="17969"/>
          <a:stretch/>
        </p:blipFill>
        <p:spPr>
          <a:xfrm>
            <a:off x="10690975" y="4717325"/>
            <a:ext cx="4297974" cy="4232876"/>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4" name="Shape 494"/>
        <p:cNvGrpSpPr/>
        <p:nvPr/>
      </p:nvGrpSpPr>
      <p:grpSpPr>
        <a:xfrm>
          <a:off x="0" y="0"/>
          <a:ext cx="0" cy="0"/>
          <a:chOff x="0" y="0"/>
          <a:chExt cx="0" cy="0"/>
        </a:xfrm>
      </p:grpSpPr>
      <p:pic>
        <p:nvPicPr>
          <p:cNvPr id="495" name="Google Shape;495;g341d387c2eb_5_0"/>
          <p:cNvPicPr preferRelativeResize="0"/>
          <p:nvPr/>
        </p:nvPicPr>
        <p:blipFill>
          <a:blip r:embed="rId3">
            <a:alphaModFix/>
          </a:blip>
          <a:stretch>
            <a:fillRect/>
          </a:stretch>
        </p:blipFill>
        <p:spPr>
          <a:xfrm>
            <a:off x="2013075" y="386388"/>
            <a:ext cx="15663526" cy="966662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9" name="Shape 499"/>
        <p:cNvGrpSpPr/>
        <p:nvPr/>
      </p:nvGrpSpPr>
      <p:grpSpPr>
        <a:xfrm>
          <a:off x="0" y="0"/>
          <a:ext cx="0" cy="0"/>
          <a:chOff x="0" y="0"/>
          <a:chExt cx="0" cy="0"/>
        </a:xfrm>
      </p:grpSpPr>
      <p:grpSp>
        <p:nvGrpSpPr>
          <p:cNvPr id="500" name="Google Shape;500;g341d387c2eb_0_0"/>
          <p:cNvGrpSpPr/>
          <p:nvPr/>
        </p:nvGrpSpPr>
        <p:grpSpPr>
          <a:xfrm>
            <a:off x="-164400" y="-217018"/>
            <a:ext cx="18288118" cy="4761499"/>
            <a:chOff x="0" y="-57150"/>
            <a:chExt cx="4816592" cy="1254049"/>
          </a:xfrm>
        </p:grpSpPr>
        <p:sp>
          <p:nvSpPr>
            <p:cNvPr id="501" name="Google Shape;501;g341d387c2eb_0_0"/>
            <p:cNvSpPr/>
            <p:nvPr/>
          </p:nvSpPr>
          <p:spPr>
            <a:xfrm>
              <a:off x="0" y="0"/>
              <a:ext cx="4816592" cy="1196899"/>
            </a:xfrm>
            <a:custGeom>
              <a:rect b="b" l="l" r="r" t="t"/>
              <a:pathLst>
                <a:path extrusionOk="0" h="1196899" w="4816592">
                  <a:moveTo>
                    <a:pt x="0" y="0"/>
                  </a:moveTo>
                  <a:lnTo>
                    <a:pt x="4816592" y="0"/>
                  </a:lnTo>
                  <a:lnTo>
                    <a:pt x="4816592" y="1196899"/>
                  </a:lnTo>
                  <a:lnTo>
                    <a:pt x="0" y="1196899"/>
                  </a:lnTo>
                  <a:close/>
                </a:path>
              </a:pathLst>
            </a:custGeom>
            <a:solidFill>
              <a:srgbClr val="071C42"/>
            </a:solidFill>
            <a:ln>
              <a:noFill/>
            </a:ln>
          </p:spPr>
        </p:sp>
        <p:sp>
          <p:nvSpPr>
            <p:cNvPr id="502" name="Google Shape;502;g341d387c2eb_0_0"/>
            <p:cNvSpPr txBox="1"/>
            <p:nvPr/>
          </p:nvSpPr>
          <p:spPr>
            <a:xfrm>
              <a:off x="0" y="-57150"/>
              <a:ext cx="4816500" cy="12540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cxnSp>
        <p:nvCxnSpPr>
          <p:cNvPr id="503" name="Google Shape;503;g341d387c2eb_0_0"/>
          <p:cNvCxnSpPr/>
          <p:nvPr/>
        </p:nvCxnSpPr>
        <p:spPr>
          <a:xfrm>
            <a:off x="1028700" y="601417"/>
            <a:ext cx="16230600" cy="0"/>
          </a:xfrm>
          <a:prstGeom prst="straightConnector1">
            <a:avLst/>
          </a:prstGeom>
          <a:noFill/>
          <a:ln cap="flat" cmpd="sng" w="19050">
            <a:solidFill>
              <a:srgbClr val="D9D9D9"/>
            </a:solidFill>
            <a:prstDash val="solid"/>
            <a:round/>
            <a:headEnd len="sm" w="sm" type="none"/>
            <a:tailEnd len="sm" w="sm" type="none"/>
          </a:ln>
        </p:spPr>
      </p:cxnSp>
      <p:grpSp>
        <p:nvGrpSpPr>
          <p:cNvPr id="504" name="Google Shape;504;g341d387c2eb_0_0"/>
          <p:cNvGrpSpPr/>
          <p:nvPr/>
        </p:nvGrpSpPr>
        <p:grpSpPr>
          <a:xfrm>
            <a:off x="0" y="3983995"/>
            <a:ext cx="9144454" cy="560483"/>
            <a:chOff x="0" y="-57150"/>
            <a:chExt cx="2408400" cy="147616"/>
          </a:xfrm>
        </p:grpSpPr>
        <p:sp>
          <p:nvSpPr>
            <p:cNvPr id="505" name="Google Shape;505;g341d387c2eb_0_0"/>
            <p:cNvSpPr/>
            <p:nvPr/>
          </p:nvSpPr>
          <p:spPr>
            <a:xfrm>
              <a:off x="0" y="0"/>
              <a:ext cx="2408296" cy="90466"/>
            </a:xfrm>
            <a:custGeom>
              <a:rect b="b" l="l" r="r" t="t"/>
              <a:pathLst>
                <a:path extrusionOk="0" h="90466" w="2408296">
                  <a:moveTo>
                    <a:pt x="0" y="0"/>
                  </a:moveTo>
                  <a:lnTo>
                    <a:pt x="2408296" y="0"/>
                  </a:lnTo>
                  <a:lnTo>
                    <a:pt x="2408296" y="90466"/>
                  </a:lnTo>
                  <a:lnTo>
                    <a:pt x="0" y="90466"/>
                  </a:lnTo>
                  <a:close/>
                </a:path>
              </a:pathLst>
            </a:custGeom>
            <a:solidFill>
              <a:srgbClr val="4DE1C7"/>
            </a:solidFill>
            <a:ln>
              <a:noFill/>
            </a:ln>
          </p:spPr>
        </p:sp>
        <p:sp>
          <p:nvSpPr>
            <p:cNvPr id="506" name="Google Shape;506;g341d387c2eb_0_0"/>
            <p:cNvSpPr txBox="1"/>
            <p:nvPr/>
          </p:nvSpPr>
          <p:spPr>
            <a:xfrm>
              <a:off x="0" y="-57150"/>
              <a:ext cx="2408400" cy="1476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507" name="Google Shape;507;g341d387c2eb_0_0"/>
          <p:cNvSpPr/>
          <p:nvPr/>
        </p:nvSpPr>
        <p:spPr>
          <a:xfrm rot="4689340">
            <a:off x="10301249" y="-1427487"/>
            <a:ext cx="13952441" cy="5389130"/>
          </a:xfrm>
          <a:custGeom>
            <a:rect b="b" l="l" r="r" t="t"/>
            <a:pathLst>
              <a:path extrusionOk="0" h="5395795" w="13969695">
                <a:moveTo>
                  <a:pt x="0" y="0"/>
                </a:moveTo>
                <a:lnTo>
                  <a:pt x="13969695" y="0"/>
                </a:lnTo>
                <a:lnTo>
                  <a:pt x="13969695" y="5395795"/>
                </a:lnTo>
                <a:lnTo>
                  <a:pt x="0" y="5395795"/>
                </a:lnTo>
                <a:lnTo>
                  <a:pt x="0" y="0"/>
                </a:lnTo>
                <a:close/>
              </a:path>
            </a:pathLst>
          </a:custGeom>
          <a:blipFill rotWithShape="1">
            <a:blip r:embed="rId3">
              <a:alphaModFix/>
            </a:blip>
            <a:stretch>
              <a:fillRect b="0" l="0" r="0" t="0"/>
            </a:stretch>
          </a:blipFill>
          <a:ln>
            <a:noFill/>
          </a:ln>
        </p:spPr>
      </p:sp>
      <p:sp>
        <p:nvSpPr>
          <p:cNvPr id="508" name="Google Shape;508;g341d387c2eb_0_0"/>
          <p:cNvSpPr txBox="1"/>
          <p:nvPr/>
        </p:nvSpPr>
        <p:spPr>
          <a:xfrm>
            <a:off x="1544727" y="2546276"/>
            <a:ext cx="11071500" cy="861900"/>
          </a:xfrm>
          <a:prstGeom prst="rect">
            <a:avLst/>
          </a:prstGeom>
          <a:noFill/>
          <a:ln>
            <a:noFill/>
          </a:ln>
        </p:spPr>
        <p:txBody>
          <a:bodyPr anchorCtr="0" anchor="t" bIns="0" lIns="0" spcFirstLastPara="1" rIns="0" wrap="square" tIns="0">
            <a:spAutoFit/>
          </a:bodyPr>
          <a:lstStyle/>
          <a:p>
            <a:pPr indent="0" lvl="0" marL="0" marR="0" rtl="0" algn="l">
              <a:lnSpc>
                <a:spcPct val="120003"/>
              </a:lnSpc>
              <a:spcBef>
                <a:spcPts val="0"/>
              </a:spcBef>
              <a:spcAft>
                <a:spcPts val="0"/>
              </a:spcAft>
              <a:buNone/>
            </a:pPr>
            <a:r>
              <a:rPr b="1" i="0" lang="en-US" sz="5599" u="none" cap="none" strike="noStrike">
                <a:solidFill>
                  <a:srgbClr val="FFFFFF"/>
                </a:solidFill>
                <a:latin typeface="Poppins"/>
                <a:ea typeface="Poppins"/>
                <a:cs typeface="Poppins"/>
                <a:sym typeface="Poppins"/>
              </a:rPr>
              <a:t>SMART Question </a:t>
            </a:r>
            <a:r>
              <a:rPr b="1" lang="en-US" sz="5599">
                <a:solidFill>
                  <a:srgbClr val="FFFFFF"/>
                </a:solidFill>
                <a:latin typeface="Poppins"/>
                <a:ea typeface="Poppins"/>
                <a:cs typeface="Poppins"/>
                <a:sym typeface="Poppins"/>
              </a:rPr>
              <a:t>6</a:t>
            </a:r>
            <a:endParaRPr/>
          </a:p>
        </p:txBody>
      </p:sp>
      <p:sp>
        <p:nvSpPr>
          <p:cNvPr id="509" name="Google Shape;509;g341d387c2eb_0_0"/>
          <p:cNvSpPr txBox="1"/>
          <p:nvPr/>
        </p:nvSpPr>
        <p:spPr>
          <a:xfrm>
            <a:off x="239550" y="4959250"/>
            <a:ext cx="8267100" cy="5744400"/>
          </a:xfrm>
          <a:prstGeom prst="rect">
            <a:avLst/>
          </a:prstGeom>
          <a:noFill/>
          <a:ln>
            <a:noFill/>
          </a:ln>
        </p:spPr>
        <p:txBody>
          <a:bodyPr anchorCtr="0" anchor="t" bIns="0" lIns="0" spcFirstLastPara="1" rIns="0" wrap="square" tIns="0">
            <a:spAutoFit/>
          </a:bodyPr>
          <a:lstStyle/>
          <a:p>
            <a:pPr indent="0" lvl="0" marL="0" rtl="0" algn="l">
              <a:lnSpc>
                <a:spcPct val="160000"/>
              </a:lnSpc>
              <a:spcBef>
                <a:spcPts val="0"/>
              </a:spcBef>
              <a:spcAft>
                <a:spcPts val="0"/>
              </a:spcAft>
              <a:buClr>
                <a:schemeClr val="dk1"/>
              </a:buClr>
              <a:buSzPts val="1100"/>
              <a:buFont typeface="Arial"/>
              <a:buNone/>
            </a:pPr>
            <a:r>
              <a:rPr b="1" lang="en-US" sz="2300">
                <a:solidFill>
                  <a:srgbClr val="545454"/>
                </a:solidFill>
                <a:latin typeface="Poppins"/>
                <a:ea typeface="Poppins"/>
                <a:cs typeface="Poppins"/>
                <a:sym typeface="Poppins"/>
              </a:rPr>
              <a:t>Mood Before Workout:</a:t>
            </a:r>
            <a:r>
              <a:rPr lang="en-US" sz="2000">
                <a:solidFill>
                  <a:srgbClr val="545454"/>
                </a:solidFill>
                <a:latin typeface="Poppins"/>
                <a:ea typeface="Poppins"/>
                <a:cs typeface="Poppins"/>
                <a:sym typeface="Poppins"/>
              </a:rPr>
              <a:t> Happy, Neutral, Stressed and Tired.</a:t>
            </a:r>
            <a:endParaRPr sz="2000">
              <a:solidFill>
                <a:srgbClr val="545454"/>
              </a:solidFill>
              <a:latin typeface="Poppins"/>
              <a:ea typeface="Poppins"/>
              <a:cs typeface="Poppins"/>
              <a:sym typeface="Poppins"/>
            </a:endParaRPr>
          </a:p>
          <a:p>
            <a:pPr indent="0" lvl="0" marL="0" rtl="0" algn="l">
              <a:lnSpc>
                <a:spcPct val="160000"/>
              </a:lnSpc>
              <a:spcBef>
                <a:spcPts val="0"/>
              </a:spcBef>
              <a:spcAft>
                <a:spcPts val="0"/>
              </a:spcAft>
              <a:buClr>
                <a:schemeClr val="dk1"/>
              </a:buClr>
              <a:buSzPts val="1100"/>
              <a:buFont typeface="Arial"/>
              <a:buNone/>
            </a:pPr>
            <a:r>
              <a:rPr b="1" lang="en-US" sz="2300">
                <a:solidFill>
                  <a:srgbClr val="545454"/>
                </a:solidFill>
                <a:latin typeface="Poppins"/>
                <a:ea typeface="Poppins"/>
                <a:cs typeface="Poppins"/>
                <a:sym typeface="Poppins"/>
              </a:rPr>
              <a:t>Mood After Workout: </a:t>
            </a:r>
            <a:r>
              <a:rPr lang="en-US" sz="2000">
                <a:solidFill>
                  <a:srgbClr val="545454"/>
                </a:solidFill>
                <a:latin typeface="Poppins"/>
                <a:ea typeface="Poppins"/>
                <a:cs typeface="Poppins"/>
                <a:sym typeface="Poppins"/>
              </a:rPr>
              <a:t>Energized, Fatigued and Neutral</a:t>
            </a:r>
            <a:endParaRPr sz="2000">
              <a:solidFill>
                <a:srgbClr val="545454"/>
              </a:solidFill>
              <a:latin typeface="Poppins"/>
              <a:ea typeface="Poppins"/>
              <a:cs typeface="Poppins"/>
              <a:sym typeface="Poppins"/>
            </a:endParaRPr>
          </a:p>
          <a:p>
            <a:pPr indent="0" lvl="0" marL="0" rtl="0" algn="l">
              <a:lnSpc>
                <a:spcPct val="160000"/>
              </a:lnSpc>
              <a:spcBef>
                <a:spcPts val="0"/>
              </a:spcBef>
              <a:spcAft>
                <a:spcPts val="0"/>
              </a:spcAft>
              <a:buClr>
                <a:schemeClr val="dk1"/>
              </a:buClr>
              <a:buSzPts val="1100"/>
              <a:buFont typeface="Arial"/>
              <a:buNone/>
            </a:pPr>
            <a:r>
              <a:t/>
            </a:r>
            <a:endParaRPr sz="2000">
              <a:solidFill>
                <a:srgbClr val="545454"/>
              </a:solidFill>
              <a:latin typeface="Poppins"/>
              <a:ea typeface="Poppins"/>
              <a:cs typeface="Poppins"/>
              <a:sym typeface="Poppins"/>
            </a:endParaRPr>
          </a:p>
          <a:p>
            <a:pPr indent="0" lvl="0" marL="0" rtl="0" algn="l">
              <a:lnSpc>
                <a:spcPct val="160000"/>
              </a:lnSpc>
              <a:spcBef>
                <a:spcPts val="0"/>
              </a:spcBef>
              <a:spcAft>
                <a:spcPts val="0"/>
              </a:spcAft>
              <a:buSzPts val="1100"/>
              <a:buNone/>
            </a:pPr>
            <a:r>
              <a:rPr lang="en-US" sz="2300">
                <a:solidFill>
                  <a:srgbClr val="545454"/>
                </a:solidFill>
                <a:latin typeface="Poppins"/>
                <a:ea typeface="Poppins"/>
                <a:cs typeface="Poppins"/>
                <a:sym typeface="Poppins"/>
              </a:rPr>
              <a:t>Using a Chi-squared test of Independence.</a:t>
            </a:r>
            <a:endParaRPr sz="2300">
              <a:solidFill>
                <a:srgbClr val="545454"/>
              </a:solidFill>
              <a:latin typeface="Poppins"/>
              <a:ea typeface="Poppins"/>
              <a:cs typeface="Poppins"/>
              <a:sym typeface="Poppins"/>
            </a:endParaRPr>
          </a:p>
          <a:p>
            <a:pPr indent="0" lvl="0" marL="457200" rtl="0" algn="l">
              <a:lnSpc>
                <a:spcPct val="115000"/>
              </a:lnSpc>
              <a:spcBef>
                <a:spcPts val="0"/>
              </a:spcBef>
              <a:spcAft>
                <a:spcPts val="0"/>
              </a:spcAft>
              <a:buSzPts val="1100"/>
              <a:buNone/>
            </a:pPr>
            <a:r>
              <a:rPr i="1" lang="en-US" sz="2600">
                <a:solidFill>
                  <a:srgbClr val="545454"/>
                </a:solidFill>
                <a:latin typeface="Calibri"/>
                <a:ea typeface="Calibri"/>
                <a:cs typeface="Calibri"/>
                <a:sym typeface="Calibri"/>
              </a:rPr>
              <a:t>H</a:t>
            </a:r>
            <a:r>
              <a:rPr baseline="-25000" i="1" lang="en-US" sz="2600">
                <a:solidFill>
                  <a:srgbClr val="545454"/>
                </a:solidFill>
                <a:latin typeface="Calibri"/>
                <a:ea typeface="Calibri"/>
                <a:cs typeface="Calibri"/>
                <a:sym typeface="Calibri"/>
              </a:rPr>
              <a:t>0</a:t>
            </a:r>
            <a:r>
              <a:rPr i="1" lang="en-US" sz="2600">
                <a:solidFill>
                  <a:srgbClr val="545454"/>
                </a:solidFill>
                <a:latin typeface="Calibri"/>
                <a:ea typeface="Calibri"/>
                <a:cs typeface="Calibri"/>
                <a:sym typeface="Calibri"/>
              </a:rPr>
              <a:t>:  There is no relationship between mood before and after workout</a:t>
            </a:r>
            <a:endParaRPr i="1" sz="2600">
              <a:solidFill>
                <a:srgbClr val="545454"/>
              </a:solidFill>
              <a:latin typeface="Calibri"/>
              <a:ea typeface="Calibri"/>
              <a:cs typeface="Calibri"/>
              <a:sym typeface="Calibri"/>
            </a:endParaRPr>
          </a:p>
          <a:p>
            <a:pPr indent="0" lvl="0" marL="457200" rtl="0" algn="l">
              <a:lnSpc>
                <a:spcPct val="115000"/>
              </a:lnSpc>
              <a:spcBef>
                <a:spcPts val="0"/>
              </a:spcBef>
              <a:spcAft>
                <a:spcPts val="0"/>
              </a:spcAft>
              <a:buSzPts val="1100"/>
              <a:buNone/>
            </a:pPr>
            <a:r>
              <a:rPr i="1" lang="en-US" sz="2600">
                <a:solidFill>
                  <a:srgbClr val="545454"/>
                </a:solidFill>
                <a:latin typeface="Calibri"/>
                <a:ea typeface="Calibri"/>
                <a:cs typeface="Calibri"/>
                <a:sym typeface="Calibri"/>
              </a:rPr>
              <a:t>H</a:t>
            </a:r>
            <a:r>
              <a:rPr baseline="-25000" i="1" lang="en-US" sz="2600">
                <a:solidFill>
                  <a:srgbClr val="545454"/>
                </a:solidFill>
                <a:latin typeface="Calibri"/>
                <a:ea typeface="Calibri"/>
                <a:cs typeface="Calibri"/>
                <a:sym typeface="Calibri"/>
              </a:rPr>
              <a:t>1</a:t>
            </a:r>
            <a:r>
              <a:rPr i="1" lang="en-US" sz="2600">
                <a:solidFill>
                  <a:srgbClr val="545454"/>
                </a:solidFill>
                <a:latin typeface="Calibri"/>
                <a:ea typeface="Calibri"/>
                <a:cs typeface="Calibri"/>
                <a:sym typeface="Calibri"/>
              </a:rPr>
              <a:t>:There is a relationship between mood before and after workout</a:t>
            </a:r>
            <a:endParaRPr i="1" sz="2600">
              <a:solidFill>
                <a:srgbClr val="545454"/>
              </a:solidFill>
              <a:latin typeface="Calibri"/>
              <a:ea typeface="Calibri"/>
              <a:cs typeface="Calibri"/>
              <a:sym typeface="Calibri"/>
            </a:endParaRPr>
          </a:p>
          <a:p>
            <a:pPr indent="0" lvl="0" marL="457200" rtl="0" algn="l">
              <a:lnSpc>
                <a:spcPct val="115000"/>
              </a:lnSpc>
              <a:spcBef>
                <a:spcPts val="0"/>
              </a:spcBef>
              <a:spcAft>
                <a:spcPts val="0"/>
              </a:spcAft>
              <a:buSzPts val="1100"/>
              <a:buNone/>
            </a:pPr>
            <a:r>
              <a:t/>
            </a:r>
            <a:endParaRPr i="1" sz="2800">
              <a:solidFill>
                <a:srgbClr val="434343"/>
              </a:solidFill>
              <a:latin typeface="Calibri"/>
              <a:ea typeface="Calibri"/>
              <a:cs typeface="Calibri"/>
              <a:sym typeface="Calibri"/>
            </a:endParaRPr>
          </a:p>
          <a:p>
            <a:pPr indent="0" lvl="0" marL="457200" rtl="0" algn="l">
              <a:lnSpc>
                <a:spcPct val="115000"/>
              </a:lnSpc>
              <a:spcBef>
                <a:spcPts val="0"/>
              </a:spcBef>
              <a:spcAft>
                <a:spcPts val="0"/>
              </a:spcAft>
              <a:buSzPts val="1100"/>
              <a:buNone/>
            </a:pPr>
            <a:r>
              <a:t/>
            </a:r>
            <a:endParaRPr i="1" sz="2800">
              <a:solidFill>
                <a:srgbClr val="434343"/>
              </a:solidFill>
              <a:latin typeface="Calibri"/>
              <a:ea typeface="Calibri"/>
              <a:cs typeface="Calibri"/>
              <a:sym typeface="Calibri"/>
            </a:endParaRPr>
          </a:p>
          <a:p>
            <a:pPr indent="0" lvl="0" marL="0" rtl="0" algn="l">
              <a:lnSpc>
                <a:spcPct val="160000"/>
              </a:lnSpc>
              <a:spcBef>
                <a:spcPts val="0"/>
              </a:spcBef>
              <a:spcAft>
                <a:spcPts val="0"/>
              </a:spcAft>
              <a:buClr>
                <a:schemeClr val="dk1"/>
              </a:buClr>
              <a:buSzPts val="1100"/>
              <a:buFont typeface="Arial"/>
              <a:buNone/>
            </a:pPr>
            <a:r>
              <a:t/>
            </a:r>
            <a:endParaRPr sz="1800">
              <a:solidFill>
                <a:srgbClr val="545454"/>
              </a:solidFill>
              <a:latin typeface="Poppins"/>
              <a:ea typeface="Poppins"/>
              <a:cs typeface="Poppins"/>
              <a:sym typeface="Poppins"/>
            </a:endParaRPr>
          </a:p>
          <a:p>
            <a:pPr indent="0" lvl="0" marL="0" marR="0" rtl="0" algn="l">
              <a:lnSpc>
                <a:spcPct val="160000"/>
              </a:lnSpc>
              <a:spcBef>
                <a:spcPts val="0"/>
              </a:spcBef>
              <a:spcAft>
                <a:spcPts val="0"/>
              </a:spcAft>
              <a:buNone/>
            </a:pPr>
            <a:r>
              <a:t/>
            </a:r>
            <a:endParaRPr sz="1800">
              <a:solidFill>
                <a:srgbClr val="545454"/>
              </a:solidFill>
              <a:latin typeface="Poppins"/>
              <a:ea typeface="Poppins"/>
              <a:cs typeface="Poppins"/>
              <a:sym typeface="Poppins"/>
            </a:endParaRPr>
          </a:p>
        </p:txBody>
      </p:sp>
      <p:sp>
        <p:nvSpPr>
          <p:cNvPr id="510" name="Google Shape;510;g341d387c2eb_0_0"/>
          <p:cNvSpPr txBox="1"/>
          <p:nvPr/>
        </p:nvSpPr>
        <p:spPr>
          <a:xfrm>
            <a:off x="8628025" y="2178625"/>
            <a:ext cx="8690100" cy="159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3400">
                <a:solidFill>
                  <a:schemeClr val="lt1"/>
                </a:solidFill>
                <a:latin typeface="Calibri"/>
                <a:ea typeface="Calibri"/>
                <a:cs typeface="Calibri"/>
                <a:sym typeface="Calibri"/>
              </a:rPr>
              <a:t>Is there a relationship between mood before and mood after workout?</a:t>
            </a:r>
            <a:endParaRPr b="1" sz="3400">
              <a:solidFill>
                <a:schemeClr val="lt1"/>
              </a:solidFill>
              <a:latin typeface="Calibri"/>
              <a:ea typeface="Calibri"/>
              <a:cs typeface="Calibri"/>
              <a:sym typeface="Calibri"/>
            </a:endParaRPr>
          </a:p>
        </p:txBody>
      </p:sp>
      <p:sp>
        <p:nvSpPr>
          <p:cNvPr id="511" name="Google Shape;511;g341d387c2eb_0_0"/>
          <p:cNvSpPr txBox="1"/>
          <p:nvPr/>
        </p:nvSpPr>
        <p:spPr>
          <a:xfrm>
            <a:off x="8815925" y="4959250"/>
            <a:ext cx="9144600" cy="546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500">
                <a:solidFill>
                  <a:srgbClr val="434343"/>
                </a:solidFill>
                <a:highlight>
                  <a:srgbClr val="FFFFFF"/>
                </a:highlight>
                <a:latin typeface="Poppins"/>
                <a:ea typeface="Poppins"/>
                <a:cs typeface="Poppins"/>
                <a:sym typeface="Poppins"/>
              </a:rPr>
              <a:t>Contingency table</a:t>
            </a:r>
            <a:endParaRPr b="1" sz="2500">
              <a:solidFill>
                <a:srgbClr val="434343"/>
              </a:solidFill>
              <a:highlight>
                <a:srgbClr val="FFFFFF"/>
              </a:highlight>
              <a:latin typeface="Poppins"/>
              <a:ea typeface="Poppins"/>
              <a:cs typeface="Poppins"/>
              <a:sym typeface="Poppins"/>
            </a:endParaRPr>
          </a:p>
          <a:p>
            <a:pPr indent="0" lvl="0" marL="0" rtl="0" algn="l">
              <a:spcBef>
                <a:spcPts val="0"/>
              </a:spcBef>
              <a:spcAft>
                <a:spcPts val="0"/>
              </a:spcAft>
              <a:buNone/>
            </a:pPr>
            <a:r>
              <a:t/>
            </a:r>
            <a:endParaRPr b="1" sz="2500">
              <a:solidFill>
                <a:srgbClr val="434343"/>
              </a:solidFill>
              <a:highlight>
                <a:srgbClr val="FFFFFF"/>
              </a:highlight>
              <a:latin typeface="Poppins"/>
              <a:ea typeface="Poppins"/>
              <a:cs typeface="Poppins"/>
              <a:sym typeface="Poppins"/>
            </a:endParaRPr>
          </a:p>
          <a:p>
            <a:pPr indent="0" lvl="0" marL="0" rtl="0" algn="l">
              <a:spcBef>
                <a:spcPts val="0"/>
              </a:spcBef>
              <a:spcAft>
                <a:spcPts val="0"/>
              </a:spcAft>
              <a:buNone/>
            </a:pPr>
            <a:r>
              <a:t/>
            </a:r>
            <a:endParaRPr sz="2000">
              <a:solidFill>
                <a:srgbClr val="434343"/>
              </a:solidFill>
              <a:highlight>
                <a:srgbClr val="FFFFFF"/>
              </a:highlight>
              <a:latin typeface="Poppins"/>
              <a:ea typeface="Poppins"/>
              <a:cs typeface="Poppins"/>
              <a:sym typeface="Poppins"/>
            </a:endParaRPr>
          </a:p>
          <a:p>
            <a:pPr indent="0" lvl="0" marL="0" rtl="0" algn="l">
              <a:spcBef>
                <a:spcPts val="0"/>
              </a:spcBef>
              <a:spcAft>
                <a:spcPts val="0"/>
              </a:spcAft>
              <a:buNone/>
            </a:pPr>
            <a:r>
              <a:t/>
            </a:r>
            <a:endParaRPr sz="2000">
              <a:solidFill>
                <a:srgbClr val="434343"/>
              </a:solidFill>
              <a:highlight>
                <a:srgbClr val="FFFFFF"/>
              </a:highlight>
              <a:latin typeface="Poppins"/>
              <a:ea typeface="Poppins"/>
              <a:cs typeface="Poppins"/>
              <a:sym typeface="Poppins"/>
            </a:endParaRPr>
          </a:p>
          <a:p>
            <a:pPr indent="0" lvl="0" marL="0" rtl="0" algn="l">
              <a:spcBef>
                <a:spcPts val="0"/>
              </a:spcBef>
              <a:spcAft>
                <a:spcPts val="0"/>
              </a:spcAft>
              <a:buNone/>
            </a:pPr>
            <a:r>
              <a:t/>
            </a:r>
            <a:endParaRPr sz="2000">
              <a:solidFill>
                <a:srgbClr val="434343"/>
              </a:solidFill>
              <a:highlight>
                <a:srgbClr val="FFFFFF"/>
              </a:highlight>
              <a:latin typeface="Poppins"/>
              <a:ea typeface="Poppins"/>
              <a:cs typeface="Poppins"/>
              <a:sym typeface="Poppins"/>
            </a:endParaRPr>
          </a:p>
          <a:p>
            <a:pPr indent="0" lvl="0" marL="0" rtl="0" algn="l">
              <a:spcBef>
                <a:spcPts val="0"/>
              </a:spcBef>
              <a:spcAft>
                <a:spcPts val="0"/>
              </a:spcAft>
              <a:buNone/>
            </a:pPr>
            <a:r>
              <a:t/>
            </a:r>
            <a:endParaRPr sz="2000">
              <a:solidFill>
                <a:srgbClr val="434343"/>
              </a:solidFill>
              <a:highlight>
                <a:srgbClr val="FFFFFF"/>
              </a:highlight>
              <a:latin typeface="Poppins"/>
              <a:ea typeface="Poppins"/>
              <a:cs typeface="Poppins"/>
              <a:sym typeface="Poppins"/>
            </a:endParaRPr>
          </a:p>
          <a:p>
            <a:pPr indent="0" lvl="0" marL="0" rtl="0" algn="l">
              <a:spcBef>
                <a:spcPts val="0"/>
              </a:spcBef>
              <a:spcAft>
                <a:spcPts val="0"/>
              </a:spcAft>
              <a:buNone/>
            </a:pPr>
            <a:r>
              <a:t/>
            </a:r>
            <a:endParaRPr sz="2000">
              <a:solidFill>
                <a:srgbClr val="434343"/>
              </a:solidFill>
              <a:highlight>
                <a:srgbClr val="FFFFFF"/>
              </a:highlight>
              <a:latin typeface="Poppins"/>
              <a:ea typeface="Poppins"/>
              <a:cs typeface="Poppins"/>
              <a:sym typeface="Poppins"/>
            </a:endParaRPr>
          </a:p>
          <a:p>
            <a:pPr indent="0" lvl="0" marL="0" rtl="0" algn="l">
              <a:spcBef>
                <a:spcPts val="0"/>
              </a:spcBef>
              <a:spcAft>
                <a:spcPts val="0"/>
              </a:spcAft>
              <a:buNone/>
            </a:pPr>
            <a:r>
              <a:t/>
            </a:r>
            <a:endParaRPr sz="2000">
              <a:solidFill>
                <a:srgbClr val="434343"/>
              </a:solidFill>
              <a:highlight>
                <a:srgbClr val="FFFFFF"/>
              </a:highlight>
              <a:latin typeface="Poppins"/>
              <a:ea typeface="Poppins"/>
              <a:cs typeface="Poppins"/>
              <a:sym typeface="Poppins"/>
            </a:endParaRPr>
          </a:p>
          <a:p>
            <a:pPr indent="0" lvl="0" marL="0" rtl="0" algn="l">
              <a:spcBef>
                <a:spcPts val="0"/>
              </a:spcBef>
              <a:spcAft>
                <a:spcPts val="0"/>
              </a:spcAft>
              <a:buNone/>
            </a:pPr>
            <a:r>
              <a:t/>
            </a:r>
            <a:endParaRPr sz="2500">
              <a:solidFill>
                <a:srgbClr val="434343"/>
              </a:solidFill>
              <a:latin typeface="Poppins"/>
              <a:ea typeface="Poppins"/>
              <a:cs typeface="Poppins"/>
              <a:sym typeface="Poppins"/>
            </a:endParaRPr>
          </a:p>
          <a:p>
            <a:pPr indent="0" lvl="0" marL="0" rtl="0" algn="l">
              <a:spcBef>
                <a:spcPts val="0"/>
              </a:spcBef>
              <a:spcAft>
                <a:spcPts val="0"/>
              </a:spcAft>
              <a:buNone/>
            </a:pPr>
            <a:r>
              <a:rPr b="1" lang="en-US" sz="2500">
                <a:solidFill>
                  <a:srgbClr val="434343"/>
                </a:solidFill>
                <a:latin typeface="Poppins"/>
                <a:ea typeface="Poppins"/>
                <a:cs typeface="Poppins"/>
                <a:sym typeface="Poppins"/>
              </a:rPr>
              <a:t>Test Results</a:t>
            </a:r>
            <a:endParaRPr b="1" sz="2500">
              <a:solidFill>
                <a:srgbClr val="434343"/>
              </a:solidFill>
              <a:latin typeface="Poppins"/>
              <a:ea typeface="Poppins"/>
              <a:cs typeface="Poppins"/>
              <a:sym typeface="Poppins"/>
            </a:endParaRPr>
          </a:p>
          <a:p>
            <a:pPr indent="0" lvl="0" marL="0" rtl="0" algn="l">
              <a:spcBef>
                <a:spcPts val="0"/>
              </a:spcBef>
              <a:spcAft>
                <a:spcPts val="0"/>
              </a:spcAft>
              <a:buNone/>
            </a:pPr>
            <a:r>
              <a:rPr lang="en-US" sz="2300">
                <a:solidFill>
                  <a:srgbClr val="434343"/>
                </a:solidFill>
                <a:latin typeface="Poppins"/>
                <a:ea typeface="Poppins"/>
                <a:cs typeface="Poppins"/>
                <a:sym typeface="Poppins"/>
              </a:rPr>
              <a:t>P -value: </a:t>
            </a:r>
            <a:r>
              <a:rPr lang="en-US" sz="2300">
                <a:solidFill>
                  <a:srgbClr val="434343"/>
                </a:solidFill>
                <a:highlight>
                  <a:srgbClr val="FFFFFF"/>
                </a:highlight>
                <a:latin typeface="Poppins"/>
                <a:ea typeface="Poppins"/>
                <a:cs typeface="Poppins"/>
                <a:sym typeface="Poppins"/>
              </a:rPr>
              <a:t>0.1253</a:t>
            </a:r>
            <a:endParaRPr sz="2300">
              <a:solidFill>
                <a:srgbClr val="434343"/>
              </a:solidFill>
              <a:highlight>
                <a:srgbClr val="FFFFFF"/>
              </a:highlight>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t/>
            </a:r>
            <a:endParaRPr sz="2300">
              <a:solidFill>
                <a:srgbClr val="434343"/>
              </a:solidFill>
              <a:highlight>
                <a:srgbClr val="FFFFFF"/>
              </a:highlight>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n-US" sz="2300">
                <a:solidFill>
                  <a:srgbClr val="434343"/>
                </a:solidFill>
                <a:highlight>
                  <a:srgbClr val="FFFFFF"/>
                </a:highlight>
                <a:latin typeface="Poppins"/>
                <a:ea typeface="Poppins"/>
                <a:cs typeface="Poppins"/>
                <a:sym typeface="Poppins"/>
              </a:rPr>
              <a:t>P-value is &gt; 0.05, Therefore we cannot reject the Null. There's no relationship between mood before and after workout.</a:t>
            </a:r>
            <a:endParaRPr sz="2300">
              <a:solidFill>
                <a:srgbClr val="434343"/>
              </a:solidFill>
              <a:highlight>
                <a:srgbClr val="FFFFFF"/>
              </a:highlight>
              <a:latin typeface="Poppins"/>
              <a:ea typeface="Poppins"/>
              <a:cs typeface="Poppins"/>
              <a:sym typeface="Poppins"/>
            </a:endParaRPr>
          </a:p>
          <a:p>
            <a:pPr indent="0" lvl="0" marL="0" rtl="0" algn="l">
              <a:spcBef>
                <a:spcPts val="0"/>
              </a:spcBef>
              <a:spcAft>
                <a:spcPts val="0"/>
              </a:spcAft>
              <a:buNone/>
            </a:pPr>
            <a:r>
              <a:t/>
            </a:r>
            <a:endParaRPr sz="2600">
              <a:solidFill>
                <a:srgbClr val="434343"/>
              </a:solidFill>
              <a:highlight>
                <a:srgbClr val="FFFFFF"/>
              </a:highlight>
              <a:latin typeface="Poppins"/>
              <a:ea typeface="Poppins"/>
              <a:cs typeface="Poppins"/>
              <a:sym typeface="Poppins"/>
            </a:endParaRPr>
          </a:p>
          <a:p>
            <a:pPr indent="0" lvl="0" marL="0" rtl="0" algn="l">
              <a:spcBef>
                <a:spcPts val="0"/>
              </a:spcBef>
              <a:spcAft>
                <a:spcPts val="0"/>
              </a:spcAft>
              <a:buNone/>
            </a:pPr>
            <a:r>
              <a:t/>
            </a:r>
            <a:endParaRPr sz="2800">
              <a:solidFill>
                <a:srgbClr val="434343"/>
              </a:solidFill>
              <a:highlight>
                <a:srgbClr val="FFFFFF"/>
              </a:highlight>
              <a:latin typeface="Poppins"/>
              <a:ea typeface="Poppins"/>
              <a:cs typeface="Poppins"/>
              <a:sym typeface="Poppins"/>
            </a:endParaRPr>
          </a:p>
          <a:p>
            <a:pPr indent="0" lvl="0" marL="0" rtl="0" algn="l">
              <a:spcBef>
                <a:spcPts val="0"/>
              </a:spcBef>
              <a:spcAft>
                <a:spcPts val="0"/>
              </a:spcAft>
              <a:buNone/>
            </a:pPr>
            <a:r>
              <a:t/>
            </a:r>
            <a:endParaRPr sz="3200">
              <a:solidFill>
                <a:srgbClr val="434343"/>
              </a:solidFill>
              <a:latin typeface="Poppins"/>
              <a:ea typeface="Poppins"/>
              <a:cs typeface="Poppins"/>
              <a:sym typeface="Poppins"/>
            </a:endParaRPr>
          </a:p>
        </p:txBody>
      </p:sp>
      <p:pic>
        <p:nvPicPr>
          <p:cNvPr id="512" name="Google Shape;512;g341d387c2eb_0_0"/>
          <p:cNvPicPr preferRelativeResize="0"/>
          <p:nvPr/>
        </p:nvPicPr>
        <p:blipFill>
          <a:blip r:embed="rId4">
            <a:alphaModFix/>
          </a:blip>
          <a:stretch>
            <a:fillRect/>
          </a:stretch>
        </p:blipFill>
        <p:spPr>
          <a:xfrm>
            <a:off x="12616225" y="3408175"/>
            <a:ext cx="5168126" cy="1902375"/>
          </a:xfrm>
          <a:prstGeom prst="rect">
            <a:avLst/>
          </a:prstGeom>
          <a:noFill/>
          <a:ln>
            <a:noFill/>
          </a:ln>
        </p:spPr>
      </p:pic>
      <p:graphicFrame>
        <p:nvGraphicFramePr>
          <p:cNvPr id="513" name="Google Shape;513;g341d387c2eb_0_0"/>
          <p:cNvGraphicFramePr/>
          <p:nvPr/>
        </p:nvGraphicFramePr>
        <p:xfrm>
          <a:off x="8979000" y="5587900"/>
          <a:ext cx="3000000" cy="3000000"/>
        </p:xfrm>
        <a:graphic>
          <a:graphicData uri="http://schemas.openxmlformats.org/drawingml/2006/table">
            <a:tbl>
              <a:tblPr>
                <a:noFill/>
                <a:tableStyleId>{2C5F93C3-6B1B-4ACE-B11E-3BA65349ACD2}</a:tableStyleId>
              </a:tblPr>
              <a:tblGrid>
                <a:gridCol w="1418325"/>
                <a:gridCol w="1418325"/>
                <a:gridCol w="1418325"/>
                <a:gridCol w="1418325"/>
              </a:tblGrid>
              <a:tr h="380475">
                <a:tc>
                  <a:txBody>
                    <a:bodyPr/>
                    <a:lstStyle/>
                    <a:p>
                      <a:pPr indent="0" lvl="0" marL="0" rtl="0" algn="l">
                        <a:spcBef>
                          <a:spcPts val="0"/>
                        </a:spcBef>
                        <a:spcAft>
                          <a:spcPts val="0"/>
                        </a:spcAft>
                        <a:buNone/>
                      </a:pPr>
                      <a:r>
                        <a:t/>
                      </a:r>
                      <a:endParaRPr sz="1800">
                        <a:solidFill>
                          <a:srgbClr val="545454"/>
                        </a:solidFill>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US" sz="1800">
                          <a:solidFill>
                            <a:srgbClr val="545454"/>
                          </a:solidFill>
                          <a:highlight>
                            <a:schemeClr val="lt1"/>
                          </a:highlight>
                          <a:latin typeface="Poppins"/>
                          <a:ea typeface="Poppins"/>
                          <a:cs typeface="Poppins"/>
                          <a:sym typeface="Poppins"/>
                        </a:rPr>
                        <a:t>Energized </a:t>
                      </a:r>
                      <a:endParaRPr sz="1800">
                        <a:solidFill>
                          <a:srgbClr val="545454"/>
                        </a:solidFill>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US" sz="1800">
                          <a:solidFill>
                            <a:srgbClr val="545454"/>
                          </a:solidFill>
                          <a:highlight>
                            <a:schemeClr val="lt1"/>
                          </a:highlight>
                          <a:latin typeface="Poppins"/>
                          <a:ea typeface="Poppins"/>
                          <a:cs typeface="Poppins"/>
                          <a:sym typeface="Poppins"/>
                        </a:rPr>
                        <a:t>Fatigued </a:t>
                      </a:r>
                      <a:endParaRPr sz="1800">
                        <a:solidFill>
                          <a:srgbClr val="545454"/>
                        </a:solidFill>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US" sz="1800">
                          <a:solidFill>
                            <a:srgbClr val="545454"/>
                          </a:solidFill>
                          <a:highlight>
                            <a:schemeClr val="lt1"/>
                          </a:highlight>
                          <a:latin typeface="Poppins"/>
                          <a:ea typeface="Poppins"/>
                          <a:cs typeface="Poppins"/>
                          <a:sym typeface="Poppins"/>
                        </a:rPr>
                        <a:t>Neutral</a:t>
                      </a:r>
                      <a:endParaRPr sz="1800">
                        <a:solidFill>
                          <a:srgbClr val="545454"/>
                        </a:solidFill>
                      </a:endParaRPr>
                    </a:p>
                  </a:txBody>
                  <a:tcPr marT="91425" marB="91425" marR="91425" marL="91425"/>
                </a:tc>
              </a:tr>
              <a:tr h="380475">
                <a:tc>
                  <a:txBody>
                    <a:bodyPr/>
                    <a:lstStyle/>
                    <a:p>
                      <a:pPr indent="0" lvl="0" marL="0" rtl="0" algn="l">
                        <a:spcBef>
                          <a:spcPts val="0"/>
                        </a:spcBef>
                        <a:spcAft>
                          <a:spcPts val="0"/>
                        </a:spcAft>
                        <a:buClr>
                          <a:schemeClr val="dk1"/>
                        </a:buClr>
                        <a:buSzPts val="1100"/>
                        <a:buFont typeface="Arial"/>
                        <a:buNone/>
                      </a:pPr>
                      <a:r>
                        <a:rPr lang="en-US" sz="1800">
                          <a:solidFill>
                            <a:srgbClr val="545454"/>
                          </a:solidFill>
                          <a:highlight>
                            <a:schemeClr val="lt1"/>
                          </a:highlight>
                          <a:latin typeface="Poppins"/>
                          <a:ea typeface="Poppins"/>
                          <a:cs typeface="Poppins"/>
                          <a:sym typeface="Poppins"/>
                        </a:rPr>
                        <a:t>Happy </a:t>
                      </a:r>
                      <a:endParaRPr sz="1800">
                        <a:solidFill>
                          <a:srgbClr val="545454"/>
                        </a:solidFill>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US" sz="1800">
                          <a:solidFill>
                            <a:srgbClr val="545454"/>
                          </a:solidFill>
                          <a:highlight>
                            <a:schemeClr val="lt1"/>
                          </a:highlight>
                          <a:latin typeface="Poppins"/>
                          <a:ea typeface="Poppins"/>
                          <a:cs typeface="Poppins"/>
                          <a:sym typeface="Poppins"/>
                        </a:rPr>
                        <a:t>817 </a:t>
                      </a:r>
                      <a:endParaRPr sz="1800">
                        <a:solidFill>
                          <a:srgbClr val="545454"/>
                        </a:solidFill>
                      </a:endParaRPr>
                    </a:p>
                  </a:txBody>
                  <a:tcPr marT="91425" marB="91425" marR="91425" marL="91425"/>
                </a:tc>
                <a:tc>
                  <a:txBody>
                    <a:bodyPr/>
                    <a:lstStyle/>
                    <a:p>
                      <a:pPr indent="0" lvl="0" marL="0" rtl="0" algn="l">
                        <a:spcBef>
                          <a:spcPts val="0"/>
                        </a:spcBef>
                        <a:spcAft>
                          <a:spcPts val="0"/>
                        </a:spcAft>
                        <a:buNone/>
                      </a:pPr>
                      <a:r>
                        <a:rPr lang="en-US" sz="1800">
                          <a:solidFill>
                            <a:srgbClr val="545454"/>
                          </a:solidFill>
                        </a:rPr>
                        <a:t>886</a:t>
                      </a:r>
                      <a:endParaRPr sz="1800">
                        <a:solidFill>
                          <a:srgbClr val="545454"/>
                        </a:solidFill>
                      </a:endParaRPr>
                    </a:p>
                  </a:txBody>
                  <a:tcPr marT="91425" marB="91425" marR="91425" marL="91425"/>
                </a:tc>
                <a:tc>
                  <a:txBody>
                    <a:bodyPr/>
                    <a:lstStyle/>
                    <a:p>
                      <a:pPr indent="0" lvl="0" marL="0" rtl="0" algn="l">
                        <a:spcBef>
                          <a:spcPts val="0"/>
                        </a:spcBef>
                        <a:spcAft>
                          <a:spcPts val="0"/>
                        </a:spcAft>
                        <a:buNone/>
                      </a:pPr>
                      <a:r>
                        <a:rPr lang="en-US" sz="1800">
                          <a:solidFill>
                            <a:srgbClr val="545454"/>
                          </a:solidFill>
                        </a:rPr>
                        <a:t>808</a:t>
                      </a:r>
                      <a:endParaRPr sz="1800">
                        <a:solidFill>
                          <a:srgbClr val="545454"/>
                        </a:solidFill>
                      </a:endParaRPr>
                    </a:p>
                  </a:txBody>
                  <a:tcPr marT="91425" marB="91425" marR="91425" marL="91425"/>
                </a:tc>
              </a:tr>
              <a:tr h="380475">
                <a:tc>
                  <a:txBody>
                    <a:bodyPr/>
                    <a:lstStyle/>
                    <a:p>
                      <a:pPr indent="0" lvl="0" marL="0" rtl="0" algn="l">
                        <a:spcBef>
                          <a:spcPts val="0"/>
                        </a:spcBef>
                        <a:spcAft>
                          <a:spcPts val="0"/>
                        </a:spcAft>
                        <a:buClr>
                          <a:schemeClr val="dk1"/>
                        </a:buClr>
                        <a:buSzPts val="1100"/>
                        <a:buFont typeface="Arial"/>
                        <a:buNone/>
                      </a:pPr>
                      <a:r>
                        <a:rPr lang="en-US" sz="1800">
                          <a:solidFill>
                            <a:srgbClr val="545454"/>
                          </a:solidFill>
                          <a:highlight>
                            <a:schemeClr val="lt1"/>
                          </a:highlight>
                          <a:latin typeface="Poppins"/>
                          <a:ea typeface="Poppins"/>
                          <a:cs typeface="Poppins"/>
                          <a:sym typeface="Poppins"/>
                        </a:rPr>
                        <a:t>Neutral </a:t>
                      </a:r>
                      <a:endParaRPr sz="1800">
                        <a:solidFill>
                          <a:srgbClr val="545454"/>
                        </a:solidFill>
                      </a:endParaRPr>
                    </a:p>
                  </a:txBody>
                  <a:tcPr marT="91425" marB="91425" marR="91425" marL="91425"/>
                </a:tc>
                <a:tc>
                  <a:txBody>
                    <a:bodyPr/>
                    <a:lstStyle/>
                    <a:p>
                      <a:pPr indent="0" lvl="0" marL="0" rtl="0" algn="l">
                        <a:spcBef>
                          <a:spcPts val="0"/>
                        </a:spcBef>
                        <a:spcAft>
                          <a:spcPts val="0"/>
                        </a:spcAft>
                        <a:buNone/>
                      </a:pPr>
                      <a:r>
                        <a:rPr lang="en-US" sz="1800">
                          <a:solidFill>
                            <a:srgbClr val="545454"/>
                          </a:solidFill>
                        </a:rPr>
                        <a:t>831</a:t>
                      </a:r>
                      <a:endParaRPr sz="1800">
                        <a:solidFill>
                          <a:srgbClr val="545454"/>
                        </a:solidFill>
                      </a:endParaRPr>
                    </a:p>
                  </a:txBody>
                  <a:tcPr marT="91425" marB="91425" marR="91425" marL="91425"/>
                </a:tc>
                <a:tc>
                  <a:txBody>
                    <a:bodyPr/>
                    <a:lstStyle/>
                    <a:p>
                      <a:pPr indent="0" lvl="0" marL="0" rtl="0" algn="l">
                        <a:spcBef>
                          <a:spcPts val="0"/>
                        </a:spcBef>
                        <a:spcAft>
                          <a:spcPts val="0"/>
                        </a:spcAft>
                        <a:buNone/>
                      </a:pPr>
                      <a:r>
                        <a:rPr lang="en-US" sz="1800">
                          <a:solidFill>
                            <a:srgbClr val="545454"/>
                          </a:solidFill>
                        </a:rPr>
                        <a:t>807</a:t>
                      </a:r>
                      <a:endParaRPr sz="1800">
                        <a:solidFill>
                          <a:srgbClr val="545454"/>
                        </a:solidFill>
                      </a:endParaRPr>
                    </a:p>
                  </a:txBody>
                  <a:tcPr marT="91425" marB="91425" marR="91425" marL="91425"/>
                </a:tc>
                <a:tc>
                  <a:txBody>
                    <a:bodyPr/>
                    <a:lstStyle/>
                    <a:p>
                      <a:pPr indent="0" lvl="0" marL="0" rtl="0" algn="l">
                        <a:spcBef>
                          <a:spcPts val="0"/>
                        </a:spcBef>
                        <a:spcAft>
                          <a:spcPts val="0"/>
                        </a:spcAft>
                        <a:buNone/>
                      </a:pPr>
                      <a:r>
                        <a:rPr lang="en-US" sz="1800">
                          <a:solidFill>
                            <a:srgbClr val="545454"/>
                          </a:solidFill>
                        </a:rPr>
                        <a:t>873</a:t>
                      </a:r>
                      <a:endParaRPr sz="1800">
                        <a:solidFill>
                          <a:srgbClr val="545454"/>
                        </a:solidFill>
                      </a:endParaRPr>
                    </a:p>
                  </a:txBody>
                  <a:tcPr marT="91425" marB="91425" marR="91425" marL="91425"/>
                </a:tc>
              </a:tr>
              <a:tr h="380475">
                <a:tc>
                  <a:txBody>
                    <a:bodyPr/>
                    <a:lstStyle/>
                    <a:p>
                      <a:pPr indent="0" lvl="0" marL="0" rtl="0" algn="l">
                        <a:spcBef>
                          <a:spcPts val="0"/>
                        </a:spcBef>
                        <a:spcAft>
                          <a:spcPts val="0"/>
                        </a:spcAft>
                        <a:buClr>
                          <a:schemeClr val="dk1"/>
                        </a:buClr>
                        <a:buSzPts val="1100"/>
                        <a:buFont typeface="Arial"/>
                        <a:buNone/>
                      </a:pPr>
                      <a:r>
                        <a:rPr lang="en-US" sz="1800">
                          <a:solidFill>
                            <a:srgbClr val="545454"/>
                          </a:solidFill>
                          <a:highlight>
                            <a:schemeClr val="lt1"/>
                          </a:highlight>
                          <a:latin typeface="Poppins"/>
                          <a:ea typeface="Poppins"/>
                          <a:cs typeface="Poppins"/>
                          <a:sym typeface="Poppins"/>
                        </a:rPr>
                        <a:t>Stressed </a:t>
                      </a:r>
                      <a:endParaRPr sz="1800">
                        <a:solidFill>
                          <a:srgbClr val="545454"/>
                        </a:solidFill>
                      </a:endParaRPr>
                    </a:p>
                  </a:txBody>
                  <a:tcPr marT="91425" marB="91425" marR="91425" marL="91425"/>
                </a:tc>
                <a:tc>
                  <a:txBody>
                    <a:bodyPr/>
                    <a:lstStyle/>
                    <a:p>
                      <a:pPr indent="0" lvl="0" marL="0" rtl="0" algn="l">
                        <a:spcBef>
                          <a:spcPts val="0"/>
                        </a:spcBef>
                        <a:spcAft>
                          <a:spcPts val="0"/>
                        </a:spcAft>
                        <a:buNone/>
                      </a:pPr>
                      <a:r>
                        <a:rPr lang="en-US" sz="1800">
                          <a:solidFill>
                            <a:srgbClr val="545454"/>
                          </a:solidFill>
                        </a:rPr>
                        <a:t>832</a:t>
                      </a:r>
                      <a:endParaRPr sz="1800">
                        <a:solidFill>
                          <a:srgbClr val="545454"/>
                        </a:solidFill>
                      </a:endParaRPr>
                    </a:p>
                  </a:txBody>
                  <a:tcPr marT="91425" marB="91425" marR="91425" marL="91425"/>
                </a:tc>
                <a:tc>
                  <a:txBody>
                    <a:bodyPr/>
                    <a:lstStyle/>
                    <a:p>
                      <a:pPr indent="0" lvl="0" marL="0" rtl="0" algn="l">
                        <a:spcBef>
                          <a:spcPts val="0"/>
                        </a:spcBef>
                        <a:spcAft>
                          <a:spcPts val="0"/>
                        </a:spcAft>
                        <a:buNone/>
                      </a:pPr>
                      <a:r>
                        <a:rPr lang="en-US" sz="1800">
                          <a:solidFill>
                            <a:srgbClr val="545454"/>
                          </a:solidFill>
                        </a:rPr>
                        <a:t>802</a:t>
                      </a:r>
                      <a:endParaRPr sz="1800">
                        <a:solidFill>
                          <a:srgbClr val="545454"/>
                        </a:solidFill>
                      </a:endParaRPr>
                    </a:p>
                  </a:txBody>
                  <a:tcPr marT="91425" marB="91425" marR="91425" marL="91425"/>
                </a:tc>
                <a:tc>
                  <a:txBody>
                    <a:bodyPr/>
                    <a:lstStyle/>
                    <a:p>
                      <a:pPr indent="0" lvl="0" marL="0" rtl="0" algn="l">
                        <a:spcBef>
                          <a:spcPts val="0"/>
                        </a:spcBef>
                        <a:spcAft>
                          <a:spcPts val="0"/>
                        </a:spcAft>
                        <a:buNone/>
                      </a:pPr>
                      <a:r>
                        <a:rPr lang="en-US" sz="1800">
                          <a:solidFill>
                            <a:srgbClr val="545454"/>
                          </a:solidFill>
                        </a:rPr>
                        <a:t>791</a:t>
                      </a:r>
                      <a:endParaRPr sz="1800">
                        <a:solidFill>
                          <a:srgbClr val="545454"/>
                        </a:solidFill>
                      </a:endParaRPr>
                    </a:p>
                  </a:txBody>
                  <a:tcPr marT="91425" marB="91425" marR="91425" marL="91425"/>
                </a:tc>
              </a:tr>
              <a:tr h="380475">
                <a:tc>
                  <a:txBody>
                    <a:bodyPr/>
                    <a:lstStyle/>
                    <a:p>
                      <a:pPr indent="0" lvl="0" marL="0" rtl="0" algn="l">
                        <a:lnSpc>
                          <a:spcPct val="120000"/>
                        </a:lnSpc>
                        <a:spcBef>
                          <a:spcPts val="0"/>
                        </a:spcBef>
                        <a:spcAft>
                          <a:spcPts val="0"/>
                        </a:spcAft>
                        <a:buClr>
                          <a:schemeClr val="dk1"/>
                        </a:buClr>
                        <a:buSzPts val="1100"/>
                        <a:buFont typeface="Arial"/>
                        <a:buNone/>
                      </a:pPr>
                      <a:r>
                        <a:rPr lang="en-US" sz="1800">
                          <a:solidFill>
                            <a:srgbClr val="545454"/>
                          </a:solidFill>
                          <a:highlight>
                            <a:schemeClr val="lt1"/>
                          </a:highlight>
                          <a:latin typeface="Poppins"/>
                          <a:ea typeface="Poppins"/>
                          <a:cs typeface="Poppins"/>
                          <a:sym typeface="Poppins"/>
                        </a:rPr>
                        <a:t>Tired </a:t>
                      </a:r>
                      <a:endParaRPr sz="1800">
                        <a:solidFill>
                          <a:srgbClr val="545454"/>
                        </a:solidFill>
                        <a:highlight>
                          <a:schemeClr val="lt1"/>
                        </a:highlight>
                        <a:latin typeface="Poppins"/>
                        <a:ea typeface="Poppins"/>
                        <a:cs typeface="Poppins"/>
                        <a:sym typeface="Poppins"/>
                      </a:endParaRPr>
                    </a:p>
                  </a:txBody>
                  <a:tcPr marT="91425" marB="91425" marR="91425" marL="91425"/>
                </a:tc>
                <a:tc>
                  <a:txBody>
                    <a:bodyPr/>
                    <a:lstStyle/>
                    <a:p>
                      <a:pPr indent="0" lvl="0" marL="0" rtl="0" algn="l">
                        <a:spcBef>
                          <a:spcPts val="0"/>
                        </a:spcBef>
                        <a:spcAft>
                          <a:spcPts val="0"/>
                        </a:spcAft>
                        <a:buNone/>
                      </a:pPr>
                      <a:r>
                        <a:rPr lang="en-US" sz="1800">
                          <a:solidFill>
                            <a:srgbClr val="545454"/>
                          </a:solidFill>
                        </a:rPr>
                        <a:t>843</a:t>
                      </a:r>
                      <a:endParaRPr sz="1800">
                        <a:solidFill>
                          <a:srgbClr val="545454"/>
                        </a:solidFill>
                      </a:endParaRPr>
                    </a:p>
                  </a:txBody>
                  <a:tcPr marT="91425" marB="91425" marR="91425" marL="91425"/>
                </a:tc>
                <a:tc>
                  <a:txBody>
                    <a:bodyPr/>
                    <a:lstStyle/>
                    <a:p>
                      <a:pPr indent="0" lvl="0" marL="0" rtl="0" algn="l">
                        <a:spcBef>
                          <a:spcPts val="0"/>
                        </a:spcBef>
                        <a:spcAft>
                          <a:spcPts val="0"/>
                        </a:spcAft>
                        <a:buNone/>
                      </a:pPr>
                      <a:r>
                        <a:rPr lang="en-US" sz="1800">
                          <a:solidFill>
                            <a:srgbClr val="545454"/>
                          </a:solidFill>
                        </a:rPr>
                        <a:t>826</a:t>
                      </a:r>
                      <a:endParaRPr sz="1800">
                        <a:solidFill>
                          <a:srgbClr val="545454"/>
                        </a:solidFill>
                      </a:endParaRPr>
                    </a:p>
                  </a:txBody>
                  <a:tcPr marT="91425" marB="91425" marR="91425" marL="91425"/>
                </a:tc>
                <a:tc>
                  <a:txBody>
                    <a:bodyPr/>
                    <a:lstStyle/>
                    <a:p>
                      <a:pPr indent="0" lvl="0" marL="0" rtl="0" algn="l">
                        <a:spcBef>
                          <a:spcPts val="0"/>
                        </a:spcBef>
                        <a:spcAft>
                          <a:spcPts val="0"/>
                        </a:spcAft>
                        <a:buNone/>
                      </a:pPr>
                      <a:r>
                        <a:rPr lang="en-US" sz="1800">
                          <a:solidFill>
                            <a:srgbClr val="545454"/>
                          </a:solidFill>
                        </a:rPr>
                        <a:t>884</a:t>
                      </a:r>
                      <a:endParaRPr sz="1800">
                        <a:solidFill>
                          <a:srgbClr val="545454"/>
                        </a:solidFill>
                      </a:endParaRPr>
                    </a:p>
                  </a:txBody>
                  <a:tcPr marT="91425" marB="91425" marR="91425" marL="91425"/>
                </a:tc>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pic>
        <p:nvPicPr>
          <p:cNvPr id="518" name="Google Shape;518;g341d387c2eb_5_4"/>
          <p:cNvPicPr preferRelativeResize="0"/>
          <p:nvPr/>
        </p:nvPicPr>
        <p:blipFill>
          <a:blip r:embed="rId3">
            <a:alphaModFix/>
          </a:blip>
          <a:stretch>
            <a:fillRect/>
          </a:stretch>
        </p:blipFill>
        <p:spPr>
          <a:xfrm>
            <a:off x="1259075" y="152400"/>
            <a:ext cx="15769850" cy="973225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grpSp>
        <p:nvGrpSpPr>
          <p:cNvPr id="523" name="Google Shape;523;p14"/>
          <p:cNvGrpSpPr/>
          <p:nvPr/>
        </p:nvGrpSpPr>
        <p:grpSpPr>
          <a:xfrm>
            <a:off x="9694360" y="-241102"/>
            <a:ext cx="8593640" cy="10528102"/>
            <a:chOff x="0" y="-57150"/>
            <a:chExt cx="2037011" cy="2495550"/>
          </a:xfrm>
        </p:grpSpPr>
        <p:sp>
          <p:nvSpPr>
            <p:cNvPr id="524" name="Google Shape;524;p14"/>
            <p:cNvSpPr/>
            <p:nvPr/>
          </p:nvSpPr>
          <p:spPr>
            <a:xfrm>
              <a:off x="0" y="0"/>
              <a:ext cx="2037011" cy="2438400"/>
            </a:xfrm>
            <a:custGeom>
              <a:rect b="b" l="l" r="r" t="t"/>
              <a:pathLst>
                <a:path extrusionOk="0" h="2438400" w="2037011">
                  <a:moveTo>
                    <a:pt x="0" y="0"/>
                  </a:moveTo>
                  <a:lnTo>
                    <a:pt x="2037011" y="0"/>
                  </a:lnTo>
                  <a:lnTo>
                    <a:pt x="2037011" y="2438400"/>
                  </a:lnTo>
                  <a:lnTo>
                    <a:pt x="0" y="2438400"/>
                  </a:lnTo>
                  <a:close/>
                </a:path>
              </a:pathLst>
            </a:custGeom>
            <a:solidFill>
              <a:srgbClr val="071C42"/>
            </a:solidFill>
            <a:ln>
              <a:noFill/>
            </a:ln>
          </p:spPr>
        </p:sp>
        <p:sp>
          <p:nvSpPr>
            <p:cNvPr id="525" name="Google Shape;525;p14"/>
            <p:cNvSpPr txBox="1"/>
            <p:nvPr/>
          </p:nvSpPr>
          <p:spPr>
            <a:xfrm>
              <a:off x="0" y="-57150"/>
              <a:ext cx="2037011" cy="249555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526" name="Google Shape;526;p14"/>
          <p:cNvSpPr txBox="1"/>
          <p:nvPr/>
        </p:nvSpPr>
        <p:spPr>
          <a:xfrm>
            <a:off x="945009" y="1156464"/>
            <a:ext cx="3627000" cy="861900"/>
          </a:xfrm>
          <a:prstGeom prst="rect">
            <a:avLst/>
          </a:prstGeom>
          <a:noFill/>
          <a:ln>
            <a:noFill/>
          </a:ln>
        </p:spPr>
        <p:txBody>
          <a:bodyPr anchorCtr="0" anchor="t" bIns="0" lIns="0" spcFirstLastPara="1" rIns="0" wrap="square" tIns="0">
            <a:spAutoFit/>
          </a:bodyPr>
          <a:lstStyle/>
          <a:p>
            <a:pPr indent="0" lvl="0" marL="0" marR="0" rtl="0" algn="l">
              <a:lnSpc>
                <a:spcPct val="120003"/>
              </a:lnSpc>
              <a:spcBef>
                <a:spcPts val="0"/>
              </a:spcBef>
              <a:spcAft>
                <a:spcPts val="0"/>
              </a:spcAft>
              <a:buNone/>
            </a:pPr>
            <a:r>
              <a:rPr b="1" i="0" lang="en-US" sz="5599" u="none" cap="none" strike="noStrike">
                <a:solidFill>
                  <a:schemeClr val="dk2"/>
                </a:solidFill>
                <a:latin typeface="Poppins"/>
                <a:ea typeface="Poppins"/>
                <a:cs typeface="Poppins"/>
                <a:sym typeface="Poppins"/>
              </a:rPr>
              <a:t>Setbacks</a:t>
            </a:r>
            <a:endParaRPr>
              <a:solidFill>
                <a:schemeClr val="dk2"/>
              </a:solidFill>
            </a:endParaRPr>
          </a:p>
        </p:txBody>
      </p:sp>
      <p:sp>
        <p:nvSpPr>
          <p:cNvPr id="527" name="Google Shape;527;p14"/>
          <p:cNvSpPr txBox="1"/>
          <p:nvPr/>
        </p:nvSpPr>
        <p:spPr>
          <a:xfrm>
            <a:off x="1067698" y="2463100"/>
            <a:ext cx="7008600" cy="72759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400"/>
              </a:spcBef>
              <a:spcAft>
                <a:spcPts val="0"/>
              </a:spcAft>
              <a:buClr>
                <a:schemeClr val="dk1"/>
              </a:buClr>
              <a:buSzPts val="1100"/>
              <a:buFont typeface="Arial"/>
              <a:buNone/>
            </a:pPr>
            <a:r>
              <a:rPr b="1" lang="en-US" sz="2800">
                <a:solidFill>
                  <a:schemeClr val="dk2"/>
                </a:solidFill>
              </a:rPr>
              <a:t>Data</a:t>
            </a:r>
            <a:r>
              <a:rPr b="1" lang="en-US" sz="2700">
                <a:solidFill>
                  <a:schemeClr val="dk2"/>
                </a:solidFill>
              </a:rPr>
              <a:t>set Analysis &amp; Observations</a:t>
            </a:r>
            <a:endParaRPr b="1" sz="2700">
              <a:solidFill>
                <a:schemeClr val="dk2"/>
              </a:solidFill>
            </a:endParaRPr>
          </a:p>
          <a:p>
            <a:pPr indent="-387350" lvl="0" marL="457200" rtl="0" algn="l">
              <a:lnSpc>
                <a:spcPct val="115000"/>
              </a:lnSpc>
              <a:spcBef>
                <a:spcPts val="1200"/>
              </a:spcBef>
              <a:spcAft>
                <a:spcPts val="0"/>
              </a:spcAft>
              <a:buClr>
                <a:schemeClr val="dk2"/>
              </a:buClr>
              <a:buSzPts val="2500"/>
              <a:buChar char="●"/>
            </a:pPr>
            <a:r>
              <a:rPr b="1" lang="en-US" sz="2500">
                <a:solidFill>
                  <a:schemeClr val="dk2"/>
                </a:solidFill>
              </a:rPr>
              <a:t>Simulated Data:</a:t>
            </a:r>
            <a:r>
              <a:rPr lang="en-US" sz="2500">
                <a:solidFill>
                  <a:schemeClr val="dk2"/>
                </a:solidFill>
              </a:rPr>
              <a:t> After extensive Exploratory Data Analysis (EDA), strong indications suggest that the dataset is artificially generated rather than real-world collected.</a:t>
            </a:r>
            <a:endParaRPr sz="2500">
              <a:solidFill>
                <a:schemeClr val="dk2"/>
              </a:solidFill>
            </a:endParaRPr>
          </a:p>
          <a:p>
            <a:pPr indent="-387350" lvl="0" marL="457200" rtl="0" algn="l">
              <a:lnSpc>
                <a:spcPct val="115000"/>
              </a:lnSpc>
              <a:spcBef>
                <a:spcPts val="0"/>
              </a:spcBef>
              <a:spcAft>
                <a:spcPts val="0"/>
              </a:spcAft>
              <a:buClr>
                <a:schemeClr val="dk2"/>
              </a:buClr>
              <a:buSzPts val="2500"/>
              <a:buChar char="●"/>
            </a:pPr>
            <a:r>
              <a:rPr b="1" lang="en-US" sz="2500">
                <a:solidFill>
                  <a:schemeClr val="dk2"/>
                </a:solidFill>
              </a:rPr>
              <a:t>Lack of Correlation:</a:t>
            </a:r>
            <a:r>
              <a:rPr lang="en-US" sz="2500">
                <a:solidFill>
                  <a:schemeClr val="dk2"/>
                </a:solidFill>
              </a:rPr>
              <a:t> Key workout metrics show minimal or no meaningful relationships, reducing the dataset’s predictive value.</a:t>
            </a:r>
            <a:endParaRPr sz="2500">
              <a:solidFill>
                <a:schemeClr val="dk2"/>
              </a:solidFill>
            </a:endParaRPr>
          </a:p>
          <a:p>
            <a:pPr indent="-387350" lvl="0" marL="457200" rtl="0" algn="l">
              <a:lnSpc>
                <a:spcPct val="115000"/>
              </a:lnSpc>
              <a:spcBef>
                <a:spcPts val="0"/>
              </a:spcBef>
              <a:spcAft>
                <a:spcPts val="0"/>
              </a:spcAft>
              <a:buClr>
                <a:schemeClr val="dk2"/>
              </a:buClr>
              <a:buSzPts val="2500"/>
              <a:buChar char="●"/>
            </a:pPr>
            <a:r>
              <a:rPr b="1" lang="en-US" sz="2500">
                <a:solidFill>
                  <a:schemeClr val="dk2"/>
                </a:solidFill>
              </a:rPr>
              <a:t>Implications:</a:t>
            </a:r>
            <a:r>
              <a:rPr lang="en-US" sz="2500">
                <a:solidFill>
                  <a:schemeClr val="dk2"/>
                </a:solidFill>
              </a:rPr>
              <a:t> Insights derived from this dataset may not generalize to real-world workout patterns, limiting its applicability for data-driven decision-making.</a:t>
            </a:r>
            <a:endParaRPr sz="2500">
              <a:solidFill>
                <a:schemeClr val="dk2"/>
              </a:solidFill>
            </a:endParaRPr>
          </a:p>
          <a:p>
            <a:pPr indent="-387350" lvl="0" marL="457200" rtl="0" algn="l">
              <a:lnSpc>
                <a:spcPct val="115000"/>
              </a:lnSpc>
              <a:spcBef>
                <a:spcPts val="0"/>
              </a:spcBef>
              <a:spcAft>
                <a:spcPts val="0"/>
              </a:spcAft>
              <a:buClr>
                <a:schemeClr val="dk2"/>
              </a:buClr>
              <a:buSzPts val="2500"/>
              <a:buChar char="●"/>
            </a:pPr>
            <a:r>
              <a:rPr b="1" lang="en-US" sz="2500">
                <a:solidFill>
                  <a:schemeClr val="dk2"/>
                </a:solidFill>
              </a:rPr>
              <a:t>Next Steps:</a:t>
            </a:r>
            <a:r>
              <a:rPr lang="en-US" sz="2500">
                <a:solidFill>
                  <a:schemeClr val="dk2"/>
                </a:solidFill>
              </a:rPr>
              <a:t> Consider alternative datasets with verifiable sources to ensure meaningful analysis and actionable insights.</a:t>
            </a:r>
            <a:endParaRPr sz="2600">
              <a:solidFill>
                <a:schemeClr val="dk2"/>
              </a:solidFill>
            </a:endParaRPr>
          </a:p>
          <a:p>
            <a:pPr indent="0" lvl="0" marL="0" rtl="0" algn="l">
              <a:lnSpc>
                <a:spcPct val="115000"/>
              </a:lnSpc>
              <a:spcBef>
                <a:spcPts val="1200"/>
              </a:spcBef>
              <a:spcAft>
                <a:spcPts val="1200"/>
              </a:spcAft>
              <a:buNone/>
            </a:pPr>
            <a:r>
              <a:t/>
            </a:r>
            <a:endParaRPr sz="1800">
              <a:solidFill>
                <a:schemeClr val="dk2"/>
              </a:solidFill>
            </a:endParaRPr>
          </a:p>
        </p:txBody>
      </p:sp>
      <p:cxnSp>
        <p:nvCxnSpPr>
          <p:cNvPr id="528" name="Google Shape;528;p14"/>
          <p:cNvCxnSpPr/>
          <p:nvPr/>
        </p:nvCxnSpPr>
        <p:spPr>
          <a:xfrm>
            <a:off x="1028700" y="601417"/>
            <a:ext cx="16230600" cy="0"/>
          </a:xfrm>
          <a:prstGeom prst="straightConnector1">
            <a:avLst/>
          </a:prstGeom>
          <a:noFill/>
          <a:ln cap="flat" cmpd="sng" w="19050">
            <a:solidFill>
              <a:srgbClr val="D9D9D9"/>
            </a:solidFill>
            <a:prstDash val="solid"/>
            <a:round/>
            <a:headEnd len="sm" w="sm" type="none"/>
            <a:tailEnd len="sm" w="sm" type="none"/>
          </a:ln>
        </p:spPr>
      </p:cxnSp>
      <p:sp>
        <p:nvSpPr>
          <p:cNvPr id="529" name="Google Shape;529;p14"/>
          <p:cNvSpPr/>
          <p:nvPr/>
        </p:nvSpPr>
        <p:spPr>
          <a:xfrm rot="7796030">
            <a:off x="7000386" y="2710146"/>
            <a:ext cx="13982698" cy="5400817"/>
          </a:xfrm>
          <a:custGeom>
            <a:rect b="b" l="l" r="r" t="t"/>
            <a:pathLst>
              <a:path extrusionOk="0" h="5395795" w="13969695">
                <a:moveTo>
                  <a:pt x="0" y="0"/>
                </a:moveTo>
                <a:lnTo>
                  <a:pt x="13969695" y="0"/>
                </a:lnTo>
                <a:lnTo>
                  <a:pt x="13969695" y="5395794"/>
                </a:lnTo>
                <a:lnTo>
                  <a:pt x="0" y="5395794"/>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71C42"/>
        </a:solidFill>
      </p:bgPr>
    </p:bg>
    <p:spTree>
      <p:nvGrpSpPr>
        <p:cNvPr id="533" name="Shape 533"/>
        <p:cNvGrpSpPr/>
        <p:nvPr/>
      </p:nvGrpSpPr>
      <p:grpSpPr>
        <a:xfrm>
          <a:off x="0" y="0"/>
          <a:ext cx="0" cy="0"/>
          <a:chOff x="0" y="0"/>
          <a:chExt cx="0" cy="0"/>
        </a:xfrm>
      </p:grpSpPr>
      <p:grpSp>
        <p:nvGrpSpPr>
          <p:cNvPr id="534" name="Google Shape;534;p15"/>
          <p:cNvGrpSpPr/>
          <p:nvPr/>
        </p:nvGrpSpPr>
        <p:grpSpPr>
          <a:xfrm>
            <a:off x="8111545" y="787598"/>
            <a:ext cx="9147755" cy="8470702"/>
            <a:chOff x="0" y="-57150"/>
            <a:chExt cx="2168357" cy="2007870"/>
          </a:xfrm>
        </p:grpSpPr>
        <p:sp>
          <p:nvSpPr>
            <p:cNvPr id="535" name="Google Shape;535;p15"/>
            <p:cNvSpPr/>
            <p:nvPr/>
          </p:nvSpPr>
          <p:spPr>
            <a:xfrm>
              <a:off x="0" y="0"/>
              <a:ext cx="2168357" cy="1950720"/>
            </a:xfrm>
            <a:custGeom>
              <a:rect b="b" l="l" r="r" t="t"/>
              <a:pathLst>
                <a:path extrusionOk="0" h="1950720" w="2168357">
                  <a:moveTo>
                    <a:pt x="0" y="0"/>
                  </a:moveTo>
                  <a:lnTo>
                    <a:pt x="2168357" y="0"/>
                  </a:lnTo>
                  <a:lnTo>
                    <a:pt x="2168357" y="1950720"/>
                  </a:lnTo>
                  <a:lnTo>
                    <a:pt x="0" y="1950720"/>
                  </a:lnTo>
                  <a:close/>
                </a:path>
              </a:pathLst>
            </a:custGeom>
            <a:solidFill>
              <a:srgbClr val="FFFFFF"/>
            </a:solidFill>
            <a:ln>
              <a:noFill/>
            </a:ln>
          </p:spPr>
        </p:sp>
        <p:sp>
          <p:nvSpPr>
            <p:cNvPr id="536" name="Google Shape;536;p15"/>
            <p:cNvSpPr txBox="1"/>
            <p:nvPr/>
          </p:nvSpPr>
          <p:spPr>
            <a:xfrm>
              <a:off x="0" y="-57150"/>
              <a:ext cx="2168357" cy="200787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537" name="Google Shape;537;p15"/>
          <p:cNvSpPr txBox="1"/>
          <p:nvPr/>
        </p:nvSpPr>
        <p:spPr>
          <a:xfrm>
            <a:off x="1712082" y="2062122"/>
            <a:ext cx="5562600" cy="2930400"/>
          </a:xfrm>
          <a:prstGeom prst="rect">
            <a:avLst/>
          </a:prstGeom>
          <a:noFill/>
          <a:ln>
            <a:noFill/>
          </a:ln>
        </p:spPr>
        <p:txBody>
          <a:bodyPr anchorCtr="0" anchor="t" bIns="0" lIns="0" spcFirstLastPara="1" rIns="0" wrap="square" tIns="0">
            <a:spAutoFit/>
          </a:bodyPr>
          <a:lstStyle/>
          <a:p>
            <a:pPr indent="0" lvl="0" marL="0" marR="0" rtl="0" algn="l">
              <a:lnSpc>
                <a:spcPct val="120003"/>
              </a:lnSpc>
              <a:spcBef>
                <a:spcPts val="0"/>
              </a:spcBef>
              <a:spcAft>
                <a:spcPts val="0"/>
              </a:spcAft>
              <a:buNone/>
            </a:pPr>
            <a:r>
              <a:rPr b="1" lang="en-US" sz="5599">
                <a:solidFill>
                  <a:srgbClr val="FFFFFF"/>
                </a:solidFill>
                <a:latin typeface="Poppins"/>
                <a:ea typeface="Poppins"/>
                <a:cs typeface="Poppins"/>
                <a:sym typeface="Poppins"/>
              </a:rPr>
              <a:t>Conclusions and Looking Forward →</a:t>
            </a:r>
            <a:endParaRPr/>
          </a:p>
        </p:txBody>
      </p:sp>
      <p:sp>
        <p:nvSpPr>
          <p:cNvPr id="538" name="Google Shape;538;p15"/>
          <p:cNvSpPr txBox="1"/>
          <p:nvPr/>
        </p:nvSpPr>
        <p:spPr>
          <a:xfrm>
            <a:off x="8899971" y="1381191"/>
            <a:ext cx="7570800" cy="7696200"/>
          </a:xfrm>
          <a:prstGeom prst="rect">
            <a:avLst/>
          </a:prstGeom>
          <a:noFill/>
          <a:ln>
            <a:noFill/>
          </a:ln>
        </p:spPr>
        <p:txBody>
          <a:bodyPr anchorCtr="0" anchor="t" bIns="0" lIns="0" spcFirstLastPara="1" rIns="0" wrap="square" tIns="0">
            <a:spAutoFit/>
          </a:bodyPr>
          <a:lstStyle/>
          <a:p>
            <a:pPr indent="-355600" lvl="0" marL="457200" marR="0" rtl="0" algn="l">
              <a:lnSpc>
                <a:spcPct val="160000"/>
              </a:lnSpc>
              <a:spcBef>
                <a:spcPts val="0"/>
              </a:spcBef>
              <a:spcAft>
                <a:spcPts val="0"/>
              </a:spcAft>
              <a:buClr>
                <a:schemeClr val="dk2"/>
              </a:buClr>
              <a:buSzPts val="2000"/>
              <a:buFont typeface="Poppins"/>
              <a:buChar char="●"/>
            </a:pPr>
            <a:r>
              <a:rPr lang="en-US" sz="2000">
                <a:solidFill>
                  <a:schemeClr val="dk2"/>
                </a:solidFill>
                <a:latin typeface="Poppins"/>
                <a:ea typeface="Poppins"/>
                <a:cs typeface="Poppins"/>
                <a:sym typeface="Poppins"/>
              </a:rPr>
              <a:t>Since our dataset appears artificially generated, future analysis should rely on verified fitness trackers, gym logs, or large-scale health studies.</a:t>
            </a:r>
            <a:endParaRPr sz="2000">
              <a:solidFill>
                <a:schemeClr val="dk2"/>
              </a:solidFill>
              <a:latin typeface="Poppins"/>
              <a:ea typeface="Poppins"/>
              <a:cs typeface="Poppins"/>
              <a:sym typeface="Poppins"/>
            </a:endParaRPr>
          </a:p>
          <a:p>
            <a:pPr indent="-355600" lvl="0" marL="457200" marR="0" rtl="0" algn="l">
              <a:lnSpc>
                <a:spcPct val="160000"/>
              </a:lnSpc>
              <a:spcBef>
                <a:spcPts val="0"/>
              </a:spcBef>
              <a:spcAft>
                <a:spcPts val="0"/>
              </a:spcAft>
              <a:buClr>
                <a:schemeClr val="dk2"/>
              </a:buClr>
              <a:buSzPts val="2000"/>
              <a:buFont typeface="Poppins"/>
              <a:buChar char="●"/>
            </a:pPr>
            <a:r>
              <a:rPr lang="en-US" sz="2000">
                <a:solidFill>
                  <a:schemeClr val="dk2"/>
                </a:solidFill>
                <a:latin typeface="Poppins"/>
                <a:ea typeface="Poppins"/>
                <a:cs typeface="Poppins"/>
                <a:sym typeface="Poppins"/>
              </a:rPr>
              <a:t>Partnering with fitness apps or public health organizations (or exploring their websites for data) could provide real user data for more accurate insights.</a:t>
            </a:r>
            <a:endParaRPr sz="2000">
              <a:solidFill>
                <a:schemeClr val="dk2"/>
              </a:solidFill>
              <a:latin typeface="Poppins"/>
              <a:ea typeface="Poppins"/>
              <a:cs typeface="Poppins"/>
              <a:sym typeface="Poppins"/>
            </a:endParaRPr>
          </a:p>
          <a:p>
            <a:pPr indent="-355600" lvl="0" marL="457200" marR="0" rtl="0" algn="l">
              <a:lnSpc>
                <a:spcPct val="160000"/>
              </a:lnSpc>
              <a:spcBef>
                <a:spcPts val="0"/>
              </a:spcBef>
              <a:spcAft>
                <a:spcPts val="0"/>
              </a:spcAft>
              <a:buClr>
                <a:schemeClr val="dk2"/>
              </a:buClr>
              <a:buSzPts val="2000"/>
              <a:buFont typeface="Poppins"/>
              <a:buChar char="●"/>
            </a:pPr>
            <a:r>
              <a:rPr lang="en-US" sz="2000">
                <a:solidFill>
                  <a:schemeClr val="dk2"/>
                </a:solidFill>
                <a:latin typeface="Poppins"/>
                <a:ea typeface="Poppins"/>
                <a:cs typeface="Poppins"/>
                <a:sym typeface="Poppins"/>
              </a:rPr>
              <a:t>Ensure Diverse &amp; Standardized Data – A mix of demographics and consistent metrics will improve applicability and reliability.</a:t>
            </a:r>
            <a:endParaRPr sz="2000">
              <a:solidFill>
                <a:schemeClr val="dk2"/>
              </a:solidFill>
              <a:latin typeface="Poppins"/>
              <a:ea typeface="Poppins"/>
              <a:cs typeface="Poppins"/>
              <a:sym typeface="Poppins"/>
            </a:endParaRPr>
          </a:p>
          <a:p>
            <a:pPr indent="-355600" lvl="0" marL="457200" marR="0" rtl="0" algn="l">
              <a:lnSpc>
                <a:spcPct val="160000"/>
              </a:lnSpc>
              <a:spcBef>
                <a:spcPts val="0"/>
              </a:spcBef>
              <a:spcAft>
                <a:spcPts val="0"/>
              </a:spcAft>
              <a:buClr>
                <a:schemeClr val="dk2"/>
              </a:buClr>
              <a:buSzPts val="2000"/>
              <a:buFont typeface="Poppins"/>
              <a:buChar char="●"/>
            </a:pPr>
            <a:r>
              <a:rPr lang="en-US" sz="2000">
                <a:solidFill>
                  <a:schemeClr val="dk2"/>
                </a:solidFill>
                <a:latin typeface="Poppins"/>
                <a:ea typeface="Poppins"/>
                <a:cs typeface="Poppins"/>
                <a:sym typeface="Poppins"/>
              </a:rPr>
              <a:t>Despite data flaws, analyzing workout habits reinforces the importance of physical activity.</a:t>
            </a:r>
            <a:endParaRPr sz="2000">
              <a:solidFill>
                <a:schemeClr val="dk2"/>
              </a:solidFill>
              <a:latin typeface="Poppins"/>
              <a:ea typeface="Poppins"/>
              <a:cs typeface="Poppins"/>
              <a:sym typeface="Poppins"/>
            </a:endParaRPr>
          </a:p>
          <a:p>
            <a:pPr indent="-355600" lvl="0" marL="457200" marR="0" rtl="0" algn="l">
              <a:lnSpc>
                <a:spcPct val="160000"/>
              </a:lnSpc>
              <a:spcBef>
                <a:spcPts val="0"/>
              </a:spcBef>
              <a:spcAft>
                <a:spcPts val="0"/>
              </a:spcAft>
              <a:buClr>
                <a:schemeClr val="dk2"/>
              </a:buClr>
              <a:buSzPts val="2000"/>
              <a:buFont typeface="Poppins"/>
              <a:buChar char="●"/>
            </a:pPr>
            <a:r>
              <a:rPr lang="en-US" sz="2000">
                <a:solidFill>
                  <a:schemeClr val="dk2"/>
                </a:solidFill>
                <a:latin typeface="Poppins"/>
                <a:ea typeface="Poppins"/>
                <a:cs typeface="Poppins"/>
                <a:sym typeface="Poppins"/>
              </a:rPr>
              <a:t>Identifying artificial data prevents misleading conclusions in future research.</a:t>
            </a:r>
            <a:endParaRPr sz="2000">
              <a:solidFill>
                <a:schemeClr val="dk2"/>
              </a:solidFill>
              <a:latin typeface="Poppins"/>
              <a:ea typeface="Poppins"/>
              <a:cs typeface="Poppins"/>
              <a:sym typeface="Poppins"/>
            </a:endParaRPr>
          </a:p>
          <a:p>
            <a:pPr indent="-355600" lvl="0" marL="457200" marR="0" rtl="0" algn="l">
              <a:lnSpc>
                <a:spcPct val="160000"/>
              </a:lnSpc>
              <a:spcBef>
                <a:spcPts val="0"/>
              </a:spcBef>
              <a:spcAft>
                <a:spcPts val="0"/>
              </a:spcAft>
              <a:buClr>
                <a:schemeClr val="dk2"/>
              </a:buClr>
              <a:buSzPts val="2000"/>
              <a:buFont typeface="Poppins"/>
              <a:buChar char="●"/>
            </a:pPr>
            <a:r>
              <a:rPr lang="en-US" sz="2000">
                <a:solidFill>
                  <a:schemeClr val="dk2"/>
                </a:solidFill>
                <a:latin typeface="Poppins"/>
                <a:ea typeface="Poppins"/>
                <a:cs typeface="Poppins"/>
                <a:sym typeface="Poppins"/>
              </a:rPr>
              <a:t>This analysis highlights the need for real data, pushing for stronger, evidence-based fitness insights.</a:t>
            </a:r>
            <a:endParaRPr sz="2000">
              <a:solidFill>
                <a:schemeClr val="dk2"/>
              </a:solidFill>
              <a:latin typeface="Poppins"/>
              <a:ea typeface="Poppins"/>
              <a:cs typeface="Poppins"/>
              <a:sym typeface="Poppins"/>
            </a:endParaRPr>
          </a:p>
          <a:p>
            <a:pPr indent="0" lvl="0" marL="457200" marR="0" rtl="0" algn="l">
              <a:lnSpc>
                <a:spcPct val="160000"/>
              </a:lnSpc>
              <a:spcBef>
                <a:spcPts val="0"/>
              </a:spcBef>
              <a:spcAft>
                <a:spcPts val="0"/>
              </a:spcAft>
              <a:buNone/>
            </a:pPr>
            <a:r>
              <a:t/>
            </a:r>
            <a:endParaRPr sz="2000">
              <a:solidFill>
                <a:schemeClr val="dk2"/>
              </a:solidFill>
              <a:latin typeface="Poppins"/>
              <a:ea typeface="Poppins"/>
              <a:cs typeface="Poppins"/>
              <a:sym typeface="Poppins"/>
            </a:endParaRPr>
          </a:p>
        </p:txBody>
      </p:sp>
      <p:cxnSp>
        <p:nvCxnSpPr>
          <p:cNvPr id="539" name="Google Shape;539;p15"/>
          <p:cNvCxnSpPr/>
          <p:nvPr/>
        </p:nvCxnSpPr>
        <p:spPr>
          <a:xfrm>
            <a:off x="1028700" y="601417"/>
            <a:ext cx="16230600" cy="0"/>
          </a:xfrm>
          <a:prstGeom prst="straightConnector1">
            <a:avLst/>
          </a:prstGeom>
          <a:noFill/>
          <a:ln cap="flat" cmpd="sng" w="19050">
            <a:solidFill>
              <a:srgbClr val="D9D9D9"/>
            </a:solidFill>
            <a:prstDash val="solid"/>
            <a:round/>
            <a:headEnd len="sm" w="sm" type="none"/>
            <a:tailEnd len="sm" w="sm" type="none"/>
          </a:ln>
        </p:spPr>
      </p:cxnSp>
      <p:grpSp>
        <p:nvGrpSpPr>
          <p:cNvPr id="540" name="Google Shape;540;p15"/>
          <p:cNvGrpSpPr/>
          <p:nvPr/>
        </p:nvGrpSpPr>
        <p:grpSpPr>
          <a:xfrm rot="5400000">
            <a:off x="-1839034" y="1839034"/>
            <a:ext cx="4238545" cy="560478"/>
            <a:chOff x="0" y="-57150"/>
            <a:chExt cx="1116325" cy="147616"/>
          </a:xfrm>
        </p:grpSpPr>
        <p:sp>
          <p:nvSpPr>
            <p:cNvPr id="541" name="Google Shape;541;p15"/>
            <p:cNvSpPr/>
            <p:nvPr/>
          </p:nvSpPr>
          <p:spPr>
            <a:xfrm>
              <a:off x="0" y="0"/>
              <a:ext cx="1116324" cy="90466"/>
            </a:xfrm>
            <a:custGeom>
              <a:rect b="b" l="l" r="r" t="t"/>
              <a:pathLst>
                <a:path extrusionOk="0" h="90466" w="1116324">
                  <a:moveTo>
                    <a:pt x="0" y="0"/>
                  </a:moveTo>
                  <a:lnTo>
                    <a:pt x="1116324" y="0"/>
                  </a:lnTo>
                  <a:lnTo>
                    <a:pt x="1116324" y="90466"/>
                  </a:lnTo>
                  <a:lnTo>
                    <a:pt x="0" y="90466"/>
                  </a:lnTo>
                  <a:close/>
                </a:path>
              </a:pathLst>
            </a:custGeom>
            <a:solidFill>
              <a:srgbClr val="4DE1C7"/>
            </a:solidFill>
            <a:ln>
              <a:noFill/>
            </a:ln>
          </p:spPr>
        </p:sp>
        <p:sp>
          <p:nvSpPr>
            <p:cNvPr id="542" name="Google Shape;542;p15"/>
            <p:cNvSpPr txBox="1"/>
            <p:nvPr/>
          </p:nvSpPr>
          <p:spPr>
            <a:xfrm>
              <a:off x="0" y="-57150"/>
              <a:ext cx="1116325" cy="147616"/>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543" name="Google Shape;543;p15"/>
          <p:cNvSpPr/>
          <p:nvPr/>
        </p:nvSpPr>
        <p:spPr>
          <a:xfrm rot="2089252">
            <a:off x="-6984847" y="4534055"/>
            <a:ext cx="13969695" cy="5395795"/>
          </a:xfrm>
          <a:custGeom>
            <a:rect b="b" l="l" r="r" t="t"/>
            <a:pathLst>
              <a:path extrusionOk="0" h="5395795" w="13969695">
                <a:moveTo>
                  <a:pt x="0" y="0"/>
                </a:moveTo>
                <a:lnTo>
                  <a:pt x="13969694" y="0"/>
                </a:lnTo>
                <a:lnTo>
                  <a:pt x="13969694" y="5395794"/>
                </a:lnTo>
                <a:lnTo>
                  <a:pt x="0" y="5395794"/>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71C42"/>
        </a:solidFill>
      </p:bgPr>
    </p:bg>
    <p:spTree>
      <p:nvGrpSpPr>
        <p:cNvPr id="547" name="Shape 547"/>
        <p:cNvGrpSpPr/>
        <p:nvPr/>
      </p:nvGrpSpPr>
      <p:grpSpPr>
        <a:xfrm>
          <a:off x="0" y="0"/>
          <a:ext cx="0" cy="0"/>
          <a:chOff x="0" y="0"/>
          <a:chExt cx="0" cy="0"/>
        </a:xfrm>
      </p:grpSpPr>
      <p:sp>
        <p:nvSpPr>
          <p:cNvPr id="548" name="Google Shape;548;p17"/>
          <p:cNvSpPr txBox="1"/>
          <p:nvPr/>
        </p:nvSpPr>
        <p:spPr>
          <a:xfrm>
            <a:off x="8595126" y="3787050"/>
            <a:ext cx="7845300" cy="3175800"/>
          </a:xfrm>
          <a:prstGeom prst="rect">
            <a:avLst/>
          </a:prstGeom>
          <a:noFill/>
          <a:ln>
            <a:noFill/>
          </a:ln>
        </p:spPr>
        <p:txBody>
          <a:bodyPr anchorCtr="0" anchor="t" bIns="0" lIns="0" spcFirstLastPara="1" rIns="0" wrap="square" tIns="0">
            <a:spAutoFit/>
          </a:bodyPr>
          <a:lstStyle/>
          <a:p>
            <a:pPr indent="-237004" lvl="1" marL="474011" marR="0" rtl="0" algn="l">
              <a:lnSpc>
                <a:spcPct val="140000"/>
              </a:lnSpc>
              <a:spcBef>
                <a:spcPts val="0"/>
              </a:spcBef>
              <a:spcAft>
                <a:spcPts val="0"/>
              </a:spcAft>
              <a:buClr>
                <a:srgbClr val="FFFFFF"/>
              </a:buClr>
              <a:buSzPts val="2195"/>
              <a:buFont typeface="Arial"/>
              <a:buChar char="•"/>
            </a:pPr>
            <a:r>
              <a:rPr b="0" i="0" lang="en-US" sz="2195" u="none" cap="none" strike="noStrike">
                <a:solidFill>
                  <a:srgbClr val="FFFFFF"/>
                </a:solidFill>
                <a:latin typeface="Poppins"/>
                <a:ea typeface="Poppins"/>
                <a:cs typeface="Poppins"/>
                <a:sym typeface="Poppins"/>
              </a:rPr>
              <a:t>https://www.cdc.gov/nchs/products/databriefs/db508.htm#:~:text=The%20prevalence%20of%20severe%20obesity%20in%20adults%20was%209</a:t>
            </a:r>
            <a:r>
              <a:rPr b="0" i="0" lang="en-US" sz="2195" cap="none" strike="noStrike">
                <a:solidFill>
                  <a:schemeClr val="lt1"/>
                </a:solidFill>
                <a:latin typeface="Poppins"/>
                <a:ea typeface="Poppins"/>
                <a:cs typeface="Poppins"/>
                <a:sym typeface="Poppins"/>
              </a:rPr>
              <a:t>.4%25%20and,from%207.7%25%20to%209.7%25.</a:t>
            </a:r>
            <a:endParaRPr>
              <a:solidFill>
                <a:schemeClr val="lt1"/>
              </a:solidFill>
            </a:endParaRPr>
          </a:p>
          <a:p>
            <a:pPr indent="-237004" lvl="1" marL="474011" marR="0" rtl="0" algn="l">
              <a:lnSpc>
                <a:spcPct val="140000"/>
              </a:lnSpc>
              <a:spcBef>
                <a:spcPts val="0"/>
              </a:spcBef>
              <a:spcAft>
                <a:spcPts val="0"/>
              </a:spcAft>
              <a:buClr>
                <a:schemeClr val="lt1"/>
              </a:buClr>
              <a:buSzPts val="2195"/>
              <a:buFont typeface="Arial"/>
              <a:buChar char="•"/>
            </a:pPr>
            <a:r>
              <a:rPr lang="en-US" sz="2195">
                <a:solidFill>
                  <a:schemeClr val="lt1"/>
                </a:solidFill>
                <a:uFill>
                  <a:noFill/>
                </a:uFill>
                <a:latin typeface="Poppins"/>
                <a:ea typeface="Poppins"/>
                <a:cs typeface="Poppins"/>
                <a:sym typeface="Poppins"/>
                <a:hlinkClick r:id="rId3">
                  <a:extLst>
                    <a:ext uri="{A12FA001-AC4F-418D-AE19-62706E023703}">
                      <ahyp:hlinkClr val="tx"/>
                    </a:ext>
                  </a:extLst>
                </a:hlinkClick>
              </a:rPr>
              <a:t>The Lancet: Without immediate action nearly 260 million people in the USA predicted to have overweight or obesity by 2050</a:t>
            </a:r>
            <a:endParaRPr sz="2195">
              <a:solidFill>
                <a:schemeClr val="lt1"/>
              </a:solidFill>
              <a:latin typeface="Poppins"/>
              <a:ea typeface="Poppins"/>
              <a:cs typeface="Poppins"/>
              <a:sym typeface="Poppins"/>
            </a:endParaRPr>
          </a:p>
        </p:txBody>
      </p:sp>
      <p:sp>
        <p:nvSpPr>
          <p:cNvPr id="549" name="Google Shape;549;p17"/>
          <p:cNvSpPr txBox="1"/>
          <p:nvPr/>
        </p:nvSpPr>
        <p:spPr>
          <a:xfrm>
            <a:off x="8929848" y="1595549"/>
            <a:ext cx="4668000" cy="861900"/>
          </a:xfrm>
          <a:prstGeom prst="rect">
            <a:avLst/>
          </a:prstGeom>
          <a:noFill/>
          <a:ln>
            <a:noFill/>
          </a:ln>
        </p:spPr>
        <p:txBody>
          <a:bodyPr anchorCtr="0" anchor="t" bIns="0" lIns="0" spcFirstLastPara="1" rIns="0" wrap="square" tIns="0">
            <a:spAutoFit/>
          </a:bodyPr>
          <a:lstStyle/>
          <a:p>
            <a:pPr indent="0" lvl="0" marL="0" marR="0" rtl="0" algn="l">
              <a:lnSpc>
                <a:spcPct val="120003"/>
              </a:lnSpc>
              <a:spcBef>
                <a:spcPts val="0"/>
              </a:spcBef>
              <a:spcAft>
                <a:spcPts val="0"/>
              </a:spcAft>
              <a:buNone/>
            </a:pPr>
            <a:r>
              <a:rPr b="1" i="0" lang="en-US" sz="5599" u="none" cap="none" strike="noStrike">
                <a:solidFill>
                  <a:srgbClr val="FFFFFF"/>
                </a:solidFill>
                <a:latin typeface="Poppins"/>
                <a:ea typeface="Poppins"/>
                <a:cs typeface="Poppins"/>
                <a:sym typeface="Poppins"/>
              </a:rPr>
              <a:t>References</a:t>
            </a:r>
            <a:endParaRPr/>
          </a:p>
        </p:txBody>
      </p:sp>
      <p:cxnSp>
        <p:nvCxnSpPr>
          <p:cNvPr id="550" name="Google Shape;550;p17"/>
          <p:cNvCxnSpPr/>
          <p:nvPr/>
        </p:nvCxnSpPr>
        <p:spPr>
          <a:xfrm>
            <a:off x="1028700" y="601417"/>
            <a:ext cx="16230600" cy="0"/>
          </a:xfrm>
          <a:prstGeom prst="straightConnector1">
            <a:avLst/>
          </a:prstGeom>
          <a:noFill/>
          <a:ln cap="flat" cmpd="sng" w="19050">
            <a:solidFill>
              <a:srgbClr val="D9D9D9"/>
            </a:solidFill>
            <a:prstDash val="solid"/>
            <a:round/>
            <a:headEnd len="sm" w="sm" type="none"/>
            <a:tailEnd len="sm" w="sm" type="none"/>
          </a:ln>
        </p:spPr>
      </p:cxnSp>
      <p:grpSp>
        <p:nvGrpSpPr>
          <p:cNvPr id="551" name="Google Shape;551;p17"/>
          <p:cNvGrpSpPr/>
          <p:nvPr/>
        </p:nvGrpSpPr>
        <p:grpSpPr>
          <a:xfrm>
            <a:off x="9144000" y="9726522"/>
            <a:ext cx="9144000" cy="560478"/>
            <a:chOff x="0" y="-57150"/>
            <a:chExt cx="2408296" cy="147616"/>
          </a:xfrm>
        </p:grpSpPr>
        <p:sp>
          <p:nvSpPr>
            <p:cNvPr id="552" name="Google Shape;552;p17"/>
            <p:cNvSpPr/>
            <p:nvPr/>
          </p:nvSpPr>
          <p:spPr>
            <a:xfrm>
              <a:off x="0" y="0"/>
              <a:ext cx="2408296" cy="90466"/>
            </a:xfrm>
            <a:custGeom>
              <a:rect b="b" l="l" r="r" t="t"/>
              <a:pathLst>
                <a:path extrusionOk="0" h="90466" w="2408296">
                  <a:moveTo>
                    <a:pt x="0" y="0"/>
                  </a:moveTo>
                  <a:lnTo>
                    <a:pt x="2408296" y="0"/>
                  </a:lnTo>
                  <a:lnTo>
                    <a:pt x="2408296" y="90466"/>
                  </a:lnTo>
                  <a:lnTo>
                    <a:pt x="0" y="90466"/>
                  </a:lnTo>
                  <a:close/>
                </a:path>
              </a:pathLst>
            </a:custGeom>
            <a:solidFill>
              <a:srgbClr val="4DE1C7"/>
            </a:solidFill>
            <a:ln>
              <a:noFill/>
            </a:ln>
          </p:spPr>
        </p:sp>
        <p:sp>
          <p:nvSpPr>
            <p:cNvPr id="553" name="Google Shape;553;p17"/>
            <p:cNvSpPr txBox="1"/>
            <p:nvPr/>
          </p:nvSpPr>
          <p:spPr>
            <a:xfrm>
              <a:off x="0" y="-57150"/>
              <a:ext cx="2408296" cy="147616"/>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554" name="Google Shape;554;p17"/>
          <p:cNvSpPr/>
          <p:nvPr/>
        </p:nvSpPr>
        <p:spPr>
          <a:xfrm rot="7154930">
            <a:off x="-4333202" y="612457"/>
            <a:ext cx="18167444" cy="7017175"/>
          </a:xfrm>
          <a:custGeom>
            <a:rect b="b" l="l" r="r" t="t"/>
            <a:pathLst>
              <a:path extrusionOk="0" h="6997174" w="18115662">
                <a:moveTo>
                  <a:pt x="0" y="0"/>
                </a:moveTo>
                <a:lnTo>
                  <a:pt x="18115662" y="0"/>
                </a:lnTo>
                <a:lnTo>
                  <a:pt x="18115662" y="6997175"/>
                </a:lnTo>
                <a:lnTo>
                  <a:pt x="0" y="6997175"/>
                </a:lnTo>
                <a:lnTo>
                  <a:pt x="0" y="0"/>
                </a:lnTo>
                <a:close/>
              </a:path>
            </a:pathLst>
          </a:custGeom>
          <a:blipFill rotWithShape="1">
            <a:blip r:embed="rId4">
              <a:alphaModFix/>
            </a:blip>
            <a:stretch>
              <a:fillRect b="0" l="0" r="0" t="0"/>
            </a:stretch>
          </a:blipFill>
          <a:ln>
            <a:noFill/>
          </a:ln>
        </p:spPr>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